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4"/>
  </p:notesMasterIdLst>
  <p:sldIdLst>
    <p:sldId id="2147479941" r:id="rId2"/>
    <p:sldId id="2147479909" r:id="rId3"/>
    <p:sldId id="2147479910" r:id="rId4"/>
    <p:sldId id="2147479956" r:id="rId5"/>
    <p:sldId id="2147479912" r:id="rId6"/>
    <p:sldId id="2147479913" r:id="rId7"/>
    <p:sldId id="2147479935" r:id="rId8"/>
    <p:sldId id="2147479934" r:id="rId9"/>
    <p:sldId id="2147479916" r:id="rId10"/>
    <p:sldId id="2147479939" r:id="rId11"/>
    <p:sldId id="2147479951" r:id="rId12"/>
    <p:sldId id="214747988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111C"/>
    <a:srgbClr val="BE8A8C"/>
    <a:srgbClr val="8A919A"/>
    <a:srgbClr val="C9CED4"/>
    <a:srgbClr val="008689"/>
    <a:srgbClr val="06E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1"/>
    <p:restoredTop sz="96229"/>
  </p:normalViewPr>
  <p:slideViewPr>
    <p:cSldViewPr snapToGrid="0">
      <p:cViewPr>
        <p:scale>
          <a:sx n="105" d="100"/>
          <a:sy n="105" d="100"/>
        </p:scale>
        <p:origin x="1128" y="520"/>
      </p:cViewPr>
      <p:guideLst/>
    </p:cSldViewPr>
  </p:slideViewPr>
  <p:outlineViewPr>
    <p:cViewPr>
      <p:scale>
        <a:sx n="40" d="100"/>
        <a:sy n="40" d="100"/>
      </p:scale>
      <p:origin x="0" y="0"/>
    </p:cViewPr>
  </p:outlineViewPr>
  <p:notesTextViewPr>
    <p:cViewPr>
      <p:scale>
        <a:sx n="55" d="100"/>
        <a:sy n="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6"/>
          <c:w val="0.9"/>
          <c:h val="0.72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영역</c:v>
                </c:pt>
              </c:strCache>
            </c:strRef>
          </c:tx>
          <c:spPr>
            <a:gradFill>
              <a:gsLst>
                <a:gs pos="0">
                  <a:srgbClr val="C9A0A1">
                    <a:alpha val="85000"/>
                  </a:srgbClr>
                </a:gs>
                <a:gs pos="55000">
                  <a:srgbClr val="F2E3E3">
                    <a:alpha val="45000"/>
                  </a:srgbClr>
                </a:gs>
                <a:gs pos="100000">
                  <a:srgbClr val="F2E3E3">
                    <a:alpha val="0"/>
                  </a:srgbClr>
                </a:gs>
              </a:gsLst>
              <a:lin ang="5400000" scaled="0"/>
            </a:gradFill>
            <a:ln>
              <a:noFill/>
            </a:ln>
          </c:spPr>
          <c:cat>
            <c:strLit>
              <c:ptCount val="31"/>
              <c:pt idx="0">
                <c:v>8/12</c:v>
              </c:pt>
              <c:pt idx="5">
                <c:v>8/17</c:v>
              </c:pt>
              <c:pt idx="10">
                <c:v>8/22</c:v>
              </c:pt>
              <c:pt idx="15">
                <c:v>8/27</c:v>
              </c:pt>
              <c:pt idx="20">
                <c:v>9/1</c:v>
              </c:pt>
              <c:pt idx="25">
                <c:v>9/6</c:v>
              </c:pt>
              <c:pt idx="30">
                <c:v>9/11</c:v>
              </c:pt>
            </c:strLit>
          </c:cat>
          <c:val>
            <c:numLit>
              <c:formatCode>#,##0</c:formatCode>
              <c:ptCount val="31"/>
              <c:pt idx="0">
                <c:v>418751</c:v>
              </c:pt>
              <c:pt idx="1">
                <c:v>432395</c:v>
              </c:pt>
              <c:pt idx="2">
                <c:v>423690</c:v>
              </c:pt>
              <c:pt idx="3">
                <c:v>391386</c:v>
              </c:pt>
              <c:pt idx="4">
                <c:v>258600</c:v>
              </c:pt>
              <c:pt idx="5">
                <c:v>227426</c:v>
              </c:pt>
              <c:pt idx="6">
                <c:v>396315</c:v>
              </c:pt>
              <c:pt idx="7">
                <c:v>424223</c:v>
              </c:pt>
              <c:pt idx="8">
                <c:v>421046</c:v>
              </c:pt>
              <c:pt idx="9">
                <c:v>417273</c:v>
              </c:pt>
              <c:pt idx="10">
                <c:v>270224</c:v>
              </c:pt>
              <c:pt idx="11">
                <c:v>255409</c:v>
              </c:pt>
              <c:pt idx="12">
                <c:v>381471</c:v>
              </c:pt>
              <c:pt idx="13">
                <c:v>409154</c:v>
              </c:pt>
              <c:pt idx="14">
                <c:v>420565</c:v>
              </c:pt>
              <c:pt idx="15">
                <c:v>433368</c:v>
              </c:pt>
              <c:pt idx="16">
                <c:v>431422</c:v>
              </c:pt>
              <c:pt idx="17">
                <c:v>302858</c:v>
              </c:pt>
              <c:pt idx="18">
                <c:v>236476</c:v>
              </c:pt>
              <c:pt idx="19">
                <c:v>350371</c:v>
              </c:pt>
              <c:pt idx="20">
                <c:v>380054</c:v>
              </c:pt>
              <c:pt idx="21">
                <c:v>436805</c:v>
              </c:pt>
              <c:pt idx="22">
                <c:v>449716</c:v>
              </c:pt>
              <c:pt idx="23">
                <c:v>503880</c:v>
              </c:pt>
              <c:pt idx="24">
                <c:v>346723</c:v>
              </c:pt>
              <c:pt idx="25">
                <c:v>312856</c:v>
              </c:pt>
              <c:pt idx="26">
                <c:v>398920</c:v>
              </c:pt>
              <c:pt idx="27">
                <c:v>417126</c:v>
              </c:pt>
              <c:pt idx="28">
                <c:v>441431</c:v>
              </c:pt>
              <c:pt idx="29">
                <c:v>447476</c:v>
              </c:pt>
              <c:pt idx="30">
                <c:v>470188</c:v>
              </c:pt>
            </c:numLit>
          </c:val>
          <c:extLst>
            <c:ext xmlns:c16="http://schemas.microsoft.com/office/drawing/2014/chart" uri="{C3380CC4-5D6E-409C-BE32-E72D297353CC}">
              <c16:uniqueId val="{00000000-03F9-C246-9EBE-6231B38C0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일별 합산 유동인구</c:v>
                </c:pt>
              </c:strCache>
            </c:strRef>
          </c:tx>
          <c:spPr>
            <a:ln w="28575" cap="rnd">
              <a:solidFill>
                <a:srgbClr val="721D2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721D20"/>
              </a:solidFill>
              <a:ln>
                <a:noFill/>
              </a:ln>
            </c:spPr>
          </c:marker>
          <c:dLbls>
            <c:dLbl>
              <c:idx val="5"/>
              <c:layout>
                <c:manualLayout>
                  <c:x val="4.2804428044280439E-3"/>
                  <c:y val="4.1111111111111029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 algn="ctr">
                      <a:defRPr sz="1200" b="1" i="0">
                        <a:solidFill>
                          <a:srgbClr val="721D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en-US" altLang="ko-KR" sz="1200" b="1" i="0">
                        <a:solidFill>
                          <a:srgbClr val="721D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227,426</a:t>
                    </a:r>
                  </a:p>
                  <a:p>
                    <a:pPr algn="ctr">
                      <a:defRPr sz="1200" b="1" i="0">
                        <a:solidFill>
                          <a:srgbClr val="721D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최저점 </a:t>
                    </a:r>
                    <a:r>
                      <a:rPr lang="en-US" altLang="ko-KR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8/17(</a:t>
                    </a:r>
                    <a:r>
                      <a:rPr lang="ko-KR" altLang="en-US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월</a:t>
                    </a:r>
                    <a:r>
                      <a:rPr lang="en-US" altLang="ko-KR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)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4E9-E341-93D6-99B44709B956}"/>
                </c:ext>
              </c:extLst>
            </c:dLbl>
            <c:dLbl>
              <c:idx val="23"/>
              <c:layout>
                <c:manualLayout>
                  <c:x val="-4.797047970479705E-2"/>
                  <c:y val="-9.7777777777777783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 algn="ctr">
                      <a:defRPr sz="1200" b="1" i="0">
                        <a:solidFill>
                          <a:srgbClr val="721D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en-US" altLang="ko-KR" sz="1200" b="1" i="0" dirty="0">
                        <a:solidFill>
                          <a:srgbClr val="721D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503,880</a:t>
                    </a:r>
                  </a:p>
                  <a:p>
                    <a:pPr algn="ctr">
                      <a:defRPr sz="1200" b="1" i="0">
                        <a:solidFill>
                          <a:srgbClr val="721D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최고점 </a:t>
                    </a:r>
                    <a:r>
                      <a:rPr lang="en-US" altLang="ko-KR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9/4(</a:t>
                    </a:r>
                    <a:r>
                      <a:rPr lang="ko-KR" altLang="en-US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금</a:t>
                    </a:r>
                    <a:r>
                      <a:rPr lang="en-US" altLang="ko-KR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)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4E9-E341-93D6-99B44709B9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31"/>
              <c:pt idx="0">
                <c:v>8/12</c:v>
              </c:pt>
              <c:pt idx="5">
                <c:v>8/17</c:v>
              </c:pt>
              <c:pt idx="10">
                <c:v>8/22</c:v>
              </c:pt>
              <c:pt idx="15">
                <c:v>8/27</c:v>
              </c:pt>
              <c:pt idx="20">
                <c:v>9/1</c:v>
              </c:pt>
              <c:pt idx="25">
                <c:v>9/6</c:v>
              </c:pt>
              <c:pt idx="30">
                <c:v>9/11</c:v>
              </c:pt>
            </c:strLit>
          </c:cat>
          <c:val>
            <c:numLit>
              <c:formatCode>#,##0</c:formatCode>
              <c:ptCount val="31"/>
              <c:pt idx="0">
                <c:v>418751</c:v>
              </c:pt>
              <c:pt idx="1">
                <c:v>432395</c:v>
              </c:pt>
              <c:pt idx="2">
                <c:v>423690</c:v>
              </c:pt>
              <c:pt idx="3">
                <c:v>391386</c:v>
              </c:pt>
              <c:pt idx="4">
                <c:v>258600</c:v>
              </c:pt>
              <c:pt idx="5">
                <c:v>227426</c:v>
              </c:pt>
              <c:pt idx="6">
                <c:v>396315</c:v>
              </c:pt>
              <c:pt idx="7">
                <c:v>424223</c:v>
              </c:pt>
              <c:pt idx="8">
                <c:v>421046</c:v>
              </c:pt>
              <c:pt idx="9">
                <c:v>417273</c:v>
              </c:pt>
              <c:pt idx="10">
                <c:v>270224</c:v>
              </c:pt>
              <c:pt idx="11">
                <c:v>255409</c:v>
              </c:pt>
              <c:pt idx="12">
                <c:v>381471</c:v>
              </c:pt>
              <c:pt idx="13">
                <c:v>409154</c:v>
              </c:pt>
              <c:pt idx="14">
                <c:v>420565</c:v>
              </c:pt>
              <c:pt idx="15">
                <c:v>433368</c:v>
              </c:pt>
              <c:pt idx="16">
                <c:v>431422</c:v>
              </c:pt>
              <c:pt idx="17">
                <c:v>302858</c:v>
              </c:pt>
              <c:pt idx="18">
                <c:v>236476</c:v>
              </c:pt>
              <c:pt idx="19">
                <c:v>350371</c:v>
              </c:pt>
              <c:pt idx="20">
                <c:v>380054</c:v>
              </c:pt>
              <c:pt idx="21">
                <c:v>436805</c:v>
              </c:pt>
              <c:pt idx="22">
                <c:v>449716</c:v>
              </c:pt>
              <c:pt idx="23">
                <c:v>503880</c:v>
              </c:pt>
              <c:pt idx="24">
                <c:v>346723</c:v>
              </c:pt>
              <c:pt idx="25">
                <c:v>312856</c:v>
              </c:pt>
              <c:pt idx="26">
                <c:v>398920</c:v>
              </c:pt>
              <c:pt idx="27">
                <c:v>417126</c:v>
              </c:pt>
              <c:pt idx="28">
                <c:v>441431</c:v>
              </c:pt>
              <c:pt idx="29">
                <c:v>447476</c:v>
              </c:pt>
              <c:pt idx="30">
                <c:v>470188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8-03F9-C246-9EBE-6231B38C0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>
              <a:solidFill>
                <a:srgbClr val="B4868A"/>
              </a:solidFill>
              <a:prstDash val="dash"/>
            </a:ln>
          </c:spPr>
        </c:dropLine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E5E7EB"/>
            </a:solidFill>
          </a:ln>
        </c:spPr>
        <c:txPr>
          <a:bodyPr/>
          <a:lstStyle/>
          <a:p>
            <a:pPr>
              <a:defRPr sz="1000" b="0">
                <a:solidFill>
                  <a:srgbClr val="9AA4AF"/>
                </a:solidFill>
                <a:latin typeface="JTBC Gothic Regular"/>
              </a:defRPr>
            </a:pPr>
            <a:endParaRPr lang="ko-KR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550000"/>
          <c:min val="150000"/>
        </c:scaling>
        <c:delete val="1"/>
        <c:axPos val="l"/>
        <c:numFmt formatCode="#,##0" sourceLinked="0"/>
        <c:majorTickMark val="none"/>
        <c:minorTickMark val="none"/>
        <c:tickLblPos val="none"/>
        <c:crossAx val="11111111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100">
          <a:latin typeface="JTBC Gothic Regular"/>
        </a:defRPr>
      </a:pPr>
      <a:endParaRPr lang="ko-K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연령대 비중</c:v>
                </c:pt>
              </c:strCache>
            </c:strRef>
          </c:tx>
          <c:spPr>
            <a:gradFill>
              <a:gsLst>
                <a:gs pos="0">
                  <a:srgbClr val="C9CED4"/>
                </a:gs>
                <a:gs pos="55000">
                  <a:srgbClr val="A8AEB6"/>
                </a:gs>
                <a:gs pos="100000">
                  <a:srgbClr val="8A919A"/>
                </a:gs>
              </a:gsLst>
              <a:lin ang="5400000" scaled="0"/>
            </a:gra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rgbClr val="BE8A8C"/>
                  </a:gs>
                  <a:gs pos="0">
                    <a:srgbClr val="721D20"/>
                  </a:gs>
                </a:gsLst>
                <a:lin ang="5400000" scaled="0"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06E-8842-A090-98A122665E67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rgbClr val="BE8A8C"/>
                  </a:gs>
                  <a:gs pos="0">
                    <a:srgbClr val="721D20"/>
                  </a:gs>
                </a:gsLst>
                <a:lin ang="5400000" scaled="0"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06E-8842-A090-98A122665E67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06E-8842-A090-98A122665E67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06E-8842-A090-98A122665E67}"/>
              </c:ext>
            </c:extLst>
          </c:dPt>
          <c:dPt>
            <c:idx val="4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06E-8842-A090-98A122665E67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E06E-8842-A090-98A122665E67}"/>
              </c:ext>
            </c:extLst>
          </c:dPt>
          <c:dPt>
            <c:idx val="6"/>
            <c:invertIfNegative val="0"/>
            <c:bubble3D val="0"/>
            <c:spPr>
              <a:gradFill>
                <a:gsLst>
                  <a:gs pos="100000">
                    <a:srgbClr val="C9CED4"/>
                  </a:gs>
                  <a:gs pos="0">
                    <a:srgbClr val="8A919A"/>
                  </a:gs>
                </a:gsLst>
                <a:lin ang="5400000" scaled="0"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E06E-8842-A090-98A122665E67}"/>
              </c:ext>
            </c:extLst>
          </c:dPt>
          <c:dLbls>
            <c:dLbl>
              <c:idx val="0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721D20"/>
                      </a:solidFill>
                      <a:latin typeface="JTBC Gothic 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6E-8842-A090-98A122665E67}"/>
                </c:ext>
              </c:extLst>
            </c:dLbl>
            <c:dLbl>
              <c:idx val="1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721D20"/>
                      </a:solidFill>
                      <a:latin typeface="JTBC Gothic 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6E-8842-A090-98A122665E67}"/>
                </c:ext>
              </c:extLst>
            </c:dLbl>
            <c:dLbl>
              <c:idx val="2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6E-8842-A090-98A122665E67}"/>
                </c:ext>
              </c:extLst>
            </c:dLbl>
            <c:dLbl>
              <c:idx val="3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6E-8842-A090-98A122665E67}"/>
                </c:ext>
              </c:extLst>
            </c:dLbl>
            <c:dLbl>
              <c:idx val="4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6E-8842-A090-98A122665E67}"/>
                </c:ext>
              </c:extLst>
            </c:dLbl>
            <c:dLbl>
              <c:idx val="5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06E-8842-A090-98A122665E67}"/>
                </c:ext>
              </c:extLst>
            </c:dLbl>
            <c:dLbl>
              <c:idx val="6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06E-8842-A090-98A122665E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7"/>
              <c:pt idx="0">
                <c:v>10대</c:v>
              </c:pt>
              <c:pt idx="1">
                <c:v>20대</c:v>
              </c:pt>
              <c:pt idx="2">
                <c:v>30대</c:v>
              </c:pt>
              <c:pt idx="3">
                <c:v>40대</c:v>
              </c:pt>
              <c:pt idx="4">
                <c:v>50대</c:v>
              </c:pt>
              <c:pt idx="5">
                <c:v>60대</c:v>
              </c:pt>
              <c:pt idx="6">
                <c:v>70대+</c:v>
              </c:pt>
            </c:strLit>
          </c:cat>
          <c:val>
            <c:numLit>
              <c:formatCode>0"%"</c:formatCode>
              <c:ptCount val="7"/>
              <c:pt idx="0">
                <c:v>4</c:v>
              </c:pt>
              <c:pt idx="1">
                <c:v>16</c:v>
              </c:pt>
              <c:pt idx="2">
                <c:v>18</c:v>
              </c:pt>
              <c:pt idx="3">
                <c:v>22</c:v>
              </c:pt>
              <c:pt idx="4">
                <c:v>19</c:v>
              </c:pt>
              <c:pt idx="5">
                <c:v>13</c:v>
              </c:pt>
              <c:pt idx="6">
                <c:v>8</c:v>
              </c:pt>
            </c:numLit>
          </c:val>
          <c:extLst>
            <c:ext xmlns:c16="http://schemas.microsoft.com/office/drawing/2014/chart" uri="{C3380CC4-5D6E-409C-BE32-E72D297353CC}">
              <c16:uniqueId val="{0000000E-E06E-8842-A090-98A122665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1111111"/>
        <c:axId val="322222222"/>
      </c:barChart>
      <c:catAx>
        <c:axId val="3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9AA4AF"/>
                </a:solidFill>
                <a:latin typeface="JTBC Gothic Regular"/>
              </a:defRPr>
            </a:pPr>
            <a:endParaRPr lang="ko-KR"/>
          </a:p>
        </c:txPr>
        <c:crossAx val="322222222"/>
        <c:crosses val="autoZero"/>
        <c:auto val="1"/>
        <c:lblAlgn val="ctr"/>
        <c:lblOffset val="100"/>
        <c:noMultiLvlLbl val="0"/>
      </c:catAx>
      <c:valAx>
        <c:axId val="322222222"/>
        <c:scaling>
          <c:orientation val="minMax"/>
          <c:max val="26"/>
          <c:min val="0"/>
        </c:scaling>
        <c:delete val="1"/>
        <c:axPos val="l"/>
        <c:numFmt formatCode="0&quot;%&quot;" sourceLinked="1"/>
        <c:majorTickMark val="none"/>
        <c:minorTickMark val="none"/>
        <c:tickLblPos val="none"/>
        <c:crossAx val="3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0">
                    <a:srgbClr val="721D20"/>
                  </a:gs>
                  <a:gs pos="100000">
                    <a:srgbClr val="A85B5E"/>
                  </a:gs>
                </a:gsLst>
                <a:lin ang="2700000" scaled="0"/>
              </a:gra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F9C-C146-A913-F28D1B001EF9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rgbClr val="C9A0A1"/>
                  </a:gs>
                  <a:gs pos="100000">
                    <a:srgbClr val="EBD8D8"/>
                  </a:gs>
                </a:gsLst>
                <a:lin ang="2700000" scaled="0"/>
              </a:gra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F9C-C146-A913-F28D1B001EF9}"/>
              </c:ext>
            </c:extLst>
          </c:dPt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0.53600000000000003</c:v>
                </c:pt>
                <c:pt idx="1">
                  <c:v>0.46400000000000002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9C-C146-A913-F28D1B001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67C6F-B5E7-E04E-BFAC-FF9B3AF37334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8DBB5-222D-9A48-BCAB-262B44D7FD2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28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1E4A-1B20-7D99-4D32-249C7F02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B1D8F9-3C3A-953E-0E20-433165CA3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3816F5-64CD-2AF3-D726-B347E5A01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64C60-4577-1DAE-B88E-7B89FD39B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F570FD-9EB3-6C42-9E1E-F223AF15C938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77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07307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08C1-8D70-F6AD-6935-7FCA1043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4837A4-5519-0534-E89E-1ED6272FA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9B648-4DEC-F717-86C2-C2378F266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B7BB9-C198-882D-C198-4C6479AFC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6865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76738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57695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9AB4B-F37A-6425-FDC1-A4C905AC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5A5B83-CBA9-9155-1522-4FF209E61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54531-BBA5-F7CD-281A-EDC744848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47C0BF-EEF7-AECD-7EEF-411871248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0438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9564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B07A-2BFC-7EFD-CA62-B83B1F8D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44A924-D84F-B3AC-9009-41D2A0B05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384B4-1845-0E89-32F0-DC57C9AE6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A86D6-48F7-0E48-E69D-27CA013C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23185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DBCC-11D0-BEAF-13FB-B0C72068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649D56-7875-3BF0-49BB-194619A1D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4DE20E-37AD-600A-E065-E6683C0D6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AE150-7664-8269-3611-2C04A2645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828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122A-9EA0-A04A-899F-445D7430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4EA6C-34D4-0218-681B-16126A3A2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76B401-24FC-36D9-2DC1-693123EB8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BA4A6-64A9-9B0D-7CE9-9354F5CBE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115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9437D-408F-0204-B587-2F68D000E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018B17-385C-8BA4-0BD3-BAF8A9A77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6D967-7E90-4721-1479-10BD3E30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7306D-9ABB-BCC7-08E8-2C8D4EC9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6026DD-F25D-E985-1C50-60842B0F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46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AD0EA-452A-471D-C785-DF497B23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342D4-D099-3522-2E21-79D99F6B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70069F-6474-71D2-014F-F27EC3E2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F267C-E3B1-4FC6-9596-D1A22A07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D282C-2E9B-4666-DCB1-F7C199E8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79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51357-FBD3-82B5-E2DB-58D5A8FD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D2F230-3F58-3A35-4FF3-94DC6C5BE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22072-BC68-A5C0-2C21-682ADE16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29FFF-0A44-769F-5393-A2886EB6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0DA8A8-C882-D34C-0C0D-D09E1BBC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686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DA5DA-0FC3-18BA-9BA3-BA538698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52795F-180D-122D-4A95-0152FE2A5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ADE901-75F5-5304-9A8D-38ADC9385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79AEAA-ACA5-CA11-2542-BDB1ADC2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0A7DFE-499D-653D-9564-FDF5AE28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7B2CC2-CDAA-AC03-4DC0-8CD9BC04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998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16D44-809B-9E3A-FF9E-553CF04D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B6FF17-E722-99AF-9912-93093F617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5070A2-4657-E286-6F23-04557852A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947B12-DBB7-7B1F-2863-521CF66BA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CE4405-CCAB-9767-FED0-3EDEEF5EF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8E11A-D57F-C47B-2AC5-0B675233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545D66-5FC2-907A-EEE3-AA98ABD7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1DFB4E-531D-9956-5B3D-722D0F5B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482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7FDFB-7EE6-48F4-5F61-80A0FA66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5AD0D6-6A9D-CC60-29F3-24190AF8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8A88D-C568-717A-DFE0-3E679837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A2C299-3FF5-17E2-A2F6-1AE7CBCB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52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97139B-64DF-B394-FF80-8EC446AE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2BDADC-AF72-7456-0957-E7251825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0351C-0292-ED6F-4D18-88EA2916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592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6707E-62B2-3D68-E5BA-5C2BB36E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A4CB7-25DC-6D89-8D09-697ED2CF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C78D23-E784-0859-D9FD-0795FF431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D36CB-9D11-41E2-E3C6-8DFC64F3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1B109-0BA7-CED7-E60A-79CE150A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AFFE4B-6ADB-5872-5976-066ECE44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357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60271-2C19-A18A-2D1C-DFE379F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B32846-13F3-9933-9F2A-72607319F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6A0D4-76CF-5A4D-0382-6913515A2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822FA6-EA64-84B7-D0F4-C0E3D84B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E944F-31C3-8BA1-8843-C60D3FFC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84ECB3-2B06-7B8F-6A6B-2F9F2F95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276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C24CF-9148-C60A-99AF-DF21B445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CB1654-3066-2887-E194-25AC5D476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677F60-B116-C7B7-BBE6-DEBBC0B7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AC848D-7F3A-6377-827D-5C029469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D7B30-9557-58ED-D78A-164096B8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573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C6289F-9C1B-2C3F-D5B7-543A5096F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944D1F-8C5B-1898-4282-05C4FC9D5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86147-61B5-B0B3-C08B-F70DBFD3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E0782-D044-B5D8-6E6B-DD8340AA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AEB8-C7D7-B328-ED4C-498E0395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5692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79653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624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0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F3764B-1183-B795-6BEA-9347E9DB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D07FFE-4DBB-8E6E-6250-F04C03326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50AAB-19F1-64C7-B099-8BA7C6647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19C4-5A06-164D-85D6-982585A479E9}" type="datetimeFigureOut">
              <a:rPr kumimoji="1" lang="ko-KR" altLang="en-US" smtClean="0"/>
              <a:t>2026. 9. 15.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481776-76AA-B14D-2D1C-3AAEBDFA0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68264-4653-AE06-FC81-244CF3782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74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cs.google.com/spreadsheets/d/e/2PACX-1vQTxWA1gqPDt4AGzS8QcJJ82TlGVaH3pnpNH6kqLImMIOZnBqLIN1M_wWfs0_aUXXqIT_VXoICHnunw/pub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hyperlink" Target="https://luux.kr/suppo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90F6-DF6D-CC84-4A9A-79C48FB8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야외, 하늘, 구름, 상업용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ABF65D-68F8-B976-C687-2116C651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36" y="0"/>
            <a:ext cx="10345064" cy="689671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B72993C-3173-9BE7-55D5-23AD7F41163D}"/>
              </a:ext>
            </a:extLst>
          </p:cNvPr>
          <p:cNvSpPr/>
          <p:nvPr/>
        </p:nvSpPr>
        <p:spPr>
          <a:xfrm>
            <a:off x="1846937" y="0"/>
            <a:ext cx="10345064" cy="689671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6BC84A-02B3-4B35-BC6A-DBB3B9C969E4}"/>
              </a:ext>
            </a:extLst>
          </p:cNvPr>
          <p:cNvSpPr/>
          <p:nvPr/>
        </p:nvSpPr>
        <p:spPr>
          <a:xfrm>
            <a:off x="500316" y="6214400"/>
            <a:ext cx="29867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en" altLang="ko-KR" sz="900" b="1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ⓒ 2026. Dong-A Ilbo.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68D7F-5E25-9D09-81FF-A452E6AF8B43}"/>
              </a:ext>
            </a:extLst>
          </p:cNvPr>
          <p:cNvSpPr txBox="1"/>
          <p:nvPr/>
        </p:nvSpPr>
        <p:spPr>
          <a:xfrm>
            <a:off x="500316" y="302807"/>
            <a:ext cx="5417072" cy="204223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spc="-75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2026</a:t>
            </a:r>
            <a:r>
              <a:rPr lang="ko-KR" altLang="en-US" sz="1000" spc="-75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고려대학교 </a:t>
            </a:r>
            <a:r>
              <a:rPr lang="ko-KR" altLang="en-US" sz="1000" spc="-75" dirty="0" err="1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룩스</a:t>
            </a:r>
            <a:r>
              <a:rPr lang="en-US" altLang="ko-KR" sz="1000" spc="-75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(LUUX) </a:t>
            </a:r>
            <a:r>
              <a:rPr lang="ko-KR" altLang="en-US" sz="1000" spc="-75" dirty="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광고 결과 보고서</a:t>
            </a:r>
          </a:p>
        </p:txBody>
      </p:sp>
      <p:sp>
        <p:nvSpPr>
          <p:cNvPr id="12" name="Design and Brand Guidelines">
            <a:extLst>
              <a:ext uri="{FF2B5EF4-FFF2-40B4-BE49-F238E27FC236}">
                <a16:creationId xmlns:a16="http://schemas.microsoft.com/office/drawing/2014/main" id="{868A805A-8C71-B519-C06E-ABE89ACB248D}"/>
              </a:ext>
            </a:extLst>
          </p:cNvPr>
          <p:cNvSpPr txBox="1"/>
          <p:nvPr/>
        </p:nvSpPr>
        <p:spPr>
          <a:xfrm>
            <a:off x="500316" y="2475373"/>
            <a:ext cx="7461558" cy="1237839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>
            <a:spAutoFit/>
          </a:bodyPr>
          <a:lstStyle>
            <a:lvl1pPr>
              <a:buFont typeface="Arial"/>
              <a:defRPr sz="5000" b="0" cap="all" spc="50" baseline="0">
                <a:latin typeface="+mn-lt"/>
                <a:ea typeface="+mn-ea"/>
                <a:cs typeface="+mn-cs"/>
                <a:sym typeface="Montserrat Bold"/>
              </a:defRPr>
            </a:lvl1pPr>
          </a:lstStyle>
          <a:p>
            <a:pPr>
              <a:lnSpc>
                <a:spcPct val="130000"/>
              </a:lnSpc>
              <a:defRPr/>
            </a:pPr>
            <a:r>
              <a:rPr kumimoji="1" lang="en-US" altLang="ko-KR" sz="3000" b="1" cap="none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2026</a:t>
            </a:r>
            <a:r>
              <a:rPr kumimoji="1" lang="ko-KR" altLang="en-US" sz="3000" b="1" cap="none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고려대학교</a:t>
            </a:r>
            <a:endParaRPr kumimoji="1" lang="en-US" altLang="ko-KR" sz="3000" b="1" cap="none" spc="-15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>
              <a:lnSpc>
                <a:spcPct val="130000"/>
              </a:lnSpc>
              <a:defRPr/>
            </a:pPr>
            <a:r>
              <a:rPr kumimoji="1" lang="ko-KR" altLang="en-US" sz="3000" b="1" cap="none" spc="-150" dirty="0" err="1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룩스</a:t>
            </a:r>
            <a:r>
              <a:rPr kumimoji="1" lang="en" altLang="ko-KR" sz="3000" b="1" cap="none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(LUUX)</a:t>
            </a:r>
            <a:r>
              <a:rPr kumimoji="1" lang="en-US" altLang="ko-KR" sz="3000" b="1" cap="none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kumimoji="1" lang="ko-KR" altLang="en-US" sz="3000" b="1" cap="none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광고 결과 보고서</a:t>
            </a:r>
            <a:endParaRPr kumimoji="1" lang="en-US" altLang="ko-KR" sz="3000" b="1" cap="none" spc="-15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441270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4839C-7D65-5691-A8A9-340EE5B0CB2C}"/>
              </a:ext>
            </a:extLst>
          </p:cNvPr>
          <p:cNvSpPr txBox="1"/>
          <p:nvPr/>
        </p:nvSpPr>
        <p:spPr>
          <a:xfrm>
            <a:off x="500316" y="1148121"/>
            <a:ext cx="2964779" cy="553998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en-US" altLang="ko-KR" sz="3600" b="1" dirty="0">
                <a:solidFill>
                  <a:srgbClr val="7D111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Contents</a:t>
            </a:r>
            <a:endParaRPr lang="en-US" sz="3600" b="1" dirty="0">
              <a:solidFill>
                <a:srgbClr val="7D111C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948FC-C954-B1D3-49FD-A21BA8B5788E}"/>
              </a:ext>
            </a:extLst>
          </p:cNvPr>
          <p:cNvSpPr txBox="1"/>
          <p:nvPr/>
        </p:nvSpPr>
        <p:spPr>
          <a:xfrm>
            <a:off x="500316" y="1702119"/>
            <a:ext cx="2541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2026 </a:t>
            </a:r>
            <a:r>
              <a:rPr lang="ko-KR" altLang="en-US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고려대학교 </a:t>
            </a:r>
            <a:r>
              <a:rPr lang="ko-KR" altLang="en-US" sz="1000" spc="-7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</a:t>
            </a:r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A14E380A-8919-845C-2739-8B41C27E7983}"/>
              </a:ext>
            </a:extLst>
          </p:cNvPr>
          <p:cNvCxnSpPr>
            <a:cxnSpLocks/>
          </p:cNvCxnSpPr>
          <p:nvPr/>
        </p:nvCxnSpPr>
        <p:spPr>
          <a:xfrm>
            <a:off x="6116643" y="3350386"/>
            <a:ext cx="6096000" cy="0"/>
          </a:xfrm>
          <a:prstGeom prst="line">
            <a:avLst/>
          </a:prstGeom>
          <a:ln w="9525">
            <a:solidFill>
              <a:srgbClr val="721D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791053-B5AD-C1B0-36A7-5C90942AAE7E}"/>
              </a:ext>
            </a:extLst>
          </p:cNvPr>
          <p:cNvSpPr txBox="1"/>
          <p:nvPr/>
        </p:nvSpPr>
        <p:spPr>
          <a:xfrm>
            <a:off x="6097140" y="2302816"/>
            <a:ext cx="1836650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Ⅰ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    결과보고 요약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FC9EEA-E695-EE52-EAF3-B8E6A2A4E4C2}"/>
              </a:ext>
            </a:extLst>
          </p:cNvPr>
          <p:cNvSpPr txBox="1"/>
          <p:nvPr/>
        </p:nvSpPr>
        <p:spPr>
          <a:xfrm>
            <a:off x="6163129" y="2581750"/>
            <a:ext cx="2482211" cy="442429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결과보고 </a:t>
            </a:r>
            <a:r>
              <a:rPr lang="en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SUMMARY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</a:t>
            </a: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현장사진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6096000" y="3694593"/>
            <a:ext cx="3009900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Ⅱ      </a:t>
            </a:r>
            <a:r>
              <a:rPr kumimoji="1" lang="ko-KR" altLang="en-US" sz="1400" b="1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79C760-A0C2-2DDD-2966-6C15523B637D}"/>
              </a:ext>
            </a:extLst>
          </p:cNvPr>
          <p:cNvSpPr txBox="1"/>
          <p:nvPr/>
        </p:nvSpPr>
        <p:spPr>
          <a:xfrm>
            <a:off x="6163129" y="3937526"/>
            <a:ext cx="3050102" cy="43505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총 유동인구</a:t>
            </a: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연령대별 및 성별 유동인구</a:t>
            </a:r>
          </a:p>
        </p:txBody>
      </p: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CB1AB1C9-8411-8721-D9EE-1DA8C5F737E7}"/>
              </a:ext>
            </a:extLst>
          </p:cNvPr>
          <p:cNvCxnSpPr>
            <a:cxnSpLocks/>
          </p:cNvCxnSpPr>
          <p:nvPr/>
        </p:nvCxnSpPr>
        <p:spPr>
          <a:xfrm>
            <a:off x="6116643" y="4724162"/>
            <a:ext cx="6096000" cy="0"/>
          </a:xfrm>
          <a:prstGeom prst="line">
            <a:avLst/>
          </a:prstGeom>
          <a:ln w="9525">
            <a:solidFill>
              <a:srgbClr val="721D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7B5379-21A7-BE3C-A23B-6D202D8DC1C1}"/>
              </a:ext>
            </a:extLst>
          </p:cNvPr>
          <p:cNvSpPr txBox="1"/>
          <p:nvPr/>
        </p:nvSpPr>
        <p:spPr>
          <a:xfrm>
            <a:off x="6163129" y="4907948"/>
            <a:ext cx="4224134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APPENDIX</a:t>
            </a:r>
            <a:r>
              <a:rPr kumimoji="1" lang="ko-KR" altLang="en-US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    데이터 추출 기준 </a:t>
            </a:r>
            <a:r>
              <a:rPr kumimoji="1" lang="en-US" altLang="ko-KR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/</a:t>
            </a:r>
            <a:r>
              <a:rPr kumimoji="1" lang="ko-KR" altLang="en-US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일별 편성 횟수</a:t>
            </a:r>
            <a:endParaRPr kumimoji="1" lang="ko-Kore-KR" altLang="en-US" sz="10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cxnSp>
        <p:nvCxnSpPr>
          <p:cNvPr id="15" name="직선 연결선[R] 21">
            <a:extLst>
              <a:ext uri="{FF2B5EF4-FFF2-40B4-BE49-F238E27FC236}">
                <a16:creationId xmlns:a16="http://schemas.microsoft.com/office/drawing/2014/main" id="{8E2F0F5E-D05A-49D7-9629-F1162F928F22}"/>
              </a:ext>
            </a:extLst>
          </p:cNvPr>
          <p:cNvCxnSpPr>
            <a:cxnSpLocks/>
          </p:cNvCxnSpPr>
          <p:nvPr/>
        </p:nvCxnSpPr>
        <p:spPr>
          <a:xfrm>
            <a:off x="6116643" y="1976610"/>
            <a:ext cx="6096000" cy="0"/>
          </a:xfrm>
          <a:prstGeom prst="line">
            <a:avLst/>
          </a:prstGeom>
          <a:ln w="9525">
            <a:solidFill>
              <a:srgbClr val="721D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13687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434199" y="2791218"/>
            <a:ext cx="2018811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Ⅰ    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결과보고 요약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79C760-A0C2-2DDD-2966-6C15523B637D}"/>
              </a:ext>
            </a:extLst>
          </p:cNvPr>
          <p:cNvSpPr txBox="1"/>
          <p:nvPr/>
        </p:nvSpPr>
        <p:spPr>
          <a:xfrm>
            <a:off x="2657474" y="2797797"/>
            <a:ext cx="1965326" cy="442429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결과보고 </a:t>
            </a:r>
            <a:r>
              <a:rPr lang="en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SUMMARY</a:t>
            </a:r>
            <a:endParaRPr lang="ko-KR" altLang="en-US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현장사진</a:t>
            </a:r>
          </a:p>
        </p:txBody>
      </p:sp>
      <p:cxnSp>
        <p:nvCxnSpPr>
          <p:cNvPr id="2" name="직선 연결선[R] 21">
            <a:extLst>
              <a:ext uri="{FF2B5EF4-FFF2-40B4-BE49-F238E27FC236}">
                <a16:creationId xmlns:a16="http://schemas.microsoft.com/office/drawing/2014/main" id="{E251A983-A36E-7CA2-7E2D-0951B7772A02}"/>
              </a:ext>
            </a:extLst>
          </p:cNvPr>
          <p:cNvCxnSpPr>
            <a:cxnSpLocks/>
          </p:cNvCxnSpPr>
          <p:nvPr/>
        </p:nvCxnSpPr>
        <p:spPr>
          <a:xfrm>
            <a:off x="0" y="1976610"/>
            <a:ext cx="4470400" cy="0"/>
          </a:xfrm>
          <a:prstGeom prst="line">
            <a:avLst/>
          </a:prstGeom>
          <a:ln w="9525">
            <a:solidFill>
              <a:srgbClr val="721D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8624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수동 입력 97">
            <a:extLst>
              <a:ext uri="{FF2B5EF4-FFF2-40B4-BE49-F238E27FC236}">
                <a16:creationId xmlns:a16="http://schemas.microsoft.com/office/drawing/2014/main" id="{0820EB3C-1992-7534-197A-979CE4A76909}"/>
              </a:ext>
            </a:extLst>
          </p:cNvPr>
          <p:cNvSpPr/>
          <p:nvPr/>
        </p:nvSpPr>
        <p:spPr>
          <a:xfrm>
            <a:off x="4575513" y="2453568"/>
            <a:ext cx="3247460" cy="3904335"/>
          </a:xfrm>
          <a:prstGeom prst="flowChartManualInput">
            <a:avLst/>
          </a:prstGeom>
          <a:gradFill flip="none" rotWithShape="1">
            <a:gsLst>
              <a:gs pos="0">
                <a:srgbClr val="101D46">
                  <a:alpha val="0"/>
                </a:srgbClr>
              </a:gs>
              <a:gs pos="100000">
                <a:srgbClr val="101D46">
                  <a:alpha val="2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EFA38518-B4DC-84DA-4E12-BBD72B2351BF}"/>
              </a:ext>
            </a:extLst>
          </p:cNvPr>
          <p:cNvGrpSpPr/>
          <p:nvPr/>
        </p:nvGrpSpPr>
        <p:grpSpPr>
          <a:xfrm>
            <a:off x="500316" y="813208"/>
            <a:ext cx="3447811" cy="865680"/>
            <a:chOff x="500316" y="813208"/>
            <a:chExt cx="3447811" cy="86568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9E38DB2-F273-1CA9-7742-000F7B2251B8}"/>
                </a:ext>
              </a:extLst>
            </p:cNvPr>
            <p:cNvSpPr txBox="1"/>
            <p:nvPr/>
          </p:nvSpPr>
          <p:spPr>
            <a:xfrm>
              <a:off x="510372" y="1433821"/>
              <a:ext cx="3437755" cy="245067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spc="-60" dirty="0">
                  <a:solidFill>
                    <a:srgbClr val="721D20"/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고려대학교 </a:t>
              </a:r>
              <a:r>
                <a:rPr lang="en-US" altLang="ko-KR" sz="1200" spc="-60" dirty="0">
                  <a:solidFill>
                    <a:srgbClr val="721D20"/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27</a:t>
              </a:r>
              <a:r>
                <a:rPr lang="ko-KR" altLang="en-US" sz="1200" spc="-60" dirty="0">
                  <a:solidFill>
                    <a:srgbClr val="721D20"/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학년도 수시 신입생 모집 캠페인 결과 요약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A801F95-4377-AB57-503C-530FB765CD6F}"/>
                </a:ext>
              </a:extLst>
            </p:cNvPr>
            <p:cNvSpPr txBox="1"/>
            <p:nvPr/>
          </p:nvSpPr>
          <p:spPr>
            <a:xfrm>
              <a:off x="509086" y="1061430"/>
              <a:ext cx="3186221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결과보고 </a:t>
              </a:r>
              <a:r>
                <a:rPr lang="en" altLang="ko-KR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SUMMARY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6E66BE2-58E9-D67E-6921-9EE2231559B5}"/>
                </a:ext>
              </a:extLst>
            </p:cNvPr>
            <p:cNvSpPr txBox="1"/>
            <p:nvPr/>
          </p:nvSpPr>
          <p:spPr>
            <a:xfrm>
              <a:off x="500316" y="813208"/>
              <a:ext cx="886031" cy="184666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721D20"/>
                  </a:soli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Medium" panose="00000600000000000000" pitchFamily="2" charset="0"/>
                </a:rPr>
                <a:t>01</a:t>
              </a:r>
              <a:endParaRPr lang="en-US" sz="1200" b="1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endParaRP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B34F7725-6BE1-FD03-034D-9437C6C471B5}"/>
              </a:ext>
            </a:extLst>
          </p:cNvPr>
          <p:cNvSpPr txBox="1"/>
          <p:nvPr/>
        </p:nvSpPr>
        <p:spPr>
          <a:xfrm>
            <a:off x="500316" y="212481"/>
            <a:ext cx="9213672" cy="26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2026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고려대학교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ko-KR" altLang="en-US" sz="900" b="1" spc="-70" dirty="0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결과보고 요약</a:t>
            </a:r>
            <a:r>
              <a:rPr lang="en-US" altLang="ko-KR" sz="1050" spc="-80" dirty="0">
                <a:solidFill>
                  <a:srgbClr val="C0000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	</a:t>
            </a:r>
            <a:endParaRPr lang="ko-KR" altLang="en-US" sz="1200" spc="-80" dirty="0">
              <a:solidFill>
                <a:srgbClr val="C00000"/>
              </a:solidFill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90C38B7-9CDB-1213-8BD3-270BA3182A61}"/>
              </a:ext>
            </a:extLst>
          </p:cNvPr>
          <p:cNvGrpSpPr/>
          <p:nvPr/>
        </p:nvGrpSpPr>
        <p:grpSpPr>
          <a:xfrm>
            <a:off x="7606214" y="2085056"/>
            <a:ext cx="4076700" cy="4272847"/>
            <a:chOff x="7405061" y="2085056"/>
            <a:chExt cx="4076700" cy="4272847"/>
          </a:xfrm>
        </p:grpSpPr>
        <p:sp>
          <p:nvSpPr>
            <p:cNvPr id="312" name="Bar 313"/>
            <p:cNvSpPr/>
            <p:nvPr/>
          </p:nvSpPr>
          <p:spPr>
            <a:xfrm>
              <a:off x="7405061" y="2434518"/>
              <a:ext cx="2463800" cy="946727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b="1">
                <a:solidFill>
                  <a:schemeClr val="lt1"/>
                </a:solidFill>
              </a:endParaRPr>
            </a:p>
          </p:txBody>
        </p:sp>
        <p:sp>
          <p:nvSpPr>
            <p:cNvPr id="311" name="Bar 312"/>
            <p:cNvSpPr/>
            <p:nvPr/>
          </p:nvSpPr>
          <p:spPr>
            <a:xfrm>
              <a:off x="7405061" y="2434518"/>
              <a:ext cx="4076700" cy="946727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2700">
              <a:solidFill>
                <a:srgbClr val="D2D5DB">
                  <a:alpha val="99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b="1"/>
            </a:p>
          </p:txBody>
        </p:sp>
        <p:sp>
          <p:nvSpPr>
            <p:cNvPr id="313" name="Bar 314"/>
            <p:cNvSpPr/>
            <p:nvPr/>
          </p:nvSpPr>
          <p:spPr>
            <a:xfrm>
              <a:off x="8636961" y="2619245"/>
              <a:ext cx="10160" cy="577273"/>
            </a:xfrm>
            <a:prstGeom prst="rect">
              <a:avLst/>
            </a:prstGeom>
            <a:solidFill>
              <a:srgbClr val="EFE4E4"/>
            </a:solidFill>
            <a:ln>
              <a:noFill/>
            </a:ln>
          </p:spPr>
          <p:txBody>
            <a:bodyPr/>
            <a:lstStyle/>
            <a:p>
              <a:endParaRPr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14" name="Bar 315"/>
            <p:cNvSpPr/>
            <p:nvPr/>
          </p:nvSpPr>
          <p:spPr>
            <a:xfrm>
              <a:off x="9868861" y="2434518"/>
              <a:ext cx="1612900" cy="946727"/>
            </a:xfrm>
            <a:prstGeom prst="roundRect">
              <a:avLst>
                <a:gd name="adj" fmla="val 8000"/>
              </a:avLst>
            </a:prstGeom>
            <a:gradFill flip="none" rotWithShape="1">
              <a:gsLst>
                <a:gs pos="50000">
                  <a:srgbClr val="9E4E54"/>
                </a:gs>
                <a:gs pos="0">
                  <a:srgbClr val="7D111C"/>
                </a:gs>
                <a:gs pos="100000">
                  <a:srgbClr val="BE8A8C"/>
                </a:gs>
              </a:gsLst>
              <a:lin ang="2700000" scaled="1"/>
              <a:tileRect/>
            </a:gradFill>
            <a:ln w="12700">
              <a:noFill/>
            </a:ln>
          </p:spPr>
          <p:txBody>
            <a:bodyPr/>
            <a:lstStyle/>
            <a:p>
              <a:endParaRPr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15" name="T 316"/>
            <p:cNvSpPr txBox="1"/>
            <p:nvPr/>
          </p:nvSpPr>
          <p:spPr>
            <a:xfrm>
              <a:off x="7455861" y="2699215"/>
              <a:ext cx="1130300" cy="13708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ko-KR" altLang="en-US" sz="900" dirty="0">
                  <a:solidFill>
                    <a:srgbClr val="666666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계약보장 송출횟수</a:t>
              </a:r>
            </a:p>
          </p:txBody>
        </p:sp>
        <p:sp>
          <p:nvSpPr>
            <p:cNvPr id="316" name="T 317"/>
            <p:cNvSpPr txBox="1"/>
            <p:nvPr/>
          </p:nvSpPr>
          <p:spPr>
            <a:xfrm>
              <a:off x="7455861" y="2872164"/>
              <a:ext cx="1130300" cy="2284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1,550</a:t>
              </a:r>
              <a:r>
                <a:rPr lang="ko-KR" altLang="en-US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회</a:t>
              </a:r>
            </a:p>
          </p:txBody>
        </p:sp>
        <p:sp>
          <p:nvSpPr>
            <p:cNvPr id="317" name="T 318"/>
            <p:cNvSpPr txBox="1"/>
            <p:nvPr/>
          </p:nvSpPr>
          <p:spPr>
            <a:xfrm>
              <a:off x="8687761" y="2699216"/>
              <a:ext cx="1130300" cy="13708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ko-KR" altLang="en-US" sz="900" dirty="0" err="1">
                  <a:solidFill>
                    <a:srgbClr val="666666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실집행</a:t>
              </a:r>
              <a:r>
                <a:rPr lang="ko-KR" altLang="en-US" sz="900" dirty="0">
                  <a:solidFill>
                    <a:srgbClr val="666666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송출횟수</a:t>
              </a:r>
            </a:p>
          </p:txBody>
        </p:sp>
        <p:sp>
          <p:nvSpPr>
            <p:cNvPr id="318" name="T 319"/>
            <p:cNvSpPr txBox="1"/>
            <p:nvPr/>
          </p:nvSpPr>
          <p:spPr>
            <a:xfrm>
              <a:off x="8687761" y="2872165"/>
              <a:ext cx="1130300" cy="2284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2,368</a:t>
              </a:r>
              <a:r>
                <a:rPr lang="ko-KR" altLang="en-US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회</a:t>
              </a:r>
            </a:p>
          </p:txBody>
        </p:sp>
        <p:sp>
          <p:nvSpPr>
            <p:cNvPr id="320" name="T 321"/>
            <p:cNvSpPr txBox="1"/>
            <p:nvPr/>
          </p:nvSpPr>
          <p:spPr>
            <a:xfrm>
              <a:off x="9919661" y="2686310"/>
              <a:ext cx="1511300" cy="152286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ko-KR" altLang="en-US" sz="1000" b="1" dirty="0" err="1">
                  <a:solidFill>
                    <a:srgbClr val="F7EDE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달성률</a:t>
              </a:r>
              <a:endParaRPr lang="ko-KR" altLang="en-US" sz="1000" b="1" dirty="0">
                <a:solidFill>
                  <a:srgbClr val="F7EDE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21" name="T 322"/>
            <p:cNvSpPr txBox="1"/>
            <p:nvPr/>
          </p:nvSpPr>
          <p:spPr>
            <a:xfrm>
              <a:off x="9919661" y="2824824"/>
              <a:ext cx="1511300" cy="3046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 dirty="0">
                  <a:solidFill>
                    <a:srgbClr val="FFFFF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152.8%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B2BA9D-F38C-26C4-79FE-C2BD68425AD7}"/>
                </a:ext>
              </a:extLst>
            </p:cNvPr>
            <p:cNvSpPr txBox="1"/>
            <p:nvPr/>
          </p:nvSpPr>
          <p:spPr>
            <a:xfrm>
              <a:off x="7407601" y="2085056"/>
              <a:ext cx="40493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1200" b="1" i="1" dirty="0">
                  <a:solidFill>
                    <a:srgbClr val="7D111C"/>
                  </a:solidFill>
                  <a:latin typeface="JTBC Gothic Bold"/>
                  <a:ea typeface="JTBC Gothic Bold"/>
                </a:rPr>
                <a:t>|</a:t>
              </a:r>
              <a:r>
                <a:rPr kumimoji="1" lang="ko-KR" altLang="en-US" sz="1200" b="1" dirty="0">
                  <a:solidFill>
                    <a:srgbClr val="7D111C"/>
                  </a:solidFill>
                  <a:latin typeface="JTBC Gothic Bold"/>
                  <a:ea typeface="JTBC Gothic Bold"/>
                </a:rPr>
                <a:t>    총 재생횟수</a:t>
              </a:r>
              <a:endParaRPr kumimoji="1" lang="en" altLang="ko-KR" sz="1200" b="1" dirty="0">
                <a:solidFill>
                  <a:srgbClr val="7D111C"/>
                </a:solidFill>
                <a:latin typeface="JTBC Gothic Bold"/>
                <a:ea typeface="JTBC Gothic Bold"/>
              </a:endParaRPr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DFA0EEF3-D233-E061-9EBF-3D5A16EC5AD1}"/>
                </a:ext>
              </a:extLst>
            </p:cNvPr>
            <p:cNvGrpSpPr/>
            <p:nvPr/>
          </p:nvGrpSpPr>
          <p:grpSpPr>
            <a:xfrm>
              <a:off x="7405061" y="3573385"/>
              <a:ext cx="4076700" cy="1296189"/>
              <a:chOff x="7390386" y="2085056"/>
              <a:chExt cx="4076700" cy="1296189"/>
            </a:xfrm>
          </p:grpSpPr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07E69A45-5E28-35CF-4096-D0FEF0FDC966}"/>
                  </a:ext>
                </a:extLst>
              </p:cNvPr>
              <p:cNvGrpSpPr/>
              <p:nvPr/>
            </p:nvGrpSpPr>
            <p:grpSpPr>
              <a:xfrm>
                <a:off x="7390386" y="2434518"/>
                <a:ext cx="4076700" cy="946727"/>
                <a:chOff x="7390386" y="2433675"/>
                <a:chExt cx="4076700" cy="1041400"/>
              </a:xfrm>
            </p:grpSpPr>
            <p:sp>
              <p:nvSpPr>
                <p:cNvPr id="123" name="Bar 313">
                  <a:extLst>
                    <a:ext uri="{FF2B5EF4-FFF2-40B4-BE49-F238E27FC236}">
                      <a16:creationId xmlns:a16="http://schemas.microsoft.com/office/drawing/2014/main" id="{B380981A-8E67-56A9-6DCA-27C4AD51A467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24638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24" name="Bar 312">
                  <a:extLst>
                    <a:ext uri="{FF2B5EF4-FFF2-40B4-BE49-F238E27FC236}">
                      <a16:creationId xmlns:a16="http://schemas.microsoft.com/office/drawing/2014/main" id="{A9C6FBAB-971C-D8DD-2048-6790D9499EA5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40767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solidFill>
                    <a:srgbClr val="D2D5DB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/>
                </a:p>
              </p:txBody>
            </p:sp>
            <p:sp>
              <p:nvSpPr>
                <p:cNvPr id="125" name="Bar 314">
                  <a:extLst>
                    <a:ext uri="{FF2B5EF4-FFF2-40B4-BE49-F238E27FC236}">
                      <a16:creationId xmlns:a16="http://schemas.microsoft.com/office/drawing/2014/main" id="{F4D390DC-F1E8-446B-4297-882B5BCF40EA}"/>
                    </a:ext>
                  </a:extLst>
                </p:cNvPr>
                <p:cNvSpPr/>
                <p:nvPr/>
              </p:nvSpPr>
              <p:spPr>
                <a:xfrm>
                  <a:off x="8622286" y="2636875"/>
                  <a:ext cx="10160" cy="635000"/>
                </a:xfrm>
                <a:prstGeom prst="rect">
                  <a:avLst/>
                </a:prstGeom>
                <a:solidFill>
                  <a:srgbClr val="EFE4E4"/>
                </a:solidFill>
                <a:ln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26" name="Bar 315">
                  <a:extLst>
                    <a:ext uri="{FF2B5EF4-FFF2-40B4-BE49-F238E27FC236}">
                      <a16:creationId xmlns:a16="http://schemas.microsoft.com/office/drawing/2014/main" id="{78901952-D07D-0AF2-C6C5-1988F725CC95}"/>
                    </a:ext>
                  </a:extLst>
                </p:cNvPr>
                <p:cNvSpPr/>
                <p:nvPr/>
              </p:nvSpPr>
              <p:spPr>
                <a:xfrm>
                  <a:off x="9854186" y="2433675"/>
                  <a:ext cx="1612900" cy="1041400"/>
                </a:xfrm>
                <a:prstGeom prst="roundRect">
                  <a:avLst>
                    <a:gd name="adj" fmla="val 8000"/>
                  </a:avLst>
                </a:prstGeom>
                <a:gradFill flip="none" rotWithShape="1">
                  <a:gsLst>
                    <a:gs pos="50000">
                      <a:srgbClr val="9E4E54"/>
                    </a:gs>
                    <a:gs pos="0">
                      <a:srgbClr val="7D111C"/>
                    </a:gs>
                    <a:gs pos="100000">
                      <a:srgbClr val="BE8A8C"/>
                    </a:gs>
                  </a:gsLst>
                  <a:lin ang="2700000" scaled="1"/>
                  <a:tileRect/>
                </a:gradFill>
                <a:ln w="12700"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127" name="그룹 126">
                  <a:extLst>
                    <a:ext uri="{FF2B5EF4-FFF2-40B4-BE49-F238E27FC236}">
                      <a16:creationId xmlns:a16="http://schemas.microsoft.com/office/drawing/2014/main" id="{A2DA8018-668C-2B4D-1FDF-34255CC152C4}"/>
                    </a:ext>
                  </a:extLst>
                </p:cNvPr>
                <p:cNvGrpSpPr/>
                <p:nvPr/>
              </p:nvGrpSpPr>
              <p:grpSpPr>
                <a:xfrm>
                  <a:off x="7441186" y="2738552"/>
                  <a:ext cx="1130300" cy="416418"/>
                  <a:chOff x="7683500" y="4219011"/>
                  <a:chExt cx="1130300" cy="416418"/>
                </a:xfrm>
              </p:grpSpPr>
              <p:sp>
                <p:nvSpPr>
                  <p:cNvPr id="262" name="T 316">
                    <a:extLst>
                      <a:ext uri="{FF2B5EF4-FFF2-40B4-BE49-F238E27FC236}">
                        <a16:creationId xmlns:a16="http://schemas.microsoft.com/office/drawing/2014/main" id="{1CE0A22D-5450-EEFB-94F8-2D82742C550A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219011"/>
                    <a:ext cx="1130300" cy="13708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광고비(VAT별도)</a:t>
                    </a:r>
                  </a:p>
                </p:txBody>
              </p:sp>
              <p:sp>
                <p:nvSpPr>
                  <p:cNvPr id="263" name="T 317">
                    <a:extLst>
                      <a:ext uri="{FF2B5EF4-FFF2-40B4-BE49-F238E27FC236}">
                        <a16:creationId xmlns:a16="http://schemas.microsoft.com/office/drawing/2014/main" id="{75F75AB9-3D0C-8431-BAB2-8003552C5B1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406969"/>
                    <a:ext cx="1130300" cy="22846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en-US" altLang="ko-KR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7</a:t>
                    </a:r>
                    <a:r>
                      <a:rPr lang="ko-KR" altLang="en-US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,000만원</a:t>
                    </a:r>
                  </a:p>
                </p:txBody>
              </p:sp>
            </p:grpSp>
            <p:grpSp>
              <p:nvGrpSpPr>
                <p:cNvPr id="256" name="그룹 255">
                  <a:extLst>
                    <a:ext uri="{FF2B5EF4-FFF2-40B4-BE49-F238E27FC236}">
                      <a16:creationId xmlns:a16="http://schemas.microsoft.com/office/drawing/2014/main" id="{507F4DAF-D7F1-D939-D12B-336F662C16B7}"/>
                    </a:ext>
                  </a:extLst>
                </p:cNvPr>
                <p:cNvGrpSpPr/>
                <p:nvPr/>
              </p:nvGrpSpPr>
              <p:grpSpPr>
                <a:xfrm>
                  <a:off x="8673086" y="2738552"/>
                  <a:ext cx="1130300" cy="416418"/>
                  <a:chOff x="8915400" y="4219011"/>
                  <a:chExt cx="1130300" cy="416418"/>
                </a:xfrm>
              </p:grpSpPr>
              <p:sp>
                <p:nvSpPr>
                  <p:cNvPr id="260" name="T 318">
                    <a:extLst>
                      <a:ext uri="{FF2B5EF4-FFF2-40B4-BE49-F238E27FC236}">
                        <a16:creationId xmlns:a16="http://schemas.microsoft.com/office/drawing/2014/main" id="{98FCD1F6-2ED3-24DB-EFA5-6C5777101A24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219011"/>
                    <a:ext cx="1130300" cy="13708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노출인구</a:t>
                    </a:r>
                  </a:p>
                </p:txBody>
              </p:sp>
              <p:sp>
                <p:nvSpPr>
                  <p:cNvPr id="261" name="T 319">
                    <a:extLst>
                      <a:ext uri="{FF2B5EF4-FFF2-40B4-BE49-F238E27FC236}">
                        <a16:creationId xmlns:a16="http://schemas.microsoft.com/office/drawing/2014/main" id="{21A419D6-9542-0006-6C3B-E41D572D5C61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406969"/>
                    <a:ext cx="1130300" cy="22846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ko-KR" altLang="en-US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1,191만 명</a:t>
                    </a:r>
                  </a:p>
                </p:txBody>
              </p:sp>
            </p:grpSp>
            <p:grpSp>
              <p:nvGrpSpPr>
                <p:cNvPr id="257" name="그룹 256">
                  <a:extLst>
                    <a:ext uri="{FF2B5EF4-FFF2-40B4-BE49-F238E27FC236}">
                      <a16:creationId xmlns:a16="http://schemas.microsoft.com/office/drawing/2014/main" id="{BC6E1AAC-F357-FAE0-1228-E6AD09625D70}"/>
                    </a:ext>
                  </a:extLst>
                </p:cNvPr>
                <p:cNvGrpSpPr/>
                <p:nvPr/>
              </p:nvGrpSpPr>
              <p:grpSpPr>
                <a:xfrm>
                  <a:off x="9904986" y="2725874"/>
                  <a:ext cx="1511300" cy="457003"/>
                  <a:chOff x="10147300" y="4203814"/>
                  <a:chExt cx="1511300" cy="457003"/>
                </a:xfrm>
              </p:grpSpPr>
              <p:sp>
                <p:nvSpPr>
                  <p:cNvPr id="258" name="T 321">
                    <a:extLst>
                      <a:ext uri="{FF2B5EF4-FFF2-40B4-BE49-F238E27FC236}">
                        <a16:creationId xmlns:a16="http://schemas.microsoft.com/office/drawing/2014/main" id="{D5D6DCAF-C808-1837-4CE5-E14D6DEE87D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203814"/>
                    <a:ext cx="1511300" cy="15228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1000" b="1" dirty="0">
                        <a:solidFill>
                          <a:srgbClr val="F7EDED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CPM (원)</a:t>
                    </a:r>
                  </a:p>
                </p:txBody>
              </p:sp>
              <p:sp>
                <p:nvSpPr>
                  <p:cNvPr id="259" name="T 322">
                    <a:extLst>
                      <a:ext uri="{FF2B5EF4-FFF2-40B4-BE49-F238E27FC236}">
                        <a16:creationId xmlns:a16="http://schemas.microsoft.com/office/drawing/2014/main" id="{CD3755CC-719E-A461-B590-8EEE9B8B4E7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356182"/>
                    <a:ext cx="1511300" cy="30463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en-US" altLang="ko-KR" sz="2000" b="1" dirty="0">
                        <a:solidFill>
                          <a:srgbClr val="FFFFFF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5,879</a:t>
                    </a:r>
                    <a:r>
                      <a:rPr lang="ko-KR" altLang="en-US" sz="2000" b="1" dirty="0">
                        <a:solidFill>
                          <a:srgbClr val="FFFFFF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원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14C4D56-6F8C-6348-B1BE-085BD63EE47F}"/>
                  </a:ext>
                </a:extLst>
              </p:cNvPr>
              <p:cNvSpPr txBox="1"/>
              <p:nvPr/>
            </p:nvSpPr>
            <p:spPr>
              <a:xfrm>
                <a:off x="7392926" y="2085056"/>
                <a:ext cx="404939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ko-KR" altLang="en-US" sz="1200" b="1" i="1" dirty="0">
                    <a:solidFill>
                      <a:srgbClr val="7D111C"/>
                    </a:solidFill>
                    <a:latin typeface="JTBC Gothic Bold"/>
                    <a:ea typeface="JTBC Gothic Bold"/>
                  </a:rPr>
                  <a:t>|</a:t>
                </a:r>
                <a:r>
                  <a:rPr kumimoji="1" lang="ko-KR" altLang="en-US" sz="1200" b="1" dirty="0">
                    <a:solidFill>
                      <a:srgbClr val="7D111C"/>
                    </a:solidFill>
                    <a:latin typeface="JTBC Gothic Bold"/>
                    <a:ea typeface="JTBC Gothic Bold"/>
                  </a:rPr>
                  <a:t>    광고 효율</a:t>
                </a:r>
                <a:endParaRPr kumimoji="1" lang="en" altLang="ko-KR" sz="1200" b="1" dirty="0">
                  <a:solidFill>
                    <a:srgbClr val="7D111C"/>
                  </a:solidFill>
                  <a:latin typeface="JTBC Gothic Bold"/>
                  <a:ea typeface="JTBC Gothic Bold"/>
                </a:endParaRPr>
              </a:p>
            </p:txBody>
          </p:sp>
        </p:grp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5A4B35EA-2CE6-D8E0-FD41-4D838C84595C}"/>
                </a:ext>
              </a:extLst>
            </p:cNvPr>
            <p:cNvGrpSpPr/>
            <p:nvPr/>
          </p:nvGrpSpPr>
          <p:grpSpPr>
            <a:xfrm>
              <a:off x="7405061" y="5061714"/>
              <a:ext cx="4076700" cy="1296189"/>
              <a:chOff x="7390386" y="2085056"/>
              <a:chExt cx="4076700" cy="1296189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6078BB16-6B52-8249-B66C-F2F8A53380B4}"/>
                  </a:ext>
                </a:extLst>
              </p:cNvPr>
              <p:cNvGrpSpPr/>
              <p:nvPr/>
            </p:nvGrpSpPr>
            <p:grpSpPr>
              <a:xfrm>
                <a:off x="7390386" y="2434518"/>
                <a:ext cx="4076700" cy="946727"/>
                <a:chOff x="7390386" y="2433675"/>
                <a:chExt cx="4076700" cy="1041400"/>
              </a:xfrm>
            </p:grpSpPr>
            <p:sp>
              <p:nvSpPr>
                <p:cNvPr id="267" name="Bar 313">
                  <a:extLst>
                    <a:ext uri="{FF2B5EF4-FFF2-40B4-BE49-F238E27FC236}">
                      <a16:creationId xmlns:a16="http://schemas.microsoft.com/office/drawing/2014/main" id="{AB44F2A8-2FE0-6540-2807-377EC0B1531E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24638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68" name="Bar 312">
                  <a:extLst>
                    <a:ext uri="{FF2B5EF4-FFF2-40B4-BE49-F238E27FC236}">
                      <a16:creationId xmlns:a16="http://schemas.microsoft.com/office/drawing/2014/main" id="{8ACDB393-F2D1-5E82-D408-D0BAEEB9B8A2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40767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solidFill>
                    <a:srgbClr val="D2D5DB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/>
                </a:p>
              </p:txBody>
            </p:sp>
            <p:sp>
              <p:nvSpPr>
                <p:cNvPr id="269" name="Bar 314">
                  <a:extLst>
                    <a:ext uri="{FF2B5EF4-FFF2-40B4-BE49-F238E27FC236}">
                      <a16:creationId xmlns:a16="http://schemas.microsoft.com/office/drawing/2014/main" id="{5E55A535-FD59-72B3-D37D-33FA39E299DF}"/>
                    </a:ext>
                  </a:extLst>
                </p:cNvPr>
                <p:cNvSpPr/>
                <p:nvPr/>
              </p:nvSpPr>
              <p:spPr>
                <a:xfrm>
                  <a:off x="8622286" y="2636875"/>
                  <a:ext cx="10160" cy="635000"/>
                </a:xfrm>
                <a:prstGeom prst="rect">
                  <a:avLst/>
                </a:prstGeom>
                <a:solidFill>
                  <a:srgbClr val="EFE4E4"/>
                </a:solidFill>
                <a:ln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70" name="Bar 315">
                  <a:extLst>
                    <a:ext uri="{FF2B5EF4-FFF2-40B4-BE49-F238E27FC236}">
                      <a16:creationId xmlns:a16="http://schemas.microsoft.com/office/drawing/2014/main" id="{D77EB4EE-5BE0-CD60-B731-751C66CD3FC3}"/>
                    </a:ext>
                  </a:extLst>
                </p:cNvPr>
                <p:cNvSpPr/>
                <p:nvPr/>
              </p:nvSpPr>
              <p:spPr>
                <a:xfrm>
                  <a:off x="9854186" y="2433675"/>
                  <a:ext cx="1612900" cy="1041400"/>
                </a:xfrm>
                <a:prstGeom prst="roundRect">
                  <a:avLst>
                    <a:gd name="adj" fmla="val 8000"/>
                  </a:avLst>
                </a:prstGeom>
                <a:gradFill flip="none" rotWithShape="1">
                  <a:gsLst>
                    <a:gs pos="50000">
                      <a:srgbClr val="9E4E54"/>
                    </a:gs>
                    <a:gs pos="0">
                      <a:srgbClr val="7D111C"/>
                    </a:gs>
                    <a:gs pos="100000">
                      <a:srgbClr val="BE8A8C"/>
                    </a:gs>
                  </a:gsLst>
                  <a:lin ang="2700000" scaled="1"/>
                  <a:tileRect/>
                </a:gradFill>
                <a:ln w="12700"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271" name="그룹 270">
                  <a:extLst>
                    <a:ext uri="{FF2B5EF4-FFF2-40B4-BE49-F238E27FC236}">
                      <a16:creationId xmlns:a16="http://schemas.microsoft.com/office/drawing/2014/main" id="{0448CE8A-4A4D-A187-2F47-E6C9797C9082}"/>
                    </a:ext>
                  </a:extLst>
                </p:cNvPr>
                <p:cNvGrpSpPr/>
                <p:nvPr/>
              </p:nvGrpSpPr>
              <p:grpSpPr>
                <a:xfrm>
                  <a:off x="7441186" y="2724843"/>
                  <a:ext cx="1130300" cy="441549"/>
                  <a:chOff x="7683500" y="4205302"/>
                  <a:chExt cx="1130300" cy="441549"/>
                </a:xfrm>
              </p:grpSpPr>
              <p:sp>
                <p:nvSpPr>
                  <p:cNvPr id="278" name="T 316">
                    <a:extLst>
                      <a:ext uri="{FF2B5EF4-FFF2-40B4-BE49-F238E27FC236}">
                        <a16:creationId xmlns:a16="http://schemas.microsoft.com/office/drawing/2014/main" id="{239503AC-6A5C-5B40-2ABC-967DA8ECAF8A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205302"/>
                    <a:ext cx="1130300" cy="1507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일평균 유동인구</a:t>
                    </a:r>
                  </a:p>
                </p:txBody>
              </p:sp>
              <p:sp>
                <p:nvSpPr>
                  <p:cNvPr id="279" name="T 317">
                    <a:extLst>
                      <a:ext uri="{FF2B5EF4-FFF2-40B4-BE49-F238E27FC236}">
                        <a16:creationId xmlns:a16="http://schemas.microsoft.com/office/drawing/2014/main" id="{348EB96D-260B-1E93-3EE9-69F944D096DF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395545"/>
                    <a:ext cx="1130300" cy="2513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en-US" altLang="ko-KR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384,116명</a:t>
                    </a:r>
                  </a:p>
                </p:txBody>
              </p:sp>
            </p:grpSp>
            <p:grpSp>
              <p:nvGrpSpPr>
                <p:cNvPr id="272" name="그룹 271">
                  <a:extLst>
                    <a:ext uri="{FF2B5EF4-FFF2-40B4-BE49-F238E27FC236}">
                      <a16:creationId xmlns:a16="http://schemas.microsoft.com/office/drawing/2014/main" id="{BFBB7CA5-C782-A493-B204-79F5773D101A}"/>
                    </a:ext>
                  </a:extLst>
                </p:cNvPr>
                <p:cNvGrpSpPr/>
                <p:nvPr/>
              </p:nvGrpSpPr>
              <p:grpSpPr>
                <a:xfrm>
                  <a:off x="8673086" y="2724843"/>
                  <a:ext cx="1130300" cy="441549"/>
                  <a:chOff x="8915400" y="4205302"/>
                  <a:chExt cx="1130300" cy="441549"/>
                </a:xfrm>
              </p:grpSpPr>
              <p:sp>
                <p:nvSpPr>
                  <p:cNvPr id="276" name="T 318">
                    <a:extLst>
                      <a:ext uri="{FF2B5EF4-FFF2-40B4-BE49-F238E27FC236}">
                        <a16:creationId xmlns:a16="http://schemas.microsoft.com/office/drawing/2014/main" id="{D27DA96B-C37D-3C35-39DE-56FA32318E91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205302"/>
                    <a:ext cx="1130300" cy="1507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일 최대 유동인구</a:t>
                    </a:r>
                  </a:p>
                </p:txBody>
              </p:sp>
              <p:sp>
                <p:nvSpPr>
                  <p:cNvPr id="277" name="T 319">
                    <a:extLst>
                      <a:ext uri="{FF2B5EF4-FFF2-40B4-BE49-F238E27FC236}">
                        <a16:creationId xmlns:a16="http://schemas.microsoft.com/office/drawing/2014/main" id="{82AD4EC0-2FD1-0CB1-489F-AD2A146192C0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395545"/>
                    <a:ext cx="1130300" cy="2513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en-US" altLang="ko-KR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503,880명</a:t>
                    </a:r>
                  </a:p>
                </p:txBody>
              </p:sp>
            </p:grpSp>
            <p:grpSp>
              <p:nvGrpSpPr>
                <p:cNvPr id="273" name="그룹 272">
                  <a:extLst>
                    <a:ext uri="{FF2B5EF4-FFF2-40B4-BE49-F238E27FC236}">
                      <a16:creationId xmlns:a16="http://schemas.microsoft.com/office/drawing/2014/main" id="{99E2058C-F460-4117-20D9-5621E6853EB4}"/>
                    </a:ext>
                  </a:extLst>
                </p:cNvPr>
                <p:cNvGrpSpPr/>
                <p:nvPr/>
              </p:nvGrpSpPr>
              <p:grpSpPr>
                <a:xfrm>
                  <a:off x="9904986" y="2710646"/>
                  <a:ext cx="1511300" cy="487461"/>
                  <a:chOff x="10147300" y="4188586"/>
                  <a:chExt cx="1511300" cy="487461"/>
                </a:xfrm>
              </p:grpSpPr>
              <p:sp>
                <p:nvSpPr>
                  <p:cNvPr id="274" name="T 321">
                    <a:extLst>
                      <a:ext uri="{FF2B5EF4-FFF2-40B4-BE49-F238E27FC236}">
                        <a16:creationId xmlns:a16="http://schemas.microsoft.com/office/drawing/2014/main" id="{6E56DC1C-8AFE-A16D-42B6-D702B7555FE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188586"/>
                    <a:ext cx="1511300" cy="16751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1000" b="1" dirty="0">
                        <a:solidFill>
                          <a:srgbClr val="F7EDED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총 유동인구</a:t>
                    </a:r>
                  </a:p>
                </p:txBody>
              </p:sp>
              <p:sp>
                <p:nvSpPr>
                  <p:cNvPr id="275" name="T 322">
                    <a:extLst>
                      <a:ext uri="{FF2B5EF4-FFF2-40B4-BE49-F238E27FC236}">
                        <a16:creationId xmlns:a16="http://schemas.microsoft.com/office/drawing/2014/main" id="{93B13C8F-1A3B-058A-F9D6-FE75DA13A91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340949"/>
                    <a:ext cx="1511300" cy="335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en-US" altLang="ko-KR" sz="2000" b="1" dirty="0">
                        <a:solidFill>
                          <a:srgbClr val="FFFFFF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1,191만 명</a:t>
                    </a:r>
                  </a:p>
                </p:txBody>
              </p:sp>
            </p:grpSp>
          </p:grp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6E2475CB-63B6-B137-C74B-F41CE33C52DA}"/>
                  </a:ext>
                </a:extLst>
              </p:cNvPr>
              <p:cNvSpPr txBox="1"/>
              <p:nvPr/>
            </p:nvSpPr>
            <p:spPr>
              <a:xfrm>
                <a:off x="7392926" y="2085056"/>
                <a:ext cx="404939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ko-KR" altLang="en-US" sz="1200" b="1" i="1" dirty="0">
                    <a:solidFill>
                      <a:srgbClr val="7D111C"/>
                    </a:solidFill>
                    <a:latin typeface="JTBC Gothic Bold"/>
                    <a:ea typeface="JTBC Gothic Bold"/>
                  </a:rPr>
                  <a:t>|</a:t>
                </a:r>
                <a:r>
                  <a:rPr kumimoji="1" lang="ko-KR" altLang="en-US" sz="1200" b="1" dirty="0">
                    <a:solidFill>
                      <a:srgbClr val="7D111C"/>
                    </a:solidFill>
                    <a:latin typeface="JTBC Gothic Bold"/>
                    <a:ea typeface="JTBC Gothic Bold"/>
                  </a:rPr>
                  <a:t>    유동인구 규모</a:t>
                </a:r>
                <a:endParaRPr kumimoji="1" lang="en" altLang="ko-KR" sz="1200" b="1" dirty="0">
                  <a:solidFill>
                    <a:srgbClr val="7D111C"/>
                  </a:solidFill>
                  <a:latin typeface="JTBC Gothic Bold"/>
                  <a:ea typeface="JTBC Gothic Bold"/>
                </a:endParaRPr>
              </a:p>
            </p:txBody>
          </p:sp>
        </p:grp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BCC9C792-171D-9E81-7AB3-D8BA1489653F}"/>
              </a:ext>
            </a:extLst>
          </p:cNvPr>
          <p:cNvGrpSpPr/>
          <p:nvPr/>
        </p:nvGrpSpPr>
        <p:grpSpPr>
          <a:xfrm>
            <a:off x="563859" y="2647838"/>
            <a:ext cx="5299045" cy="3710065"/>
            <a:chOff x="649241" y="2085056"/>
            <a:chExt cx="5299045" cy="37100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F20BDE-F300-E205-71A3-BB6479A78116}"/>
                </a:ext>
              </a:extLst>
            </p:cNvPr>
            <p:cNvSpPr txBox="1"/>
            <p:nvPr/>
          </p:nvSpPr>
          <p:spPr>
            <a:xfrm>
              <a:off x="677154" y="2085056"/>
              <a:ext cx="40493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1200" b="1" i="1" dirty="0">
                  <a:solidFill>
                    <a:srgbClr val="7D111C"/>
                  </a:solidFill>
                  <a:latin typeface="JTBC Gothic Bold"/>
                  <a:ea typeface="JTBC Gothic Bold"/>
                </a:rPr>
                <a:t>|</a:t>
              </a:r>
              <a:r>
                <a:rPr kumimoji="1" lang="ko-KR" altLang="en-US" sz="1200" b="1" dirty="0">
                  <a:solidFill>
                    <a:srgbClr val="7D111C"/>
                  </a:solidFill>
                  <a:latin typeface="JTBC Gothic Bold"/>
                  <a:ea typeface="JTBC Gothic Bold"/>
                </a:rPr>
                <a:t>    매체 정보</a:t>
              </a:r>
              <a:endParaRPr kumimoji="1" lang="en" altLang="ko-KR" sz="1200" b="1" dirty="0">
                <a:solidFill>
                  <a:srgbClr val="7D111C"/>
                </a:solidFill>
                <a:latin typeface="JTBC Gothic Bold"/>
                <a:ea typeface="JTBC Gothic Bold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D20EEAA1-3126-0BCF-9822-28A81767BDE3}"/>
                </a:ext>
              </a:extLst>
            </p:cNvPr>
            <p:cNvGrpSpPr/>
            <p:nvPr/>
          </p:nvGrpSpPr>
          <p:grpSpPr>
            <a:xfrm>
              <a:off x="649241" y="2679281"/>
              <a:ext cx="5299045" cy="3115840"/>
              <a:chOff x="649241" y="2679281"/>
              <a:chExt cx="5299045" cy="3115840"/>
            </a:xfrm>
          </p:grpSpPr>
          <p:sp>
            <p:nvSpPr>
              <p:cNvPr id="69" name="Shape 10">
                <a:extLst>
                  <a:ext uri="{FF2B5EF4-FFF2-40B4-BE49-F238E27FC236}">
                    <a16:creationId xmlns:a16="http://schemas.microsoft.com/office/drawing/2014/main" id="{0479868D-B40A-E145-49C4-D6BC9B695341}"/>
                  </a:ext>
                </a:extLst>
              </p:cNvPr>
              <p:cNvSpPr/>
              <p:nvPr/>
            </p:nvSpPr>
            <p:spPr>
              <a:xfrm>
                <a:off x="649241" y="334394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7E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0" name="Text 11">
                <a:extLst>
                  <a:ext uri="{FF2B5EF4-FFF2-40B4-BE49-F238E27FC236}">
                    <a16:creationId xmlns:a16="http://schemas.microsoft.com/office/drawing/2014/main" id="{E3BB93DF-0391-1DB2-7335-23C689B354DA}"/>
                  </a:ext>
                </a:extLst>
              </p:cNvPr>
              <p:cNvSpPr txBox="1"/>
              <p:nvPr/>
            </p:nvSpPr>
            <p:spPr>
              <a:xfrm>
                <a:off x="877430" y="334394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상세 위치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1" name="Shape 12">
                <a:extLst>
                  <a:ext uri="{FF2B5EF4-FFF2-40B4-BE49-F238E27FC236}">
                    <a16:creationId xmlns:a16="http://schemas.microsoft.com/office/drawing/2014/main" id="{15D561F8-6430-1A9F-37F6-DA4E0D338A28}"/>
                  </a:ext>
                </a:extLst>
              </p:cNvPr>
              <p:cNvSpPr/>
              <p:nvPr/>
            </p:nvSpPr>
            <p:spPr>
              <a:xfrm>
                <a:off x="1854587" y="3343941"/>
                <a:ext cx="2871958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2" name="Text 13">
                <a:extLst>
                  <a:ext uri="{FF2B5EF4-FFF2-40B4-BE49-F238E27FC236}">
                    <a16:creationId xmlns:a16="http://schemas.microsoft.com/office/drawing/2014/main" id="{13F3A94A-9C48-3A61-C9B1-06CB38757874}"/>
                  </a:ext>
                </a:extLst>
              </p:cNvPr>
              <p:cNvSpPr txBox="1"/>
              <p:nvPr/>
            </p:nvSpPr>
            <p:spPr>
              <a:xfrm>
                <a:off x="2086128" y="3343941"/>
                <a:ext cx="386215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광화문 동아일보사 사옥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세종대로 사거리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sp>
            <p:nvSpPr>
              <p:cNvPr id="35" name="Shape 10">
                <a:extLst>
                  <a:ext uri="{FF2B5EF4-FFF2-40B4-BE49-F238E27FC236}">
                    <a16:creationId xmlns:a16="http://schemas.microsoft.com/office/drawing/2014/main" id="{04D77E0B-94DD-195B-C33B-11AF9F72AEC4}"/>
                  </a:ext>
                </a:extLst>
              </p:cNvPr>
              <p:cNvSpPr/>
              <p:nvPr/>
            </p:nvSpPr>
            <p:spPr>
              <a:xfrm>
                <a:off x="649241" y="267928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7E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6" name="Text 11">
                <a:extLst>
                  <a:ext uri="{FF2B5EF4-FFF2-40B4-BE49-F238E27FC236}">
                    <a16:creationId xmlns:a16="http://schemas.microsoft.com/office/drawing/2014/main" id="{0B9C926C-90EE-6A72-CD11-A6E82C292D30}"/>
                  </a:ext>
                </a:extLst>
              </p:cNvPr>
              <p:cNvSpPr txBox="1"/>
              <p:nvPr/>
            </p:nvSpPr>
            <p:spPr>
              <a:xfrm>
                <a:off x="877430" y="267928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 err="1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매체명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7" name="Shape 12">
                <a:extLst>
                  <a:ext uri="{FF2B5EF4-FFF2-40B4-BE49-F238E27FC236}">
                    <a16:creationId xmlns:a16="http://schemas.microsoft.com/office/drawing/2014/main" id="{A23E3D48-DAAD-4D39-C6A1-E14547BD264D}"/>
                  </a:ext>
                </a:extLst>
              </p:cNvPr>
              <p:cNvSpPr/>
              <p:nvPr/>
            </p:nvSpPr>
            <p:spPr>
              <a:xfrm>
                <a:off x="1854587" y="267928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38" name="Text 13">
                <a:extLst>
                  <a:ext uri="{FF2B5EF4-FFF2-40B4-BE49-F238E27FC236}">
                    <a16:creationId xmlns:a16="http://schemas.microsoft.com/office/drawing/2014/main" id="{68058F64-1DF2-69AD-06B8-59867FB83EF1}"/>
                  </a:ext>
                </a:extLst>
              </p:cNvPr>
              <p:cNvSpPr txBox="1"/>
              <p:nvPr/>
            </p:nvSpPr>
            <p:spPr>
              <a:xfrm>
                <a:off x="2086128" y="2679281"/>
                <a:ext cx="937029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100" dirty="0" err="1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룩스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(LUUX)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endParaRPr lang="en-US" sz="1100" dirty="0">
                  <a:solidFill>
                    <a:schemeClr val="bg2">
                      <a:lumMod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74" name="Shape 10">
                <a:extLst>
                  <a:ext uri="{FF2B5EF4-FFF2-40B4-BE49-F238E27FC236}">
                    <a16:creationId xmlns:a16="http://schemas.microsoft.com/office/drawing/2014/main" id="{A7835DEF-F488-42C6-62A2-2302BC767E72}"/>
                  </a:ext>
                </a:extLst>
              </p:cNvPr>
              <p:cNvSpPr/>
              <p:nvPr/>
            </p:nvSpPr>
            <p:spPr>
              <a:xfrm>
                <a:off x="649241" y="400860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7E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5" name="Text 11">
                <a:extLst>
                  <a:ext uri="{FF2B5EF4-FFF2-40B4-BE49-F238E27FC236}">
                    <a16:creationId xmlns:a16="http://schemas.microsoft.com/office/drawing/2014/main" id="{4119288A-2B34-D0E0-A1F3-F8BE84D96864}"/>
                  </a:ext>
                </a:extLst>
              </p:cNvPr>
              <p:cNvSpPr txBox="1"/>
              <p:nvPr/>
            </p:nvSpPr>
            <p:spPr>
              <a:xfrm>
                <a:off x="877430" y="400860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일정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6" name="Shape 12">
                <a:extLst>
                  <a:ext uri="{FF2B5EF4-FFF2-40B4-BE49-F238E27FC236}">
                    <a16:creationId xmlns:a16="http://schemas.microsoft.com/office/drawing/2014/main" id="{707A4EFD-589F-6F2E-CB07-57DE3178DE6F}"/>
                  </a:ext>
                </a:extLst>
              </p:cNvPr>
              <p:cNvSpPr/>
              <p:nvPr/>
            </p:nvSpPr>
            <p:spPr>
              <a:xfrm>
                <a:off x="1854588" y="400860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7" name="Text 13">
                <a:extLst>
                  <a:ext uri="{FF2B5EF4-FFF2-40B4-BE49-F238E27FC236}">
                    <a16:creationId xmlns:a16="http://schemas.microsoft.com/office/drawing/2014/main" id="{4773B7F7-50E4-FDBB-F0C5-36F944446BE9}"/>
                  </a:ext>
                </a:extLst>
              </p:cNvPr>
              <p:cNvSpPr txBox="1"/>
              <p:nvPr/>
            </p:nvSpPr>
            <p:spPr>
              <a:xfrm>
                <a:off x="2086129" y="4008601"/>
                <a:ext cx="342129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26.08.12 ~ 26.09.11 (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총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31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sp>
            <p:nvSpPr>
              <p:cNvPr id="79" name="Shape 10">
                <a:extLst>
                  <a:ext uri="{FF2B5EF4-FFF2-40B4-BE49-F238E27FC236}">
                    <a16:creationId xmlns:a16="http://schemas.microsoft.com/office/drawing/2014/main" id="{932FD3A7-C7B6-8971-5AEA-0374958898F0}"/>
                  </a:ext>
                </a:extLst>
              </p:cNvPr>
              <p:cNvSpPr/>
              <p:nvPr/>
            </p:nvSpPr>
            <p:spPr>
              <a:xfrm>
                <a:off x="649241" y="467326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7E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1" name="Text 11">
                <a:extLst>
                  <a:ext uri="{FF2B5EF4-FFF2-40B4-BE49-F238E27FC236}">
                    <a16:creationId xmlns:a16="http://schemas.microsoft.com/office/drawing/2014/main" id="{AB75F2F5-C63B-2929-7567-9538D86D4462}"/>
                  </a:ext>
                </a:extLst>
              </p:cNvPr>
              <p:cNvSpPr txBox="1"/>
              <p:nvPr/>
            </p:nvSpPr>
            <p:spPr>
              <a:xfrm>
                <a:off x="877430" y="467326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노출횟수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2" name="Shape 12">
                <a:extLst>
                  <a:ext uri="{FF2B5EF4-FFF2-40B4-BE49-F238E27FC236}">
                    <a16:creationId xmlns:a16="http://schemas.microsoft.com/office/drawing/2014/main" id="{0968E810-E553-CD23-E78B-97E0FEC0779D}"/>
                  </a:ext>
                </a:extLst>
              </p:cNvPr>
              <p:cNvSpPr/>
              <p:nvPr/>
            </p:nvSpPr>
            <p:spPr>
              <a:xfrm>
                <a:off x="1854587" y="467326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83" name="Text 13">
                <a:extLst>
                  <a:ext uri="{FF2B5EF4-FFF2-40B4-BE49-F238E27FC236}">
                    <a16:creationId xmlns:a16="http://schemas.microsoft.com/office/drawing/2014/main" id="{AC78BDCE-84FD-3626-BE66-DDEA7B729FA2}"/>
                  </a:ext>
                </a:extLst>
              </p:cNvPr>
              <p:cNvSpPr txBox="1"/>
              <p:nvPr/>
            </p:nvSpPr>
            <p:spPr>
              <a:xfrm>
                <a:off x="2086128" y="4673261"/>
                <a:ext cx="250689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30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초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 1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50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회 이상 로테이션 </a:t>
                </a:r>
                <a:endParaRPr lang="en-US" sz="1100" dirty="0">
                  <a:solidFill>
                    <a:schemeClr val="bg2">
                      <a:lumMod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85" name="Shape 10">
                <a:extLst>
                  <a:ext uri="{FF2B5EF4-FFF2-40B4-BE49-F238E27FC236}">
                    <a16:creationId xmlns:a16="http://schemas.microsoft.com/office/drawing/2014/main" id="{0A241E2B-293B-7951-A0C8-6499F98DCCC6}"/>
                  </a:ext>
                </a:extLst>
              </p:cNvPr>
              <p:cNvSpPr/>
              <p:nvPr/>
            </p:nvSpPr>
            <p:spPr>
              <a:xfrm>
                <a:off x="649241" y="533792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7E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6" name="Text 11">
                <a:extLst>
                  <a:ext uri="{FF2B5EF4-FFF2-40B4-BE49-F238E27FC236}">
                    <a16:creationId xmlns:a16="http://schemas.microsoft.com/office/drawing/2014/main" id="{FA9051A6-C016-8573-38AE-834A91D118A0}"/>
                  </a:ext>
                </a:extLst>
              </p:cNvPr>
              <p:cNvSpPr txBox="1"/>
              <p:nvPr/>
            </p:nvSpPr>
            <p:spPr>
              <a:xfrm>
                <a:off x="877430" y="533792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노출방식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7" name="Shape 12">
                <a:extLst>
                  <a:ext uri="{FF2B5EF4-FFF2-40B4-BE49-F238E27FC236}">
                    <a16:creationId xmlns:a16="http://schemas.microsoft.com/office/drawing/2014/main" id="{78688D82-6A2C-7670-F450-E2D00577D283}"/>
                  </a:ext>
                </a:extLst>
              </p:cNvPr>
              <p:cNvSpPr/>
              <p:nvPr/>
            </p:nvSpPr>
            <p:spPr>
              <a:xfrm>
                <a:off x="1854587" y="533792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88" name="Text 13">
                <a:extLst>
                  <a:ext uri="{FF2B5EF4-FFF2-40B4-BE49-F238E27FC236}">
                    <a16:creationId xmlns:a16="http://schemas.microsoft.com/office/drawing/2014/main" id="{D0025DD5-3BC5-DE7C-316D-DA4FBB9EFF45}"/>
                  </a:ext>
                </a:extLst>
              </p:cNvPr>
              <p:cNvSpPr txBox="1"/>
              <p:nvPr/>
            </p:nvSpPr>
            <p:spPr>
              <a:xfrm>
                <a:off x="2086128" y="5337921"/>
                <a:ext cx="1609179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풀스크린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526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45C9-CFA0-589B-B991-F26264D8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BFC6FC0-685D-A430-AF82-DEBDEBCE49F0}"/>
              </a:ext>
            </a:extLst>
          </p:cNvPr>
          <p:cNvSpPr txBox="1"/>
          <p:nvPr/>
        </p:nvSpPr>
        <p:spPr>
          <a:xfrm>
            <a:off x="7963014" y="2718353"/>
            <a:ext cx="1476742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북측면</a:t>
            </a:r>
            <a:r>
              <a:rPr kumimoji="1" lang="ko-KR" altLang="en-US" sz="1200" b="1" dirty="0">
                <a:solidFill>
                  <a:srgbClr val="F50157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광화문광장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91B29E7-F724-19F0-93A9-DE584CF376F7}"/>
              </a:ext>
            </a:extLst>
          </p:cNvPr>
          <p:cNvSpPr/>
          <p:nvPr/>
        </p:nvSpPr>
        <p:spPr>
          <a:xfrm>
            <a:off x="563859" y="2505836"/>
            <a:ext cx="11119055" cy="4016780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8B02DF-F4FA-2FB8-5815-34CD7B89EBBF}"/>
              </a:ext>
            </a:extLst>
          </p:cNvPr>
          <p:cNvSpPr txBox="1"/>
          <p:nvPr/>
        </p:nvSpPr>
        <p:spPr>
          <a:xfrm>
            <a:off x="746294" y="2718353"/>
            <a:ext cx="1702265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서측면</a:t>
            </a:r>
            <a:r>
              <a:rPr kumimoji="1" lang="ko-KR" altLang="en-US" sz="1200" b="1" dirty="0">
                <a:solidFill>
                  <a:srgbClr val="F50157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광화문빌딩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016F67-CC2A-A4D1-83F4-8FA0720F9D5A}"/>
              </a:ext>
            </a:extLst>
          </p:cNvPr>
          <p:cNvSpPr txBox="1"/>
          <p:nvPr/>
        </p:nvSpPr>
        <p:spPr>
          <a:xfrm>
            <a:off x="4378316" y="2718353"/>
            <a:ext cx="1466430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남측면</a:t>
            </a:r>
            <a:r>
              <a:rPr kumimoji="1" lang="ko-KR" altLang="en-US" sz="1200" b="1" dirty="0">
                <a:solidFill>
                  <a:srgbClr val="F50157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청계광장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490989-B5D9-864A-060A-EC85182784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12" t="2940" r="8777" b="12678"/>
          <a:stretch>
            <a:fillRect/>
          </a:stretch>
        </p:blipFill>
        <p:spPr>
          <a:xfrm>
            <a:off x="832383" y="2979419"/>
            <a:ext cx="3338533" cy="3294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141927A-37A3-A42B-5D45-0E3078E90B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857" t="5489" r="30088" b="24386"/>
          <a:stretch>
            <a:fillRect/>
          </a:stretch>
        </p:blipFill>
        <p:spPr>
          <a:xfrm>
            <a:off x="4448158" y="2977316"/>
            <a:ext cx="3330041" cy="33084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B3A2440-60CD-01BD-F556-9F93325B8F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175" t="4330" r="25072" b="9800"/>
          <a:stretch>
            <a:fillRect/>
          </a:stretch>
        </p:blipFill>
        <p:spPr>
          <a:xfrm>
            <a:off x="8055215" y="2977314"/>
            <a:ext cx="3338533" cy="3304800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3734AE87-0CF5-FD38-81C4-84D2015F5743}"/>
              </a:ext>
            </a:extLst>
          </p:cNvPr>
          <p:cNvGrpSpPr/>
          <p:nvPr/>
        </p:nvGrpSpPr>
        <p:grpSpPr>
          <a:xfrm>
            <a:off x="500316" y="813208"/>
            <a:ext cx="4185444" cy="1114490"/>
            <a:chOff x="500316" y="813208"/>
            <a:chExt cx="4185444" cy="11144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935CAF5-765B-7084-5AF7-425CC87ACFFB}"/>
                </a:ext>
              </a:extLst>
            </p:cNvPr>
            <p:cNvSpPr txBox="1"/>
            <p:nvPr/>
          </p:nvSpPr>
          <p:spPr>
            <a:xfrm>
              <a:off x="509086" y="1061430"/>
              <a:ext cx="1117583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현장사진</a:t>
              </a:r>
              <a:endPara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8B5CF83-77AC-FA30-88EA-F436C08EEBE7}"/>
                </a:ext>
              </a:extLst>
            </p:cNvPr>
            <p:cNvSpPr txBox="1"/>
            <p:nvPr/>
          </p:nvSpPr>
          <p:spPr>
            <a:xfrm>
              <a:off x="500316" y="813208"/>
              <a:ext cx="886031" cy="184666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721D20"/>
                  </a:soli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Medium" panose="00000600000000000000" pitchFamily="2" charset="0"/>
                </a:rPr>
                <a:t>02</a:t>
              </a:r>
              <a:endParaRPr lang="en-US" sz="1200" b="1" spc="-150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BF7B1C-8AB8-E6B6-7EBA-9D43A1E3F6EB}"/>
                </a:ext>
              </a:extLst>
            </p:cNvPr>
            <p:cNvSpPr txBox="1"/>
            <p:nvPr/>
          </p:nvSpPr>
          <p:spPr>
            <a:xfrm>
              <a:off x="1499539" y="1101954"/>
              <a:ext cx="3186221" cy="230832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sz="1500" spc="-80" dirty="0" err="1">
                  <a:solidFill>
                    <a:srgbClr val="721D20"/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룩스</a:t>
              </a:r>
              <a:r>
                <a:rPr lang="en-US" altLang="ko-KR" sz="1500" spc="-80" dirty="0">
                  <a:solidFill>
                    <a:srgbClr val="721D20"/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(LUUX)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7CADE5-CA39-BE07-3F9E-7639137132A6}"/>
                </a:ext>
              </a:extLst>
            </p:cNvPr>
            <p:cNvSpPr txBox="1"/>
            <p:nvPr/>
          </p:nvSpPr>
          <p:spPr>
            <a:xfrm>
              <a:off x="509086" y="1463147"/>
              <a:ext cx="3042636" cy="464551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 marL="401638" marR="0" lvl="0" indent="-401638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41325" algn="l"/>
                </a:tabLst>
                <a:defRPr/>
              </a:pP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집행기간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   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26.08.12.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–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26.09.11</a:t>
              </a:r>
            </a:p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콘텐츠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	       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고려대학교 </a:t>
              </a:r>
              <a:r>
                <a:rPr lang="ko-KR" altLang="en-US" sz="1050" dirty="0" err="1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신입학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홍보영상</a:t>
              </a:r>
              <a:endParaRPr lang="en-US" altLang="ko-KR" sz="1050" dirty="0">
                <a:latin typeface="Pretendard Light" panose="020C0303000000000000" pitchFamily="34" charset="-127"/>
                <a:ea typeface="Pretendard Light" panose="020C0303000000000000" pitchFamily="34" charset="-127"/>
                <a:cs typeface="Pretendard Light" panose="00000400000000000000" pitchFamily="2" charset="0"/>
              </a:endParaRPr>
            </a:p>
          </p:txBody>
        </p:sp>
      </p:grp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D76AF29A-698E-F72B-3FB5-9410C56D9CD5}"/>
              </a:ext>
            </a:extLst>
          </p:cNvPr>
          <p:cNvSpPr/>
          <p:nvPr/>
        </p:nvSpPr>
        <p:spPr>
          <a:xfrm>
            <a:off x="3081972" y="1055787"/>
            <a:ext cx="1320155" cy="276999"/>
          </a:xfrm>
          <a:prstGeom prst="roundRect">
            <a:avLst>
              <a:gd name="adj" fmla="val 50000"/>
            </a:avLst>
          </a:prstGeom>
          <a:solidFill>
            <a:srgbClr val="721D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spc="-80" dirty="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3</a:t>
            </a:r>
            <a:r>
              <a:rPr lang="ko-KR" altLang="en-US" sz="1300" spc="-80" dirty="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개면 </a:t>
            </a:r>
            <a:r>
              <a:rPr lang="ko-KR" altLang="en-US" sz="1300" spc="-80" dirty="0" err="1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뷰포인트</a:t>
            </a:r>
            <a:endParaRPr lang="ko-KR" altLang="en-US" sz="1300" spc="-80" dirty="0">
              <a:solidFill>
                <a:schemeClr val="bg1"/>
              </a:solidFill>
              <a:latin typeface="Pretendard" panose="020B0503000000000000" pitchFamily="34" charset="-127"/>
              <a:ea typeface="Pretendard" panose="020B05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A50674-C258-018A-72ED-EF053994EDDA}"/>
              </a:ext>
            </a:extLst>
          </p:cNvPr>
          <p:cNvSpPr txBox="1"/>
          <p:nvPr/>
        </p:nvSpPr>
        <p:spPr>
          <a:xfrm>
            <a:off x="9662185" y="2114496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북측면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광화문광장 방향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56CA2F-2B2C-335B-5C0B-941570A0568D}"/>
              </a:ext>
            </a:extLst>
          </p:cNvPr>
          <p:cNvSpPr txBox="1"/>
          <p:nvPr/>
        </p:nvSpPr>
        <p:spPr>
          <a:xfrm>
            <a:off x="7490248" y="2106228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남측면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청계광장 방향</a:t>
            </a:r>
            <a:endParaRPr kumimoji="1" lang="ko-Kore-KR" altLang="en-US" sz="850" dirty="0">
              <a:solidFill>
                <a:schemeClr val="bg2">
                  <a:lumMod val="25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</a:endParaRP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999EC94F-3FB2-1E72-FAC5-F98A7E4CF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21871" b="21871"/>
          <a:stretch/>
        </p:blipFill>
        <p:spPr bwMode="auto">
          <a:xfrm>
            <a:off x="5408073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6A3D51D-C317-297B-045B-0192F05E6871}"/>
              </a:ext>
            </a:extLst>
          </p:cNvPr>
          <p:cNvSpPr txBox="1"/>
          <p:nvPr/>
        </p:nvSpPr>
        <p:spPr>
          <a:xfrm>
            <a:off x="5318310" y="2114496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서측면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광화문빌딩 방향</a:t>
            </a:r>
            <a:endParaRPr kumimoji="1" lang="ko-Kore-KR" altLang="en-US" sz="850" dirty="0">
              <a:solidFill>
                <a:schemeClr val="bg2">
                  <a:lumMod val="25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</a:endParaRPr>
          </a:p>
        </p:txBody>
      </p:sp>
      <p:pic>
        <p:nvPicPr>
          <p:cNvPr id="1032" name="Picture 2">
            <a:extLst>
              <a:ext uri="{FF2B5EF4-FFF2-40B4-BE49-F238E27FC236}">
                <a16:creationId xmlns:a16="http://schemas.microsoft.com/office/drawing/2014/main" id="{6E13FB7B-1DFD-7D5E-BFEB-A64E58041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t="31551" b="12065"/>
          <a:stretch>
            <a:fillRect/>
          </a:stretch>
        </p:blipFill>
        <p:spPr bwMode="auto">
          <a:xfrm>
            <a:off x="7572519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pic>
        <p:nvPicPr>
          <p:cNvPr id="1033" name="Picture 2">
            <a:extLst>
              <a:ext uri="{FF2B5EF4-FFF2-40B4-BE49-F238E27FC236}">
                <a16:creationId xmlns:a16="http://schemas.microsoft.com/office/drawing/2014/main" id="{6CF9543B-32C9-FE02-CB4B-473386967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t="16776" b="26733"/>
          <a:stretch>
            <a:fillRect/>
          </a:stretch>
        </p:blipFill>
        <p:spPr bwMode="auto">
          <a:xfrm>
            <a:off x="9751948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7C7D79-6215-5818-3534-59C9AFADFC2E}"/>
              </a:ext>
            </a:extLst>
          </p:cNvPr>
          <p:cNvSpPr txBox="1"/>
          <p:nvPr/>
        </p:nvSpPr>
        <p:spPr>
          <a:xfrm>
            <a:off x="500316" y="212481"/>
            <a:ext cx="9213672" cy="26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2026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고려대학교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ko-KR" altLang="en-US" sz="900" b="1" spc="-70" dirty="0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결과보고 요약</a:t>
            </a:r>
            <a:r>
              <a:rPr lang="en-US" altLang="ko-KR" sz="1050" spc="-80" dirty="0">
                <a:solidFill>
                  <a:srgbClr val="C0000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	</a:t>
            </a:r>
            <a:endParaRPr lang="ko-KR" altLang="en-US" sz="1200" spc="-80" dirty="0">
              <a:solidFill>
                <a:srgbClr val="C00000"/>
              </a:solidFill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056444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434199" y="2797797"/>
            <a:ext cx="2563001" cy="430887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Ⅱ 	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1400" b="1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  <a:p>
            <a:pPr>
              <a:tabLst>
                <a:tab pos="301625" algn="l"/>
              </a:tabLst>
            </a:pP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cxnSp>
        <p:nvCxnSpPr>
          <p:cNvPr id="15" name="직선 연결선[R] 21">
            <a:extLst>
              <a:ext uri="{FF2B5EF4-FFF2-40B4-BE49-F238E27FC236}">
                <a16:creationId xmlns:a16="http://schemas.microsoft.com/office/drawing/2014/main" id="{8E2F0F5E-D05A-49D7-9629-F1162F928F22}"/>
              </a:ext>
            </a:extLst>
          </p:cNvPr>
          <p:cNvCxnSpPr>
            <a:cxnSpLocks/>
          </p:cNvCxnSpPr>
          <p:nvPr/>
        </p:nvCxnSpPr>
        <p:spPr>
          <a:xfrm>
            <a:off x="0" y="1976610"/>
            <a:ext cx="4470400" cy="0"/>
          </a:xfrm>
          <a:prstGeom prst="line">
            <a:avLst/>
          </a:prstGeom>
          <a:ln w="9525">
            <a:solidFill>
              <a:srgbClr val="721D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D0AD297-910E-624D-0156-D92A0F58AE7D}"/>
              </a:ext>
            </a:extLst>
          </p:cNvPr>
          <p:cNvSpPr txBox="1"/>
          <p:nvPr/>
        </p:nvSpPr>
        <p:spPr>
          <a:xfrm>
            <a:off x="2657474" y="2797797"/>
            <a:ext cx="1965326" cy="43505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총 유동인구</a:t>
            </a: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연령대별 및 성별 유동인구</a:t>
            </a:r>
          </a:p>
        </p:txBody>
      </p:sp>
    </p:spTree>
    <p:extLst>
      <p:ext uri="{BB962C8B-B14F-4D97-AF65-F5344CB8AC3E}">
        <p14:creationId xmlns:p14="http://schemas.microsoft.com/office/powerpoint/2010/main" val="179000923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802EE3-436A-04B1-9EAA-1E3ACE4ED323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2026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고려대학교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ko-KR" altLang="en-US" sz="900" b="1" spc="-70" dirty="0" err="1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lang="ko-KR" altLang="en-US" sz="900" b="1" spc="-70" dirty="0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lang="ko-KR" altLang="en-US" sz="1200" spc="-80" dirty="0">
              <a:solidFill>
                <a:srgbClr val="C00000"/>
              </a:solidFill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8CD10A-6366-9EB3-A2AB-D111F5CAF085}"/>
              </a:ext>
            </a:extLst>
          </p:cNvPr>
          <p:cNvSpPr/>
          <p:nvPr/>
        </p:nvSpPr>
        <p:spPr>
          <a:xfrm>
            <a:off x="563859" y="2548021"/>
            <a:ext cx="11119055" cy="3974595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02117C6-0564-6F90-123D-06FFE3F4EE71}"/>
              </a:ext>
            </a:extLst>
          </p:cNvPr>
          <p:cNvGrpSpPr/>
          <p:nvPr/>
        </p:nvGrpSpPr>
        <p:grpSpPr>
          <a:xfrm>
            <a:off x="500316" y="813208"/>
            <a:ext cx="3447811" cy="874529"/>
            <a:chOff x="500316" y="813208"/>
            <a:chExt cx="3447811" cy="87452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2EF9BB-FFFD-122A-189C-F6BCE7131316}"/>
                </a:ext>
              </a:extLst>
            </p:cNvPr>
            <p:cNvSpPr txBox="1"/>
            <p:nvPr/>
          </p:nvSpPr>
          <p:spPr>
            <a:xfrm>
              <a:off x="510372" y="1433821"/>
              <a:ext cx="3437755" cy="253916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spc="-60" dirty="0">
                  <a:solidFill>
                    <a:srgbClr val="721D20"/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로그데이터 산출 지표 중 ‘권역별 일자별 유동인구’ 정보 측정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59366DF-9230-4808-9C52-43137446DA93}"/>
                </a:ext>
              </a:extLst>
            </p:cNvPr>
            <p:cNvSpPr txBox="1"/>
            <p:nvPr/>
          </p:nvSpPr>
          <p:spPr>
            <a:xfrm>
              <a:off x="509086" y="1061430"/>
              <a:ext cx="3186221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총 유동인구</a:t>
              </a:r>
              <a:endPara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3A9B943-6D6A-4027-B647-7DBA1AE8A5FC}"/>
                </a:ext>
              </a:extLst>
            </p:cNvPr>
            <p:cNvSpPr txBox="1"/>
            <p:nvPr/>
          </p:nvSpPr>
          <p:spPr>
            <a:xfrm>
              <a:off x="500316" y="813208"/>
              <a:ext cx="886031" cy="184666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721D20"/>
                  </a:soli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Medium" panose="00000600000000000000" pitchFamily="2" charset="0"/>
                </a:rPr>
                <a:t>01</a:t>
              </a:r>
              <a:endParaRPr lang="en-US" sz="1200" b="1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endParaRPr>
            </a:p>
          </p:txBody>
        </p:sp>
      </p:grpSp>
      <p:graphicFrame>
        <p:nvGraphicFramePr>
          <p:cNvPr id="171" name="Chart"/>
          <p:cNvGraphicFramePr/>
          <p:nvPr>
            <p:extLst>
              <p:ext uri="{D42A27DB-BD31-4B8C-83A1-F6EECF244321}">
                <p14:modId xmlns:p14="http://schemas.microsoft.com/office/powerpoint/2010/main" val="479747284"/>
              </p:ext>
            </p:extLst>
          </p:nvPr>
        </p:nvGraphicFramePr>
        <p:xfrm>
          <a:off x="1031482" y="3340100"/>
          <a:ext cx="103251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97D8302-82DE-3C8C-1CD4-8475754E231B}"/>
              </a:ext>
            </a:extLst>
          </p:cNvPr>
          <p:cNvSpPr txBox="1"/>
          <p:nvPr/>
        </p:nvSpPr>
        <p:spPr>
          <a:xfrm>
            <a:off x="3415115" y="2196699"/>
            <a:ext cx="20345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SK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텔레콤 </a:t>
            </a:r>
            <a:r>
              <a:rPr lang="ko-KR" altLang="en-US" sz="800" spc="-60" dirty="0" err="1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지오비전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 퍼즐 유동인구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(50</a:t>
            </a:r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m×50m 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격자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)</a:t>
            </a:r>
            <a:endParaRPr lang="ko-KR" altLang="en-US" sz="800" spc="-60" dirty="0">
              <a:solidFill>
                <a:schemeClr val="bg2">
                  <a:lumMod val="50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92292B-8926-9ECE-FD32-62A71CB7C876}"/>
              </a:ext>
            </a:extLst>
          </p:cNvPr>
          <p:cNvSpPr txBox="1"/>
          <p:nvPr/>
        </p:nvSpPr>
        <p:spPr>
          <a:xfrm>
            <a:off x="482752" y="2085056"/>
            <a:ext cx="25586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7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 Light" panose="020B0303000000000000" pitchFamily="34" charset="-127"/>
                <a:ea typeface="Pretendard Light" panose="020B0303000000000000" pitchFamily="34" charset="-127"/>
                <a:cs typeface="+mn-cs"/>
              </a:rPr>
              <a:t>게첨</a:t>
            </a:r>
            <a:r>
              <a:rPr kumimoji="0" lang="ko-KR" altLang="en-US" sz="1200" b="0" i="0" u="none" strike="noStrike" kern="1200" cap="none" spc="-7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 Light" panose="020B0303000000000000" pitchFamily="34" charset="-127"/>
                <a:ea typeface="Pretendard Light" panose="020B0303000000000000" pitchFamily="34" charset="-127"/>
                <a:cs typeface="+mn-cs"/>
              </a:rPr>
              <a:t> 기간 내 유동인구 총합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38BE06-5195-CEA9-ED2A-F38C8BDE96CB}"/>
              </a:ext>
            </a:extLst>
          </p:cNvPr>
          <p:cNvSpPr txBox="1"/>
          <p:nvPr/>
        </p:nvSpPr>
        <p:spPr>
          <a:xfrm>
            <a:off x="2180931" y="2099966"/>
            <a:ext cx="1769635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9875">
              <a:lnSpc>
                <a:spcPct val="120000"/>
              </a:lnSpc>
              <a:defRPr sz="2000" b="0" spc="-94">
                <a:solidFill>
                  <a:srgbClr val="2355F2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rPr lang="ko-KR" altLang="en-US" sz="1400" b="1" spc="-94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약 </a:t>
            </a:r>
            <a:r>
              <a:rPr lang="en-US" altLang="ko-KR" sz="1400" b="1" spc="-94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1,191만 명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EC9E6E5-D0F7-2BD5-EA74-F4FBB64CC943}"/>
              </a:ext>
            </a:extLst>
          </p:cNvPr>
          <p:cNvSpPr txBox="1"/>
          <p:nvPr/>
        </p:nvSpPr>
        <p:spPr>
          <a:xfrm>
            <a:off x="830198" y="2753371"/>
            <a:ext cx="4875143" cy="285912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401638" indent="-401638" latinLnBrk="0">
              <a:lnSpc>
                <a:spcPct val="150000"/>
              </a:lnSpc>
              <a:tabLst>
                <a:tab pos="441325" algn="l"/>
              </a:tabLst>
              <a:defRPr/>
            </a:pPr>
            <a:r>
              <a:rPr lang="en-US" altLang="ko-KR" sz="1400" b="1" i="1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Light" panose="00000400000000000000" pitchFamily="2" charset="0"/>
              </a:rPr>
              <a:t>|</a:t>
            </a:r>
            <a:r>
              <a:rPr lang="ko-KR" altLang="en-US" sz="1400" b="1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   </a:t>
            </a:r>
            <a:r>
              <a:rPr lang="en-US" altLang="ko-KR" sz="1400" b="1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3</a:t>
            </a:r>
            <a:r>
              <a:rPr lang="ko-KR" altLang="en-US" sz="1400" b="1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개면 </a:t>
            </a:r>
            <a:r>
              <a:rPr lang="ko-KR" altLang="en-US" sz="1400" b="1" dirty="0" err="1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뷰포인트</a:t>
            </a:r>
            <a:r>
              <a:rPr lang="ko-KR" altLang="en-US" sz="1400" b="1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 유동인구</a:t>
            </a:r>
            <a:endParaRPr lang="en-US" altLang="ko-KR" sz="1400" dirty="0">
              <a:solidFill>
                <a:srgbClr val="721D20"/>
              </a:solidFill>
              <a:latin typeface="Pretendard Light" panose="020C0303000000000000" pitchFamily="34" charset="-127"/>
              <a:ea typeface="Pretendard Light" panose="020C0303000000000000" pitchFamily="34" charset="-127"/>
              <a:cs typeface="Pretendard Light" panose="00000400000000000000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A31BA02-B5A2-3FEA-8914-589C5CC15663}"/>
              </a:ext>
            </a:extLst>
          </p:cNvPr>
          <p:cNvSpPr txBox="1"/>
          <p:nvPr/>
        </p:nvSpPr>
        <p:spPr>
          <a:xfrm>
            <a:off x="1031482" y="3097308"/>
            <a:ext cx="2774036" cy="21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광화문역 북부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·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남부권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서울시청 </a:t>
            </a:r>
            <a:r>
              <a:rPr lang="ko-KR" altLang="en-US" sz="800" spc="-60" dirty="0" err="1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북부권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 일별 합산</a:t>
            </a:r>
          </a:p>
        </p:txBody>
      </p:sp>
      <p:sp>
        <p:nvSpPr>
          <p:cNvPr id="2" name="모서리가 둥근 직사각형 1">
            <a:hlinkClick r:id="rId4"/>
            <a:extLst>
              <a:ext uri="{FF2B5EF4-FFF2-40B4-BE49-F238E27FC236}">
                <a16:creationId xmlns:a16="http://schemas.microsoft.com/office/drawing/2014/main" id="{46272936-2422-72BF-D6A7-BF05AD54127B}"/>
              </a:ext>
            </a:extLst>
          </p:cNvPr>
          <p:cNvSpPr/>
          <p:nvPr/>
        </p:nvSpPr>
        <p:spPr>
          <a:xfrm>
            <a:off x="9556790" y="2099966"/>
            <a:ext cx="2126124" cy="276999"/>
          </a:xfrm>
          <a:prstGeom prst="roundRect">
            <a:avLst>
              <a:gd name="adj" fmla="val 50000"/>
            </a:avLst>
          </a:prstGeom>
          <a:solidFill>
            <a:srgbClr val="721D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u="sng" spc="-80" dirty="0" err="1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뷰포인트별</a:t>
            </a:r>
            <a:r>
              <a:rPr lang="ko-KR" altLang="en-US" sz="1300" u="sng" spc="-80" dirty="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 유동인구 바로가기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D60D5B-8A24-E9E8-1CB2-623A4C1A4A0D}"/>
              </a:ext>
            </a:extLst>
          </p:cNvPr>
          <p:cNvSpPr/>
          <p:nvPr/>
        </p:nvSpPr>
        <p:spPr>
          <a:xfrm>
            <a:off x="8603553" y="3125707"/>
            <a:ext cx="307092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438338">
              <a:defRPr sz="2400" spc="-96">
                <a:solidFill>
                  <a:srgbClr val="212121"/>
                </a:solidFill>
                <a:latin typeface="Noto Sans CJK KR Light"/>
                <a:ea typeface="Noto Sans CJK KR Light"/>
                <a:cs typeface="Noto Sans CJK KR Light"/>
                <a:sym typeface="Noto Sans CJK KR Light"/>
              </a:defRPr>
            </a:pPr>
            <a:r>
              <a: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2026 </a:t>
            </a:r>
            <a:r>
              <a:rPr kumimoji="1" lang="ko-KR" altLang="en-US" sz="900" b="1" spc="-40" dirty="0" err="1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살람서울</a:t>
            </a: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 페스티벌</a:t>
            </a:r>
            <a:r>
              <a: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(</a:t>
            </a: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걸그룹 </a:t>
            </a:r>
            <a:r>
              <a:rPr kumimoji="1" lang="ko-KR" altLang="en-US" sz="900" b="1" spc="-40" dirty="0" err="1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리센느</a:t>
            </a: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 공연</a:t>
            </a:r>
            <a:r>
              <a: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5195673-74D4-ECBA-003D-3D70B20AEBCD}"/>
              </a:ext>
            </a:extLst>
          </p:cNvPr>
          <p:cNvGrpSpPr/>
          <p:nvPr/>
        </p:nvGrpSpPr>
        <p:grpSpPr>
          <a:xfrm>
            <a:off x="8482446" y="3233030"/>
            <a:ext cx="496697" cy="217910"/>
            <a:chOff x="8482446" y="3233030"/>
            <a:chExt cx="496697" cy="217910"/>
          </a:xfrm>
          <a:effectLst>
            <a:outerShdw blurRad="254000" algn="ctr" rotWithShape="0">
              <a:prstClr val="black">
                <a:alpha val="10000"/>
              </a:prstClr>
            </a:outerShdw>
          </a:effectLst>
        </p:grpSpPr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9B190872-EF7B-73FD-B323-2A698EEB06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446" y="3240009"/>
              <a:ext cx="309120" cy="210931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A85C81CA-B49F-9AEE-2346-3F354BE57B87}"/>
                </a:ext>
              </a:extLst>
            </p:cNvPr>
            <p:cNvCxnSpPr>
              <a:cxnSpLocks/>
            </p:cNvCxnSpPr>
            <p:nvPr/>
          </p:nvCxnSpPr>
          <p:spPr>
            <a:xfrm>
              <a:off x="8819483" y="3233030"/>
              <a:ext cx="159660" cy="0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0E2780-A464-0CBB-798F-F65100A20941}"/>
              </a:ext>
            </a:extLst>
          </p:cNvPr>
          <p:cNvSpPr/>
          <p:nvPr/>
        </p:nvSpPr>
        <p:spPr>
          <a:xfrm>
            <a:off x="3931027" y="4038393"/>
            <a:ext cx="11839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438338">
              <a:defRPr sz="2400" spc="-96">
                <a:solidFill>
                  <a:srgbClr val="212121"/>
                </a:solidFill>
                <a:latin typeface="Noto Sans CJK KR Light"/>
                <a:ea typeface="Noto Sans CJK KR Light"/>
                <a:cs typeface="Noto Sans CJK KR Light"/>
                <a:sym typeface="Noto Sans CJK KR Light"/>
              </a:defRPr>
            </a:pP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광복절 대체공휴일</a:t>
            </a:r>
            <a:endParaRPr kumimoji="1" lang="en-US" altLang="ko-KR" sz="900" b="1" spc="-40" dirty="0">
              <a:solidFill>
                <a:schemeClr val="bg2">
                  <a:lumMod val="25000"/>
                </a:schemeClr>
              </a:solidFill>
              <a:latin typeface="JTBC Gothic Bold" panose="020B0503000000000000" pitchFamily="34" charset="-127"/>
              <a:ea typeface="JTBC Gothic Bold" panose="020B0503000000000000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718707-87A7-81C3-172A-60EEE3868907}"/>
              </a:ext>
            </a:extLst>
          </p:cNvPr>
          <p:cNvGrpSpPr/>
          <p:nvPr/>
        </p:nvGrpSpPr>
        <p:grpSpPr>
          <a:xfrm>
            <a:off x="3460578" y="4152386"/>
            <a:ext cx="496697" cy="1087250"/>
            <a:chOff x="3460578" y="4152386"/>
            <a:chExt cx="496697" cy="1087250"/>
          </a:xfrm>
          <a:effectLst>
            <a:outerShdw blurRad="254000" algn="ctr" rotWithShape="0">
              <a:prstClr val="black">
                <a:alpha val="10000"/>
              </a:prstClr>
            </a:outerShdw>
          </a:effectLst>
        </p:grpSpPr>
        <p:cxnSp>
          <p:nvCxnSpPr>
            <p:cNvPr id="13" name="직선 연결선[R] 12">
              <a:extLst>
                <a:ext uri="{FF2B5EF4-FFF2-40B4-BE49-F238E27FC236}">
                  <a16:creationId xmlns:a16="http://schemas.microsoft.com/office/drawing/2014/main" id="{CD84BC9C-5FE5-4162-D382-C76124C93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578" y="4187207"/>
              <a:ext cx="309120" cy="1052429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133C38E9-C25B-5512-0333-B1503BEB31EC}"/>
                </a:ext>
              </a:extLst>
            </p:cNvPr>
            <p:cNvCxnSpPr>
              <a:cxnSpLocks/>
            </p:cNvCxnSpPr>
            <p:nvPr/>
          </p:nvCxnSpPr>
          <p:spPr>
            <a:xfrm>
              <a:off x="3797615" y="4152386"/>
              <a:ext cx="159660" cy="0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7911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45CD-F00E-65E0-9194-169A7E51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신발류, 사람, 도로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15015B-7966-1AFF-5AB8-8DA34A85C8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694444" y="3863634"/>
            <a:ext cx="3988470" cy="265898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0A7C0F-8149-B361-6958-D8634A3B413B}"/>
              </a:ext>
            </a:extLst>
          </p:cNvPr>
          <p:cNvSpPr/>
          <p:nvPr/>
        </p:nvSpPr>
        <p:spPr>
          <a:xfrm>
            <a:off x="7691446" y="3766092"/>
            <a:ext cx="3988470" cy="275652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F0F4C7-51E9-8BDA-6316-0915F36BB0A6}"/>
              </a:ext>
            </a:extLst>
          </p:cNvPr>
          <p:cNvSpPr/>
          <p:nvPr/>
        </p:nvSpPr>
        <p:spPr>
          <a:xfrm>
            <a:off x="563859" y="2548021"/>
            <a:ext cx="11119055" cy="3974595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8F4695-324B-6038-FFD5-155923E831C6}"/>
              </a:ext>
            </a:extLst>
          </p:cNvPr>
          <p:cNvSpPr txBox="1"/>
          <p:nvPr/>
        </p:nvSpPr>
        <p:spPr>
          <a:xfrm>
            <a:off x="510372" y="1433821"/>
            <a:ext cx="3437755" cy="25391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spc="-60" dirty="0">
                <a:solidFill>
                  <a:srgbClr val="721D20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로그데이터 산출 지표 중 ‘성별·연령대별 유동인구’ 정보 측정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F90B1A-CCE5-9FD1-941A-4150CBC9031A}"/>
              </a:ext>
            </a:extLst>
          </p:cNvPr>
          <p:cNvSpPr txBox="1"/>
          <p:nvPr/>
        </p:nvSpPr>
        <p:spPr>
          <a:xfrm>
            <a:off x="509086" y="1061430"/>
            <a:ext cx="3186221" cy="276999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ko-KR" altLang="en-US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연령대별 및 성별 유동인구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C7916E-A01A-47A7-50A8-0C75194667F5}"/>
              </a:ext>
            </a:extLst>
          </p:cNvPr>
          <p:cNvSpPr txBox="1"/>
          <p:nvPr/>
        </p:nvSpPr>
        <p:spPr>
          <a:xfrm>
            <a:off x="500316" y="813208"/>
            <a:ext cx="886031" cy="184666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en-US" altLang="ko-KR" sz="1200" b="1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rPr>
              <a:t>02</a:t>
            </a:r>
            <a:endParaRPr lang="en-US" sz="1200" b="1" dirty="0">
              <a:solidFill>
                <a:srgbClr val="721D20"/>
              </a:solidFill>
              <a:latin typeface="Pretendard ExtraBold" panose="020C0603000000000000" pitchFamily="34" charset="-127"/>
              <a:ea typeface="Pretendard ExtraBold" panose="020C0603000000000000" pitchFamily="34" charset="-127"/>
              <a:cs typeface="Pretendard Medium" panose="00000600000000000000" pitchFamily="2" charset="0"/>
            </a:endParaRPr>
          </a:p>
        </p:txBody>
      </p: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2BCD0B94-965F-70E6-23A1-A89E45173EF6}"/>
              </a:ext>
            </a:extLst>
          </p:cNvPr>
          <p:cNvCxnSpPr>
            <a:cxnSpLocks/>
          </p:cNvCxnSpPr>
          <p:nvPr/>
        </p:nvCxnSpPr>
        <p:spPr>
          <a:xfrm>
            <a:off x="5796197" y="2868242"/>
            <a:ext cx="0" cy="3334152"/>
          </a:xfrm>
          <a:prstGeom prst="line">
            <a:avLst/>
          </a:prstGeom>
          <a:ln w="444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608EFCE-55A3-B379-71F7-C0BFA5FE0A63}"/>
              </a:ext>
            </a:extLst>
          </p:cNvPr>
          <p:cNvGrpSpPr/>
          <p:nvPr/>
        </p:nvGrpSpPr>
        <p:grpSpPr>
          <a:xfrm>
            <a:off x="6123386" y="2753371"/>
            <a:ext cx="3541572" cy="562715"/>
            <a:chOff x="8243874" y="2753371"/>
            <a:chExt cx="3541572" cy="56271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6A6D9EE-1944-E15B-F0AE-5DBAA8432E00}"/>
                </a:ext>
              </a:extLst>
            </p:cNvPr>
            <p:cNvSpPr txBox="1"/>
            <p:nvPr/>
          </p:nvSpPr>
          <p:spPr>
            <a:xfrm>
              <a:off x="8243874" y="2753371"/>
              <a:ext cx="2602593" cy="296235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en-US" altLang="ko-KR" sz="1400" b="1" i="1" dirty="0">
                  <a:solidFill>
                    <a:srgbClr val="721D20"/>
                  </a:soli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Light" panose="00000400000000000000" pitchFamily="2" charset="0"/>
                </a:rPr>
                <a:t>|</a:t>
              </a:r>
              <a:r>
                <a:rPr lang="ko-KR" altLang="en-US" sz="1400" b="1" dirty="0">
                  <a:solidFill>
                    <a:srgbClr val="F50157"/>
                  </a:solidFill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</a:t>
              </a:r>
              <a:r>
                <a:rPr lang="ko-KR" altLang="en-US" sz="1400" b="1" dirty="0">
                  <a:solidFill>
                    <a:srgbClr val="721D20"/>
                  </a:solidFill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성별</a:t>
              </a:r>
              <a:endParaRPr lang="en-US" altLang="ko-KR" sz="1400" b="1" dirty="0">
                <a:solidFill>
                  <a:srgbClr val="721D20"/>
                </a:soli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F4ED933-2F39-0DC9-3C66-58B406BB1CF8}"/>
                </a:ext>
              </a:extLst>
            </p:cNvPr>
            <p:cNvSpPr txBox="1"/>
            <p:nvPr/>
          </p:nvSpPr>
          <p:spPr>
            <a:xfrm>
              <a:off x="8445158" y="3097308"/>
              <a:ext cx="3340288" cy="21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광화문역 북부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·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남부권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서울시청 </a:t>
              </a:r>
              <a:r>
                <a:rPr lang="ko-KR" altLang="en-US" sz="800" spc="-60" dirty="0" err="1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북부권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 일별 합산</a:t>
              </a:r>
            </a:p>
          </p:txBody>
        </p:sp>
      </p:grpSp>
      <p:graphicFrame>
        <p:nvGraphicFramePr>
          <p:cNvPr id="801" name="Age Chart"/>
          <p:cNvGraphicFramePr/>
          <p:nvPr/>
        </p:nvGraphicFramePr>
        <p:xfrm>
          <a:off x="825500" y="3657600"/>
          <a:ext cx="45212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942349D2-D23F-E2C5-E8F0-84EB8A9383B0}"/>
              </a:ext>
            </a:extLst>
          </p:cNvPr>
          <p:cNvGrpSpPr/>
          <p:nvPr/>
        </p:nvGrpSpPr>
        <p:grpSpPr>
          <a:xfrm>
            <a:off x="830197" y="2753371"/>
            <a:ext cx="3916893" cy="562715"/>
            <a:chOff x="830197" y="2753371"/>
            <a:chExt cx="3916893" cy="562715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4E408C0-5280-EBE9-9C48-D906A483421E}"/>
                </a:ext>
              </a:extLst>
            </p:cNvPr>
            <p:cNvSpPr txBox="1"/>
            <p:nvPr/>
          </p:nvSpPr>
          <p:spPr>
            <a:xfrm>
              <a:off x="830197" y="2753371"/>
              <a:ext cx="3916893" cy="285912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en-US" altLang="ko-KR" sz="1400" b="1" i="1" dirty="0">
                  <a:solidFill>
                    <a:srgbClr val="721D20"/>
                  </a:soli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Light" panose="00000400000000000000" pitchFamily="2" charset="0"/>
                </a:rPr>
                <a:t>|</a:t>
              </a:r>
              <a:r>
                <a:rPr lang="ko-KR" altLang="en-US" sz="1400" b="1" dirty="0">
                  <a:solidFill>
                    <a:srgbClr val="721D20"/>
                  </a:solidFill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연령대</a:t>
              </a:r>
              <a:endParaRPr lang="en-US" altLang="ko-KR" sz="1400" dirty="0">
                <a:solidFill>
                  <a:srgbClr val="721D20"/>
                </a:solidFill>
                <a:latin typeface="Pretendard Light" panose="020C0303000000000000" pitchFamily="34" charset="-127"/>
                <a:ea typeface="Pretendard Light" panose="020C0303000000000000" pitchFamily="34" charset="-127"/>
                <a:cs typeface="Pretendard Light" panose="000004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2680F6-D7A0-3E0E-83D0-2C4CAE97725B}"/>
                </a:ext>
              </a:extLst>
            </p:cNvPr>
            <p:cNvSpPr txBox="1"/>
            <p:nvPr/>
          </p:nvSpPr>
          <p:spPr>
            <a:xfrm>
              <a:off x="1031482" y="3097308"/>
              <a:ext cx="2774036" cy="21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광화문역 북부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·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남부권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서울시청 </a:t>
              </a:r>
              <a:r>
                <a:rPr lang="ko-KR" altLang="en-US" sz="800" spc="-60" dirty="0" err="1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북부권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 일별 합산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775C05-E0E7-B2F5-7226-06872751DE8F}"/>
              </a:ext>
            </a:extLst>
          </p:cNvPr>
          <p:cNvGrpSpPr/>
          <p:nvPr/>
        </p:nvGrpSpPr>
        <p:grpSpPr>
          <a:xfrm>
            <a:off x="6781497" y="3499210"/>
            <a:ext cx="4175733" cy="2615222"/>
            <a:chOff x="1222667" y="4109726"/>
            <a:chExt cx="3180645" cy="1992011"/>
          </a:xfrm>
        </p:grpSpPr>
        <p:graphicFrame>
          <p:nvGraphicFramePr>
            <p:cNvPr id="22" name="차트 21">
              <a:extLst>
                <a:ext uri="{FF2B5EF4-FFF2-40B4-BE49-F238E27FC236}">
                  <a16:creationId xmlns:a16="http://schemas.microsoft.com/office/drawing/2014/main" id="{48D8B947-ADC3-526D-8EB5-089B76DD72EE}"/>
                </a:ext>
              </a:extLst>
            </p:cNvPr>
            <p:cNvGraphicFramePr/>
            <p:nvPr/>
          </p:nvGraphicFramePr>
          <p:xfrm>
            <a:off x="1408062" y="4109726"/>
            <a:ext cx="2689716" cy="19305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D720818-7CBD-6B0B-21CE-2244EBCC6E6C}"/>
                </a:ext>
              </a:extLst>
            </p:cNvPr>
            <p:cNvSpPr/>
            <p:nvPr/>
          </p:nvSpPr>
          <p:spPr>
            <a:xfrm>
              <a:off x="3623491" y="4313010"/>
              <a:ext cx="779821" cy="398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2438338"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ko-KR" altLang="en-US" sz="900" b="1" spc="-40" dirty="0">
                  <a:solidFill>
                    <a:schemeClr val="bg2">
                      <a:lumMod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</a:t>
              </a:r>
              <a:endPara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 defTabSz="2438338"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en-US" altLang="ko-KR" sz="1900" b="1" spc="-70" dirty="0">
                  <a:solidFill>
                    <a:srgbClr val="721D2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53.6%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AC0202A-BBD3-96A0-9460-EEE86D90C0A9}"/>
                </a:ext>
              </a:extLst>
            </p:cNvPr>
            <p:cNvSpPr/>
            <p:nvPr/>
          </p:nvSpPr>
          <p:spPr>
            <a:xfrm>
              <a:off x="1222667" y="5670967"/>
              <a:ext cx="1069202" cy="430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2438338">
                <a:lnSpc>
                  <a:spcPct val="150000"/>
                </a:lnSpc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ko-KR" altLang="en-US" sz="1050" b="1" spc="-40" dirty="0">
                  <a:solidFill>
                    <a:schemeClr val="bg2">
                      <a:lumMod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</a:t>
              </a:r>
              <a:endParaRPr kumimoji="1" lang="en-US" altLang="ko-KR" sz="1050" b="1" spc="-4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 defTabSz="2438338"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en-US" altLang="ko-KR" sz="1500" spc="-70" dirty="0">
                  <a:solidFill>
                    <a:schemeClr val="bg2">
                      <a:lumMod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46.4%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63F82E6-7873-9018-84FF-7FF1FF416687}"/>
                </a:ext>
              </a:extLst>
            </p:cNvPr>
            <p:cNvGrpSpPr/>
            <p:nvPr/>
          </p:nvGrpSpPr>
          <p:grpSpPr>
            <a:xfrm>
              <a:off x="3221982" y="4477999"/>
              <a:ext cx="378333" cy="165982"/>
              <a:chOff x="2897631" y="4244616"/>
              <a:chExt cx="378333" cy="165982"/>
            </a:xfrm>
          </p:grpSpPr>
          <p:cxnSp>
            <p:nvCxnSpPr>
              <p:cNvPr id="28" name="직선 연결선[R] 27">
                <a:extLst>
                  <a:ext uri="{FF2B5EF4-FFF2-40B4-BE49-F238E27FC236}">
                    <a16:creationId xmlns:a16="http://schemas.microsoft.com/office/drawing/2014/main" id="{E927177F-C6F4-EA61-3ECF-38E74AAB5C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7631" y="4249932"/>
                <a:ext cx="235456" cy="160666"/>
              </a:xfrm>
              <a:prstGeom prst="line">
                <a:avLst/>
              </a:prstGeom>
              <a:ln w="6350">
                <a:solidFill>
                  <a:schemeClr val="bg2">
                    <a:lumMod val="75000"/>
                  </a:schemeClr>
                </a:solidFill>
                <a:prstDash val="dash"/>
                <a:head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[R] 28">
                <a:extLst>
                  <a:ext uri="{FF2B5EF4-FFF2-40B4-BE49-F238E27FC236}">
                    <a16:creationId xmlns:a16="http://schemas.microsoft.com/office/drawing/2014/main" id="{F626F642-2AE6-E8E7-64A5-730D2C206A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4351" y="4244616"/>
                <a:ext cx="121613" cy="0"/>
              </a:xfrm>
              <a:prstGeom prst="line">
                <a:avLst/>
              </a:prstGeom>
              <a:ln w="6350">
                <a:solidFill>
                  <a:schemeClr val="bg2">
                    <a:lumMod val="75000"/>
                  </a:schemeClr>
                </a:solidFill>
                <a:prstDash val="dash"/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A109A599-8D52-6550-3D16-C27C3B8ED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2421" y="5613444"/>
              <a:ext cx="188466" cy="216104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9728F14-41AD-92F2-45D0-6F5786F926B3}"/>
              </a:ext>
            </a:extLst>
          </p:cNvPr>
          <p:cNvGrpSpPr/>
          <p:nvPr/>
        </p:nvGrpSpPr>
        <p:grpSpPr>
          <a:xfrm>
            <a:off x="482752" y="2085056"/>
            <a:ext cx="3467814" cy="355003"/>
            <a:chOff x="482752" y="2085056"/>
            <a:chExt cx="3467814" cy="3550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3969BE-A1BE-5D0B-6176-80F27071C8D5}"/>
                </a:ext>
              </a:extLst>
            </p:cNvPr>
            <p:cNvSpPr txBox="1"/>
            <p:nvPr/>
          </p:nvSpPr>
          <p:spPr>
            <a:xfrm>
              <a:off x="482752" y="2085056"/>
              <a:ext cx="2558638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7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Pretendard Light" panose="020B0303000000000000" pitchFamily="34" charset="-127"/>
                  <a:ea typeface="Pretendard Light" panose="020B0303000000000000" pitchFamily="34" charset="-127"/>
                  <a:cs typeface="+mn-cs"/>
                </a:rPr>
                <a:t>게첨</a:t>
              </a:r>
              <a:r>
                <a:rPr kumimoji="0" lang="ko-KR" altLang="en-US" sz="1200" b="0" i="0" u="none" strike="noStrike" kern="1200" cap="none" spc="-7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Pretendard Light" panose="020B0303000000000000" pitchFamily="34" charset="-127"/>
                  <a:ea typeface="Pretendard Light" panose="020B0303000000000000" pitchFamily="34" charset="-127"/>
                  <a:cs typeface="+mn-cs"/>
                </a:rPr>
                <a:t> 기간 내 유동인구 총합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888D23-0191-84BD-781F-FFE5801433A9}"/>
                </a:ext>
              </a:extLst>
            </p:cNvPr>
            <p:cNvSpPr txBox="1"/>
            <p:nvPr/>
          </p:nvSpPr>
          <p:spPr>
            <a:xfrm>
              <a:off x="2180931" y="2099966"/>
              <a:ext cx="1769635" cy="3400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829875">
                <a:lnSpc>
                  <a:spcPct val="120000"/>
                </a:lnSpc>
                <a:defRPr sz="2000" b="0" spc="-94">
                  <a:solidFill>
                    <a:srgbClr val="2355F2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rPr lang="ko-KR" altLang="en-US" sz="1400" b="1" spc="-94" dirty="0">
                  <a:solidFill>
                    <a:srgbClr val="721D20"/>
                  </a:solidFill>
                  <a:latin typeface="Pretendard" panose="020C0603000000000000" pitchFamily="34" charset="-127"/>
                  <a:ea typeface="Pretendard" panose="020C0603000000000000" pitchFamily="34" charset="-127"/>
                  <a:cs typeface="Pretendard Medium"/>
                </a:rPr>
                <a:t>약 </a:t>
              </a:r>
              <a:r>
                <a:rPr lang="en-US" altLang="ko-KR" sz="1400" b="1" spc="-94" dirty="0">
                  <a:solidFill>
                    <a:srgbClr val="721D20"/>
                  </a:solidFill>
                  <a:latin typeface="Pretendard" panose="020C0603000000000000" pitchFamily="34" charset="-127"/>
                  <a:ea typeface="Pretendard" panose="020C0603000000000000" pitchFamily="34" charset="-127"/>
                  <a:cs typeface="Pretendard Medium"/>
                </a:rPr>
                <a:t>1,191만 명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4BDED87-E985-927E-D91A-8427FA5B4917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2026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고려대학교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ko-KR" altLang="en-US" sz="900" b="1" spc="-70" dirty="0" err="1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lang="ko-KR" altLang="en-US" sz="900" b="1" spc="-70" dirty="0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lang="ko-KR" altLang="en-US" sz="1200" spc="-80" dirty="0">
              <a:solidFill>
                <a:srgbClr val="C00000"/>
              </a:solidFill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26A63-8308-1548-9076-C135E930805C}"/>
              </a:ext>
            </a:extLst>
          </p:cNvPr>
          <p:cNvSpPr txBox="1"/>
          <p:nvPr/>
        </p:nvSpPr>
        <p:spPr>
          <a:xfrm>
            <a:off x="3415115" y="2196699"/>
            <a:ext cx="20345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SK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텔레콤 </a:t>
            </a:r>
            <a:r>
              <a:rPr lang="ko-KR" altLang="en-US" sz="800" spc="-60" dirty="0" err="1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지오비전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 퍼즐 유동인구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(50</a:t>
            </a:r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m×50m 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격자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)</a:t>
            </a:r>
            <a:endParaRPr lang="ko-KR" altLang="en-US" sz="800" spc="-60" dirty="0">
              <a:solidFill>
                <a:schemeClr val="bg2">
                  <a:lumMod val="50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603651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434199" y="2781807"/>
            <a:ext cx="2563001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APPENDIX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cxnSp>
        <p:nvCxnSpPr>
          <p:cNvPr id="15" name="직선 연결선[R] 21">
            <a:extLst>
              <a:ext uri="{FF2B5EF4-FFF2-40B4-BE49-F238E27FC236}">
                <a16:creationId xmlns:a16="http://schemas.microsoft.com/office/drawing/2014/main" id="{8E2F0F5E-D05A-49D7-9629-F1162F928F22}"/>
              </a:ext>
            </a:extLst>
          </p:cNvPr>
          <p:cNvCxnSpPr>
            <a:cxnSpLocks/>
          </p:cNvCxnSpPr>
          <p:nvPr/>
        </p:nvCxnSpPr>
        <p:spPr>
          <a:xfrm>
            <a:off x="0" y="1976610"/>
            <a:ext cx="4470400" cy="0"/>
          </a:xfrm>
          <a:prstGeom prst="line">
            <a:avLst/>
          </a:prstGeom>
          <a:ln w="9525">
            <a:solidFill>
              <a:srgbClr val="721D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EDF37F-F43B-3E79-5BFB-BAD4DDD45C31}"/>
              </a:ext>
            </a:extLst>
          </p:cNvPr>
          <p:cNvSpPr txBox="1"/>
          <p:nvPr/>
        </p:nvSpPr>
        <p:spPr>
          <a:xfrm>
            <a:off x="2886074" y="2759697"/>
            <a:ext cx="7515226" cy="43505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데이터 추출 기준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일별 편성 횟수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2007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1E56-AE87-FCDA-87D1-EE30D965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96A64463-8E77-11C5-4CA8-D597368F6701}"/>
              </a:ext>
            </a:extLst>
          </p:cNvPr>
          <p:cNvSpPr txBox="1"/>
          <p:nvPr/>
        </p:nvSpPr>
        <p:spPr>
          <a:xfrm>
            <a:off x="509086" y="1061430"/>
            <a:ext cx="3186221" cy="276999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ko-KR" altLang="en-US" b="1" spc="-8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추출 기준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82558F-674A-909D-00E1-ADCD1BE0EB90}"/>
              </a:ext>
            </a:extLst>
          </p:cNvPr>
          <p:cNvSpPr txBox="1"/>
          <p:nvPr/>
        </p:nvSpPr>
        <p:spPr>
          <a:xfrm>
            <a:off x="500316" y="813208"/>
            <a:ext cx="886031" cy="184666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en-US" altLang="ko-KR" sz="1200" b="1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rPr>
              <a:t>01</a:t>
            </a:r>
            <a:endParaRPr lang="en-US" sz="1200" b="1" dirty="0">
              <a:solidFill>
                <a:srgbClr val="721D20"/>
              </a:solidFill>
              <a:latin typeface="Pretendard ExtraBold" panose="020C0603000000000000" pitchFamily="34" charset="-127"/>
              <a:ea typeface="Pretendard ExtraBold" panose="020C06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4695C-351D-8914-2FA0-FA4CAB832564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 </a:t>
            </a:r>
            <a:r>
              <a:rPr lang="ko-KR" altLang="en-US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고려대학교 </a:t>
            </a:r>
            <a:r>
              <a:rPr lang="ko-KR" altLang="en-US" sz="900" b="1" spc="-7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룩스</a:t>
            </a:r>
            <a:r>
              <a:rPr lang="en-US" altLang="ko-KR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LUUX) </a:t>
            </a:r>
            <a:r>
              <a:rPr lang="ko-KR" altLang="en-US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결과 보고서         </a:t>
            </a:r>
            <a:r>
              <a:rPr lang="en" altLang="ko-KR" sz="900" b="1" spc="-70" dirty="0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APPENDIX</a:t>
            </a:r>
            <a:endParaRPr lang="ko-KR" altLang="en-US" sz="1200" spc="-8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02ED71A-A5C8-C6FD-F206-16692510D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23" b="22743"/>
          <a:stretch>
            <a:fillRect/>
          </a:stretch>
        </p:blipFill>
        <p:spPr>
          <a:xfrm>
            <a:off x="8176833" y="2666127"/>
            <a:ext cx="3479800" cy="1490156"/>
          </a:xfrm>
          <a:prstGeom prst="roundRect">
            <a:avLst>
              <a:gd name="adj" fmla="val 7261"/>
            </a:avLst>
          </a:prstGeom>
        </p:spPr>
      </p:pic>
      <p:sp>
        <p:nvSpPr>
          <p:cNvPr id="13" name="card">
            <a:extLst>
              <a:ext uri="{FF2B5EF4-FFF2-40B4-BE49-F238E27FC236}">
                <a16:creationId xmlns:a16="http://schemas.microsoft.com/office/drawing/2014/main" id="{4778A02B-B32E-2685-A3A9-CA64C0D2DFA5}"/>
              </a:ext>
            </a:extLst>
          </p:cNvPr>
          <p:cNvSpPr/>
          <p:nvPr/>
        </p:nvSpPr>
        <p:spPr>
          <a:xfrm>
            <a:off x="8178800" y="2666127"/>
            <a:ext cx="3479800" cy="1498600"/>
          </a:xfrm>
          <a:prstGeom prst="roundRect">
            <a:avLst>
              <a:gd name="adj" fmla="val 8000"/>
            </a:avLst>
          </a:prstGeom>
          <a:solidFill>
            <a:schemeClr val="tx1">
              <a:alpha val="50000"/>
            </a:schemeClr>
          </a:solidFill>
          <a:ln w="12700">
            <a:gradFill>
              <a:gsLst>
                <a:gs pos="49000">
                  <a:srgbClr val="101D46">
                    <a:alpha val="25000"/>
                  </a:srgbClr>
                </a:gs>
                <a:gs pos="0">
                  <a:srgbClr val="345AA0">
                    <a:alpha val="50000"/>
                  </a:srgbClr>
                </a:gs>
                <a:gs pos="100000">
                  <a:srgbClr val="345AA0"/>
                </a:gs>
              </a:gsLst>
              <a:lin ang="1800000" scaled="0"/>
            </a:gradFill>
            <a:prstDash val="solid"/>
          </a:ln>
          <a:effectLst>
            <a:outerShdw blurRad="50800" dist="50800" dir="5400000" sx="1000" sy="1000" algn="ctr" rotWithShape="0">
              <a:srgbClr val="0A3F86"/>
            </a:outerShdw>
          </a:effectLst>
        </p:spPr>
        <p:txBody>
          <a:bodyPr anchor="ctr"/>
          <a:lstStyle/>
          <a:p>
            <a:pPr algn="ctr"/>
            <a:endParaRPr kumimoji="1" lang="ko-KR" altLang="en-US" sz="1400" spc="-10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C2AB28-68BF-CADA-FFBE-C5859E539AF2}"/>
              </a:ext>
            </a:extLst>
          </p:cNvPr>
          <p:cNvSpPr txBox="1"/>
          <p:nvPr/>
        </p:nvSpPr>
        <p:spPr>
          <a:xfrm>
            <a:off x="677154" y="2085056"/>
            <a:ext cx="404939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1200" b="1" i="1" dirty="0">
                <a:solidFill>
                  <a:srgbClr val="7D111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</a:t>
            </a:r>
            <a:r>
              <a:rPr kumimoji="1" lang="ko-KR" altLang="en-US" sz="1200" b="1" dirty="0">
                <a:solidFill>
                  <a:srgbClr val="7D111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-US" altLang="ko-KR" sz="1200" b="1" dirty="0">
                <a:solidFill>
                  <a:srgbClr val="7D111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200" b="1" dirty="0">
                <a:solidFill>
                  <a:srgbClr val="7D111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측정 프로세스</a:t>
            </a:r>
            <a:endParaRPr kumimoji="1" lang="en" altLang="ko-KR" sz="1200" b="1" dirty="0">
              <a:solidFill>
                <a:srgbClr val="7D111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0C052F88-8161-2D06-D85B-058C27E5C668}"/>
              </a:ext>
            </a:extLst>
          </p:cNvPr>
          <p:cNvSpPr/>
          <p:nvPr/>
        </p:nvSpPr>
        <p:spPr>
          <a:xfrm>
            <a:off x="533400" y="2657683"/>
            <a:ext cx="3479800" cy="1498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2D5DB">
                <a:alpha val="9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15D3D592-B151-A6B6-E008-A4BB99EA1F7C}"/>
              </a:ext>
            </a:extLst>
          </p:cNvPr>
          <p:cNvSpPr txBox="1"/>
          <p:nvPr/>
        </p:nvSpPr>
        <p:spPr>
          <a:xfrm>
            <a:off x="787400" y="2891496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1</a:t>
            </a:r>
          </a:p>
        </p:txBody>
      </p:sp>
      <p:sp>
        <p:nvSpPr>
          <p:cNvPr id="20" name="TextBox">
            <a:extLst>
              <a:ext uri="{FF2B5EF4-FFF2-40B4-BE49-F238E27FC236}">
                <a16:creationId xmlns:a16="http://schemas.microsoft.com/office/drawing/2014/main" id="{AE3B1577-7C0D-0FD0-1C9B-073A3D180B25}"/>
              </a:ext>
            </a:extLst>
          </p:cNvPr>
          <p:cNvSpPr txBox="1"/>
          <p:nvPr/>
        </p:nvSpPr>
        <p:spPr>
          <a:xfrm>
            <a:off x="787400" y="3216483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위치정보 수집</a:t>
            </a:r>
          </a:p>
        </p:txBody>
      </p:sp>
      <p:sp>
        <p:nvSpPr>
          <p:cNvPr id="26" name="TextBox">
            <a:extLst>
              <a:ext uri="{FF2B5EF4-FFF2-40B4-BE49-F238E27FC236}">
                <a16:creationId xmlns:a16="http://schemas.microsoft.com/office/drawing/2014/main" id="{15E92886-0512-6DEE-64E9-3D17BFBAF89E}"/>
              </a:ext>
            </a:extLst>
          </p:cNvPr>
          <p:cNvSpPr txBox="1"/>
          <p:nvPr/>
        </p:nvSpPr>
        <p:spPr>
          <a:xfrm>
            <a:off x="787400" y="3523957"/>
            <a:ext cx="2971800" cy="431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기지국 신호와 네트워크 접속정보 등을 기반으로</a:t>
            </a:r>
            <a:endParaRPr kumimoji="1" lang="en-US" altLang="ko-KR" sz="1000" spc="-96" dirty="0">
              <a:solidFill>
                <a:srgbClr val="21212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이용자의 위치정보를 수집합니다</a:t>
            </a:r>
            <a:r>
              <a:rPr kumimoji="1" lang="en-US" altLang="ko-KR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000" spc="-96" dirty="0">
              <a:solidFill>
                <a:srgbClr val="21212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card">
            <a:extLst>
              <a:ext uri="{FF2B5EF4-FFF2-40B4-BE49-F238E27FC236}">
                <a16:creationId xmlns:a16="http://schemas.microsoft.com/office/drawing/2014/main" id="{DD158770-FCAA-4D3D-96EC-2F50ADF807F2}"/>
              </a:ext>
            </a:extLst>
          </p:cNvPr>
          <p:cNvSpPr/>
          <p:nvPr/>
        </p:nvSpPr>
        <p:spPr>
          <a:xfrm>
            <a:off x="4356100" y="2657683"/>
            <a:ext cx="3479800" cy="1498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2D5DB">
                <a:alpha val="9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">
            <a:extLst>
              <a:ext uri="{FF2B5EF4-FFF2-40B4-BE49-F238E27FC236}">
                <a16:creationId xmlns:a16="http://schemas.microsoft.com/office/drawing/2014/main" id="{844EB07E-5226-2D60-B31C-6CEBEDEAFFDD}"/>
              </a:ext>
            </a:extLst>
          </p:cNvPr>
          <p:cNvSpPr txBox="1"/>
          <p:nvPr/>
        </p:nvSpPr>
        <p:spPr>
          <a:xfrm>
            <a:off x="4610100" y="2891496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2</a:t>
            </a:r>
          </a:p>
        </p:txBody>
      </p:sp>
      <p:sp>
        <p:nvSpPr>
          <p:cNvPr id="32" name="TextBox">
            <a:extLst>
              <a:ext uri="{FF2B5EF4-FFF2-40B4-BE49-F238E27FC236}">
                <a16:creationId xmlns:a16="http://schemas.microsoft.com/office/drawing/2014/main" id="{43E3D2B8-42D4-88E1-8408-39A3C0C3B9FF}"/>
              </a:ext>
            </a:extLst>
          </p:cNvPr>
          <p:cNvSpPr txBox="1"/>
          <p:nvPr/>
        </p:nvSpPr>
        <p:spPr>
          <a:xfrm>
            <a:off x="4610100" y="3216483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" altLang="ko-KR" sz="1400" b="1" spc="-60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pCell</a:t>
            </a:r>
            <a:r>
              <a:rPr lang="en" altLang="ko-KR" sz="1400" b="1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위치 추정</a:t>
            </a:r>
          </a:p>
          <a:p>
            <a:pPr>
              <a:lnSpc>
                <a:spcPct val="118000"/>
              </a:lnSpc>
            </a:pPr>
            <a:endParaRPr lang="ko-KR" altLang="en-US" sz="1400" b="1" spc="-60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">
            <a:extLst>
              <a:ext uri="{FF2B5EF4-FFF2-40B4-BE49-F238E27FC236}">
                <a16:creationId xmlns:a16="http://schemas.microsoft.com/office/drawing/2014/main" id="{C16C55E5-5080-0942-37E6-E7C906BA3599}"/>
              </a:ext>
            </a:extLst>
          </p:cNvPr>
          <p:cNvSpPr txBox="1"/>
          <p:nvPr/>
        </p:nvSpPr>
        <p:spPr>
          <a:xfrm>
            <a:off x="4610100" y="3523957"/>
            <a:ext cx="2971800" cy="431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수집된 위치 신호를 결합해</a:t>
            </a:r>
            <a:endParaRPr kumimoji="1" lang="en-US" altLang="ko-KR" sz="1000" spc="-96" dirty="0">
              <a:solidFill>
                <a:srgbClr val="21212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가상 격자인 </a:t>
            </a:r>
            <a:r>
              <a:rPr kumimoji="1" lang="en" altLang="ko-KR" sz="1000" spc="-96" dirty="0" err="1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pCell</a:t>
            </a:r>
            <a:r>
              <a:rPr kumimoji="1" lang="en" altLang="ko-KR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단위로 위치를 추정합니다</a:t>
            </a:r>
            <a:r>
              <a:rPr kumimoji="1" lang="en-US" altLang="ko-KR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34" name="TextBox">
            <a:extLst>
              <a:ext uri="{FF2B5EF4-FFF2-40B4-BE49-F238E27FC236}">
                <a16:creationId xmlns:a16="http://schemas.microsoft.com/office/drawing/2014/main" id="{8D15097B-9B42-13B0-3335-77265D0A47F6}"/>
              </a:ext>
            </a:extLst>
          </p:cNvPr>
          <p:cNvSpPr txBox="1"/>
          <p:nvPr/>
        </p:nvSpPr>
        <p:spPr>
          <a:xfrm>
            <a:off x="8432800" y="2891496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spc="-6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3</a:t>
            </a:r>
          </a:p>
        </p:txBody>
      </p:sp>
      <p:sp>
        <p:nvSpPr>
          <p:cNvPr id="35" name="TextBox">
            <a:extLst>
              <a:ext uri="{FF2B5EF4-FFF2-40B4-BE49-F238E27FC236}">
                <a16:creationId xmlns:a16="http://schemas.microsoft.com/office/drawing/2014/main" id="{8A065CE3-F761-E8DE-3AEB-D7691B18C2A7}"/>
              </a:ext>
            </a:extLst>
          </p:cNvPr>
          <p:cNvSpPr txBox="1"/>
          <p:nvPr/>
        </p:nvSpPr>
        <p:spPr>
          <a:xfrm>
            <a:off x="8432800" y="3216483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spc="-6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유동인구 집계</a:t>
            </a:r>
          </a:p>
        </p:txBody>
      </p:sp>
      <p:sp>
        <p:nvSpPr>
          <p:cNvPr id="36" name="TextBox">
            <a:extLst>
              <a:ext uri="{FF2B5EF4-FFF2-40B4-BE49-F238E27FC236}">
                <a16:creationId xmlns:a16="http://schemas.microsoft.com/office/drawing/2014/main" id="{C3F84EFF-D80E-58A2-9C8B-2B11E45E3D4B}"/>
              </a:ext>
            </a:extLst>
          </p:cNvPr>
          <p:cNvSpPr txBox="1"/>
          <p:nvPr/>
        </p:nvSpPr>
        <p:spPr>
          <a:xfrm>
            <a:off x="8432800" y="3523957"/>
            <a:ext cx="2971800" cy="431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장소</a:t>
            </a:r>
            <a:r>
              <a:rPr kumimoji="1" lang="en-US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활동인구를 기반으로</a:t>
            </a:r>
            <a:endParaRPr kumimoji="1" lang="en-US" altLang="ko-KR" sz="1000" spc="-96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LUUX </a:t>
            </a: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주변 </a:t>
            </a:r>
            <a:r>
              <a:rPr kumimoji="1" lang="en-US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권역의 유동인구를 집계합니다</a:t>
            </a:r>
            <a:r>
              <a:rPr kumimoji="1" lang="en-US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30000"/>
              </a:lnSpc>
            </a:pPr>
            <a:endParaRPr kumimoji="1" lang="ko-KR" altLang="en-US" sz="1000" spc="-96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이등변 삼각형 45">
            <a:extLst>
              <a:ext uri="{FF2B5EF4-FFF2-40B4-BE49-F238E27FC236}">
                <a16:creationId xmlns:a16="http://schemas.microsoft.com/office/drawing/2014/main" id="{2B74CAA4-B20C-7BBD-0219-562DE43B80E7}"/>
              </a:ext>
            </a:extLst>
          </p:cNvPr>
          <p:cNvSpPr/>
          <p:nvPr/>
        </p:nvSpPr>
        <p:spPr>
          <a:xfrm flipV="1">
            <a:off x="805848" y="4401857"/>
            <a:ext cx="10580305" cy="496785"/>
          </a:xfrm>
          <a:prstGeom prst="triangle">
            <a:avLst>
              <a:gd name="adj" fmla="val 50284"/>
            </a:avLst>
          </a:prstGeom>
          <a:gradFill flip="none" rotWithShape="1">
            <a:gsLst>
              <a:gs pos="0">
                <a:srgbClr val="101D46">
                  <a:alpha val="0"/>
                </a:srgbClr>
              </a:gs>
              <a:gs pos="100000">
                <a:srgbClr val="101D46">
                  <a:alpha val="10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9593234-63A6-2E29-7962-973BF1C9AD2D}"/>
              </a:ext>
            </a:extLst>
          </p:cNvPr>
          <p:cNvGrpSpPr/>
          <p:nvPr/>
        </p:nvGrpSpPr>
        <p:grpSpPr>
          <a:xfrm>
            <a:off x="533400" y="5144217"/>
            <a:ext cx="11285407" cy="1071943"/>
            <a:chOff x="533400" y="5032750"/>
            <a:chExt cx="11285407" cy="1071943"/>
          </a:xfrm>
        </p:grpSpPr>
        <p:sp>
          <p:nvSpPr>
            <p:cNvPr id="43" name="TextBox">
              <a:extLst>
                <a:ext uri="{FF2B5EF4-FFF2-40B4-BE49-F238E27FC236}">
                  <a16:creationId xmlns:a16="http://schemas.microsoft.com/office/drawing/2014/main" id="{A70E2085-3BC2-53FB-85C6-FDBF7E6661B8}"/>
                </a:ext>
              </a:extLst>
            </p:cNvPr>
            <p:cNvSpPr txBox="1"/>
            <p:nvPr/>
          </p:nvSpPr>
          <p:spPr>
            <a:xfrm>
              <a:off x="533400" y="5032750"/>
              <a:ext cx="11285407" cy="25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8000"/>
                </a:lnSpc>
              </a:pPr>
              <a:r>
                <a:rPr lang="en" altLang="ko-KR" sz="1400" b="1" spc="-60" dirty="0" err="1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SKTelecom</a:t>
              </a:r>
              <a:r>
                <a:rPr lang="en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en" altLang="ko-KR" sz="1400" b="1" spc="-60" dirty="0">
                  <a:solidFill>
                    <a:srgbClr val="7D111C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*</a:t>
              </a:r>
              <a:r>
                <a:rPr lang="en" altLang="ko-KR" sz="1400" b="1" spc="-60" dirty="0" err="1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pCell</a:t>
              </a:r>
              <a:r>
                <a:rPr lang="en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기반의 정밀 위치 데이터를 활용해 매체 주변 유동인구를 산출합니다</a:t>
              </a:r>
              <a: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. </a:t>
              </a:r>
              <a:b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</a:b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각 </a:t>
              </a:r>
              <a:r>
                <a:rPr lang="en" altLang="ko-KR" sz="1400" b="1" spc="-60" dirty="0" err="1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pCell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에서 집계된 데이터를 기지국 </a:t>
              </a:r>
              <a:r>
                <a:rPr lang="en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RU 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단위로 배분하여</a:t>
              </a:r>
              <a: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, 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옥외광고 매체 인근의 실제 유동인구를 보다 정밀하게 분석합니다</a:t>
              </a:r>
              <a: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.</a:t>
              </a:r>
            </a:p>
          </p:txBody>
        </p:sp>
        <p:sp>
          <p:nvSpPr>
            <p:cNvPr id="44" name="TextBox">
              <a:extLst>
                <a:ext uri="{FF2B5EF4-FFF2-40B4-BE49-F238E27FC236}">
                  <a16:creationId xmlns:a16="http://schemas.microsoft.com/office/drawing/2014/main" id="{8A45E2C0-3831-8D04-9ED3-948CB88D95E3}"/>
                </a:ext>
              </a:extLst>
            </p:cNvPr>
            <p:cNvSpPr txBox="1"/>
            <p:nvPr/>
          </p:nvSpPr>
          <p:spPr>
            <a:xfrm>
              <a:off x="1686609" y="5672893"/>
              <a:ext cx="9326783" cy="4318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" altLang="ko-KR" sz="1000" spc="-96" dirty="0">
                  <a:solidFill>
                    <a:srgbClr val="7D111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*</a:t>
              </a:r>
              <a:r>
                <a:rPr kumimoji="1" lang="en" altLang="ko-KR" sz="1000" spc="-96" dirty="0" err="1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pCell</a:t>
              </a:r>
              <a:r>
                <a:rPr kumimoji="1" lang="en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기술이란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? </a:t>
              </a:r>
              <a:r>
                <a:rPr kumimoji="1" lang="en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SK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텔레콤이 상용화한 네트워크 기반 위치 </a:t>
              </a:r>
              <a:r>
                <a:rPr kumimoji="1" lang="ko-KR" altLang="en-US" sz="1000" spc="-96" dirty="0" err="1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측위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기술로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기존 </a:t>
              </a:r>
              <a:r>
                <a:rPr kumimoji="1" lang="en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Cell ID 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방식 대비 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배 이상 높은 위치 정밀도를 기반으로 세밀한 유동인구 분석이 가능합니다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14D08BC-48B8-AF15-CBA5-73EE1CB88F3C}"/>
              </a:ext>
            </a:extLst>
          </p:cNvPr>
          <p:cNvSpPr txBox="1"/>
          <p:nvPr/>
        </p:nvSpPr>
        <p:spPr>
          <a:xfrm>
            <a:off x="510372" y="1433821"/>
            <a:ext cx="6855628" cy="245067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" altLang="ko-KR" sz="1200" spc="-60" dirty="0" err="1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SKTelecom</a:t>
            </a:r>
            <a:r>
              <a:rPr lang="en" altLang="ko-KR" sz="1200" spc="-60" dirty="0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Geo Vision Puzzle </a:t>
            </a:r>
            <a:r>
              <a:rPr lang="en" altLang="ko-KR" sz="1200" spc="-60" dirty="0" err="1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pCell</a:t>
            </a:r>
            <a:r>
              <a:rPr lang="en" altLang="ko-KR" sz="1200" spc="-60" dirty="0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spc="-60" dirty="0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정밀 위치 데이터 적용</a:t>
            </a:r>
            <a:endParaRPr lang="en-US" altLang="ko-KR" sz="1200" spc="-60" dirty="0">
              <a:solidFill>
                <a:srgbClr val="721D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44645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200A-3D03-557D-D8D7-D6EE48A9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ricing Table">
            <a:extLst>
              <a:ext uri="{FF2B5EF4-FFF2-40B4-BE49-F238E27FC236}">
                <a16:creationId xmlns:a16="http://schemas.microsoft.com/office/drawing/2014/main" id="{F83A7ED5-94CA-1637-76A8-C7ED22F0F167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2029500"/>
          <a:ext cx="11049000" cy="41935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798674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1884326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798674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884326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1798674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  <a:gridCol w="1884326">
                  <a:extLst>
                    <a:ext uri="{9D8B030D-6E8A-4147-A177-3AD203B41FA5}">
                      <a16:colId xmlns:a16="http://schemas.microsoft.com/office/drawing/2014/main" val="4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표출횟수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표출횟수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표출횟수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87회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78회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73회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73회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73회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8/30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8/31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en-US" altLang="ko-KR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79회</a:t>
                      </a:r>
                      <a:endParaRPr lang="ko-KR" altLang="en-US" sz="1050" b="1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sz="1050" b="0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endParaRPr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en-US" altLang="ko-KR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83회</a:t>
                      </a:r>
                      <a:endParaRPr lang="ko-KR" altLang="en-US" sz="1050" b="1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sz="1050" b="0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endParaRPr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126265D6-8D81-127D-E68D-3F89E06E5880}"/>
              </a:ext>
            </a:extLst>
          </p:cNvPr>
          <p:cNvSpPr txBox="1"/>
          <p:nvPr/>
        </p:nvSpPr>
        <p:spPr>
          <a:xfrm>
            <a:off x="509086" y="1061430"/>
            <a:ext cx="4505827" cy="276999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ko-KR" altLang="en-US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일별 편성 횟수</a:t>
            </a:r>
            <a:r>
              <a: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(26. 8. 12.~9. 11.)</a:t>
            </a:r>
            <a:endParaRPr lang="ko-KR" altLang="en-US" b="1" spc="-80" dirty="0">
              <a:solidFill>
                <a:schemeClr val="bg2">
                  <a:lumMod val="25000"/>
                </a:schemeClr>
              </a:solidFill>
              <a:latin typeface="Pretendard" panose="020B0503000000000000" pitchFamily="34" charset="-127"/>
              <a:ea typeface="Pretendard" panose="020B05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856A73-230F-145A-DDE9-CA462C252379}"/>
              </a:ext>
            </a:extLst>
          </p:cNvPr>
          <p:cNvSpPr txBox="1"/>
          <p:nvPr/>
        </p:nvSpPr>
        <p:spPr>
          <a:xfrm>
            <a:off x="500316" y="813208"/>
            <a:ext cx="886031" cy="184666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en-US" altLang="ko-KR" sz="1200" b="1" dirty="0">
                <a:solidFill>
                  <a:srgbClr val="721D20"/>
                </a:soli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rPr>
              <a:t>02</a:t>
            </a:r>
            <a:endParaRPr lang="en-US" sz="1200" b="1" dirty="0">
              <a:solidFill>
                <a:srgbClr val="721D20"/>
              </a:solidFill>
              <a:latin typeface="Pretendard ExtraBold" panose="020C0603000000000000" pitchFamily="34" charset="-127"/>
              <a:ea typeface="Pretendard ExtraBold" panose="020C06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84FFA-4F60-418E-B9AA-B77AF2049789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2026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고려대학교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en" altLang="ko-KR" sz="900" b="1" spc="-70" dirty="0">
                <a:solidFill>
                  <a:srgbClr val="721D20"/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APPENDIX</a:t>
            </a:r>
            <a:endParaRPr lang="ko-KR" altLang="en-US" sz="1200" spc="-80" dirty="0">
              <a:solidFill>
                <a:srgbClr val="C00000"/>
              </a:solidFill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F75929-2223-9E5C-1350-58662C0E771B}"/>
              </a:ext>
            </a:extLst>
          </p:cNvPr>
          <p:cNvSpPr txBox="1"/>
          <p:nvPr/>
        </p:nvSpPr>
        <p:spPr>
          <a:xfrm>
            <a:off x="510372" y="1433821"/>
            <a:ext cx="4504541" cy="18466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ko-KR" altLang="en-US" sz="1200" b="1" spc="-70" dirty="0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합계 </a:t>
            </a:r>
            <a:r>
              <a:rPr lang="en-US" altLang="ko-KR" sz="1200" b="1" spc="-70" dirty="0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2,368</a:t>
            </a:r>
            <a:r>
              <a:rPr lang="ko-KR" altLang="en-US" sz="1200" b="1" spc="-70" dirty="0" err="1">
                <a:solidFill>
                  <a:srgbClr val="721D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</a:t>
            </a:r>
            <a:r>
              <a:rPr lang="ko-KR" altLang="en-US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ㅣ일일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평균 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</a:t>
            </a:r>
            <a:r>
              <a:rPr lang="ko-KR" altLang="en-US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회ㅣ소재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초ㅣ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방영시간 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64,800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</a:t>
            </a:r>
          </a:p>
        </p:txBody>
      </p:sp>
    </p:spTree>
    <p:extLst>
      <p:ext uri="{BB962C8B-B14F-4D97-AF65-F5344CB8AC3E}">
        <p14:creationId xmlns:p14="http://schemas.microsoft.com/office/powerpoint/2010/main" val="417867173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7976-255A-2EEA-F636-C65963F2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야외, 하늘, 구름, 상업용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18A385-1D1A-EEF5-CA56-153DFA6D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1"/>
          <a:stretch>
            <a:fillRect/>
          </a:stretch>
        </p:blipFill>
        <p:spPr>
          <a:xfrm>
            <a:off x="1846936" y="0"/>
            <a:ext cx="10345064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7EF66B3-9C53-597C-D054-52F561A356F1}"/>
              </a:ext>
            </a:extLst>
          </p:cNvPr>
          <p:cNvSpPr/>
          <p:nvPr/>
        </p:nvSpPr>
        <p:spPr>
          <a:xfrm>
            <a:off x="1846937" y="0"/>
            <a:ext cx="10345064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78B1E-4EFB-0E2B-5084-CABF4ABDB804}"/>
              </a:ext>
            </a:extLst>
          </p:cNvPr>
          <p:cNvSpPr txBox="1"/>
          <p:nvPr/>
        </p:nvSpPr>
        <p:spPr>
          <a:xfrm>
            <a:off x="567977" y="3110739"/>
            <a:ext cx="6096000" cy="65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Arial"/>
              <a:defRPr/>
            </a:pPr>
            <a:r>
              <a:rPr kumimoji="1" lang="en-US" altLang="ko-KR" sz="30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Montserrat Bold"/>
              </a:rPr>
              <a:t>CONTACT US</a:t>
            </a:r>
            <a:endParaRPr kumimoji="1" lang="ko-KR" altLang="en-US" sz="3000" b="1" spc="-15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  <a:sym typeface="Montserrat Bold"/>
            </a:endParaRPr>
          </a:p>
        </p:txBody>
      </p:sp>
      <p:sp>
        <p:nvSpPr>
          <p:cNvPr id="14" name="직사각형 13">
            <a:hlinkClick r:id="rId4"/>
            <a:extLst>
              <a:ext uri="{FF2B5EF4-FFF2-40B4-BE49-F238E27FC236}">
                <a16:creationId xmlns:a16="http://schemas.microsoft.com/office/drawing/2014/main" id="{4558E894-3CA1-2D93-D8BB-961B12F0FD9E}"/>
              </a:ext>
            </a:extLst>
          </p:cNvPr>
          <p:cNvSpPr/>
          <p:nvPr/>
        </p:nvSpPr>
        <p:spPr>
          <a:xfrm>
            <a:off x="567977" y="3747260"/>
            <a:ext cx="2981934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438338">
              <a:lnSpc>
                <a:spcPct val="150000"/>
              </a:lnSpc>
              <a:defRPr sz="2400" spc="-96">
                <a:solidFill>
                  <a:srgbClr val="212121"/>
                </a:solidFill>
                <a:latin typeface="Noto Sans CJK KR Light"/>
                <a:ea typeface="Noto Sans CJK KR Light"/>
                <a:cs typeface="Noto Sans CJK KR Light"/>
                <a:sym typeface="Noto Sans CJK KR Light"/>
              </a:defRPr>
            </a:pPr>
            <a:r>
              <a:rPr kumimoji="1" lang="ko-KR" altLang="en-US" sz="1200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클릭하시면 </a:t>
            </a:r>
            <a:r>
              <a:rPr kumimoji="1" lang="ko-KR" altLang="en-US" sz="1200" u="sng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룩스</a:t>
            </a:r>
            <a:r>
              <a:rPr kumimoji="1" lang="ko-KR" altLang="en-US" sz="1200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광고 문의 페이지로 이동합니다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4F4C199-F336-2568-544E-9D0E542DB6A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101D46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36579" y="3872273"/>
            <a:ext cx="153985" cy="1539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781617-62C8-CBAC-6BEB-C7E593BE032A}"/>
              </a:ext>
            </a:extLst>
          </p:cNvPr>
          <p:cNvSpPr txBox="1"/>
          <p:nvPr/>
        </p:nvSpPr>
        <p:spPr>
          <a:xfrm>
            <a:off x="500316" y="302807"/>
            <a:ext cx="5417072" cy="190437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900" spc="-75" dirty="0">
                <a:solidFill>
                  <a:schemeClr val="bg2">
                    <a:lumMod val="50000"/>
                  </a:schemeClr>
                </a:solidFill>
                <a:latin typeface="JTBC Gothic Light" panose="020B0503000000000000" pitchFamily="34" charset="-127"/>
                <a:ea typeface="JTBC Gothic Light" panose="020B0503000000000000" pitchFamily="34" charset="-127"/>
                <a:cs typeface="Poppins Light" panose="00000400000000000000" pitchFamily="2" charset="0"/>
              </a:rPr>
              <a:t>2026</a:t>
            </a:r>
            <a:r>
              <a:rPr lang="ko-KR" altLang="en-US" sz="900" spc="-75" dirty="0">
                <a:solidFill>
                  <a:schemeClr val="bg2">
                    <a:lumMod val="50000"/>
                  </a:schemeClr>
                </a:solidFill>
                <a:latin typeface="JTBC Gothic Light" panose="020B0503000000000000" pitchFamily="34" charset="-127"/>
                <a:ea typeface="JTBC Gothic Light" panose="020B0503000000000000" pitchFamily="34" charset="-127"/>
                <a:cs typeface="Poppins Light" panose="00000400000000000000" pitchFamily="2" charset="0"/>
              </a:rPr>
              <a:t> 고려대학교 </a:t>
            </a:r>
            <a:r>
              <a:rPr lang="ko-KR" altLang="en-US" sz="900" spc="-75" dirty="0" err="1">
                <a:solidFill>
                  <a:schemeClr val="bg2">
                    <a:lumMod val="50000"/>
                  </a:schemeClr>
                </a:solidFill>
                <a:latin typeface="JTBC Gothic Light" panose="020B0503000000000000" pitchFamily="34" charset="-127"/>
                <a:ea typeface="JTBC Gothic Light" panose="020B0503000000000000" pitchFamily="34" charset="-127"/>
                <a:cs typeface="Poppins Light" panose="00000400000000000000" pitchFamily="2" charset="0"/>
              </a:rPr>
              <a:t>룩스</a:t>
            </a:r>
            <a:r>
              <a:rPr lang="en-US" altLang="ko-KR" sz="900" spc="-75" dirty="0">
                <a:solidFill>
                  <a:schemeClr val="bg2">
                    <a:lumMod val="50000"/>
                  </a:schemeClr>
                </a:solidFill>
                <a:latin typeface="JTBC Gothic Light" panose="020B0503000000000000" pitchFamily="34" charset="-127"/>
                <a:ea typeface="JTBC Gothic Light" panose="020B0503000000000000" pitchFamily="34" charset="-127"/>
                <a:cs typeface="Poppins Light" panose="00000400000000000000" pitchFamily="2" charset="0"/>
              </a:rPr>
              <a:t>(LUUX) </a:t>
            </a:r>
            <a:r>
              <a:rPr lang="ko-KR" altLang="en-US" sz="900" spc="-75" dirty="0">
                <a:solidFill>
                  <a:schemeClr val="bg2">
                    <a:lumMod val="50000"/>
                  </a:schemeClr>
                </a:solidFill>
                <a:latin typeface="JTBC Gothic Light" panose="020B0503000000000000" pitchFamily="34" charset="-127"/>
                <a:ea typeface="JTBC Gothic Light" panose="020B0503000000000000" pitchFamily="34" charset="-127"/>
                <a:cs typeface="Poppins Light" panose="00000400000000000000" pitchFamily="2" charset="0"/>
              </a:rPr>
              <a:t>광고 결과 보고서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49F7B4-6881-16C5-91E9-684BE7DE8A0C}"/>
              </a:ext>
            </a:extLst>
          </p:cNvPr>
          <p:cNvSpPr/>
          <p:nvPr/>
        </p:nvSpPr>
        <p:spPr>
          <a:xfrm>
            <a:off x="500316" y="6214400"/>
            <a:ext cx="29867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en" altLang="ko-KR" sz="900" b="1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ⓒ 2026. Dong-A Ilbo.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24475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8918095534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9D6791-1B62-974C-B36F-D3F3E136DEF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0b5e5e2-7d0a-4b5e-842d-a55d44c8228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747</Words>
  <Application>Microsoft Macintosh PowerPoint</Application>
  <PresentationFormat>와이드스크린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맑은 고딕</vt:lpstr>
      <vt:lpstr>JTBC Gothic Bold</vt:lpstr>
      <vt:lpstr>JTBC Gothic Light</vt:lpstr>
      <vt:lpstr>Pretendard</vt:lpstr>
      <vt:lpstr>Pretendard ExtraBold</vt:lpstr>
      <vt:lpstr>Pretendard Light</vt:lpstr>
      <vt:lpstr>Pretendard Medium</vt:lpstr>
      <vt:lpstr>Pretendard SemiBold</vt:lpstr>
      <vt:lpstr>Arial</vt:lpstr>
      <vt:lpstr>Calibri</vt:lpstr>
      <vt:lpstr>Office 테마 [1788918095534]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youngjin seo</dc:creator>
  <cp:lastModifiedBy>youngjin seo</cp:lastModifiedBy>
  <cp:revision>32</cp:revision>
  <dcterms:created xsi:type="dcterms:W3CDTF">2026-09-08T23:50:51Z</dcterms:created>
  <dcterms:modified xsi:type="dcterms:W3CDTF">2026-09-15T00:32:08Z</dcterms:modified>
</cp:coreProperties>
</file>