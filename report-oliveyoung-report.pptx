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5"/>
  </p:notesMasterIdLst>
  <p:sldIdLst>
    <p:sldId id="2147479990" r:id="rId2"/>
    <p:sldId id="2147480002" r:id="rId3"/>
    <p:sldId id="2147479958" r:id="rId4"/>
    <p:sldId id="2147479996" r:id="rId5"/>
    <p:sldId id="2147479997" r:id="rId6"/>
    <p:sldId id="2147480005" r:id="rId7"/>
    <p:sldId id="2147479961" r:id="rId8"/>
    <p:sldId id="2147480004" r:id="rId9"/>
    <p:sldId id="2147480003" r:id="rId10"/>
    <p:sldId id="2147479964" r:id="rId11"/>
    <p:sldId id="2147480000" r:id="rId12"/>
    <p:sldId id="2147480001" r:id="rId13"/>
    <p:sldId id="214747999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A313"/>
    <a:srgbClr val="1E5E0F"/>
    <a:srgbClr val="50DF00"/>
    <a:srgbClr val="008689"/>
    <a:srgbClr val="7D111C"/>
    <a:srgbClr val="BE8A8C"/>
    <a:srgbClr val="8A919A"/>
    <a:srgbClr val="C9CED4"/>
    <a:srgbClr val="06E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07"/>
    <p:restoredTop sz="96229"/>
  </p:normalViewPr>
  <p:slideViewPr>
    <p:cSldViewPr snapToGrid="0">
      <p:cViewPr>
        <p:scale>
          <a:sx n="31" d="100"/>
          <a:sy n="31" d="100"/>
        </p:scale>
        <p:origin x="3864" y="2112"/>
      </p:cViewPr>
      <p:guideLst/>
    </p:cSldViewPr>
  </p:slideViewPr>
  <p:outlineViewPr>
    <p:cViewPr>
      <p:scale>
        <a:sx n="40" d="100"/>
        <a:sy n="40" d="100"/>
      </p:scale>
      <p:origin x="0" y="0"/>
    </p:cViewPr>
  </p:outlineViewPr>
  <p:notesTextViewPr>
    <p:cViewPr>
      <p:scale>
        <a:sx n="55" d="100"/>
        <a:sy n="5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3"/>
          <c:y val="0.16"/>
          <c:w val="0.9"/>
          <c:h val="0.72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영역</c:v>
                </c:pt>
              </c:strCache>
            </c:strRef>
          </c:tx>
          <c:spPr>
            <a:gradFill>
              <a:gsLst>
                <a:gs pos="0">
                  <a:srgbClr val="B9F299">
                    <a:alpha val="85000"/>
                  </a:srgbClr>
                </a:gs>
                <a:gs pos="55000">
                  <a:srgbClr val="EEFCE6">
                    <a:alpha val="45000"/>
                  </a:srgbClr>
                </a:gs>
                <a:gs pos="100000">
                  <a:srgbClr val="EEFCE6">
                    <a:alpha val="0"/>
                  </a:srgbClr>
                </a:gs>
              </a:gsLst>
              <a:lin ang="5400000" scaled="0"/>
            </a:gradFill>
            <a:ln>
              <a:noFill/>
            </a:ln>
          </c:spPr>
          <c:cat>
            <c:strLit>
              <c:ptCount val="32"/>
              <c:pt idx="0">
                <c:v>8/30</c:v>
              </c:pt>
              <c:pt idx="5">
                <c:v>9/4</c:v>
              </c:pt>
              <c:pt idx="10">
                <c:v>9/9</c:v>
              </c:pt>
              <c:pt idx="15">
                <c:v>9/14</c:v>
              </c:pt>
              <c:pt idx="20">
                <c:v>9/19</c:v>
              </c:pt>
              <c:pt idx="25">
                <c:v>9/24</c:v>
              </c:pt>
              <c:pt idx="31">
                <c:v>9/30</c:v>
              </c:pt>
            </c:strLit>
          </c:cat>
          <c:val>
            <c:numLit>
              <c:formatCode>#,##0</c:formatCode>
              <c:ptCount val="32"/>
              <c:pt idx="0">
                <c:v>236476</c:v>
              </c:pt>
              <c:pt idx="1">
                <c:v>350371</c:v>
              </c:pt>
              <c:pt idx="2">
                <c:v>380054</c:v>
              </c:pt>
              <c:pt idx="3">
                <c:v>436805</c:v>
              </c:pt>
              <c:pt idx="4">
                <c:v>449716</c:v>
              </c:pt>
              <c:pt idx="5">
                <c:v>503880</c:v>
              </c:pt>
              <c:pt idx="6">
                <c:v>346723</c:v>
              </c:pt>
              <c:pt idx="7">
                <c:v>312856</c:v>
              </c:pt>
              <c:pt idx="8">
                <c:v>398920</c:v>
              </c:pt>
              <c:pt idx="9">
                <c:v>417126</c:v>
              </c:pt>
              <c:pt idx="10">
                <c:v>441432</c:v>
              </c:pt>
              <c:pt idx="11">
                <c:v>447476</c:v>
              </c:pt>
              <c:pt idx="12">
                <c:v>470188</c:v>
              </c:pt>
              <c:pt idx="13">
                <c:v>368398</c:v>
              </c:pt>
              <c:pt idx="14">
                <c:v>301279</c:v>
              </c:pt>
              <c:pt idx="15">
                <c:v>409466</c:v>
              </c:pt>
              <c:pt idx="16">
                <c:v>459193</c:v>
              </c:pt>
              <c:pt idx="17">
                <c:v>484405</c:v>
              </c:pt>
              <c:pt idx="18">
                <c:v>460325</c:v>
              </c:pt>
              <c:pt idx="19">
                <c:v>481204</c:v>
              </c:pt>
              <c:pt idx="20">
                <c:v>376412</c:v>
              </c:pt>
              <c:pt idx="21">
                <c:v>299983</c:v>
              </c:pt>
              <c:pt idx="22">
                <c:v>411195</c:v>
              </c:pt>
              <c:pt idx="23">
                <c:v>419491</c:v>
              </c:pt>
              <c:pt idx="24">
                <c:v>403598</c:v>
              </c:pt>
              <c:pt idx="25">
                <c:v>277948</c:v>
              </c:pt>
              <c:pt idx="26">
                <c:v>218959</c:v>
              </c:pt>
              <c:pt idx="27">
                <c:v>340436</c:v>
              </c:pt>
              <c:pt idx="28">
                <c:v>262917</c:v>
              </c:pt>
              <c:pt idx="29">
                <c:v>382034</c:v>
              </c:pt>
              <c:pt idx="30">
                <c:v>410268</c:v>
              </c:pt>
              <c:pt idx="31">
                <c:v>432281</c:v>
              </c:pt>
            </c:numLit>
          </c:val>
          <c:extLst>
            <c:ext xmlns:c16="http://schemas.microsoft.com/office/drawing/2014/chart" uri="{C3380CC4-5D6E-409C-BE32-E72D297353CC}">
              <c16:uniqueId val="{00000000-03F9-C246-9EBE-6231B38C0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11111"/>
        <c:axId val="222222222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일별 합산 유동인구</c:v>
                </c:pt>
              </c:strCache>
            </c:strRef>
          </c:tx>
          <c:spPr>
            <a:ln w="28575" cap="rnd">
              <a:gradFill>
                <a:gsLst>
                  <a:gs pos="0">
                    <a:srgbClr val="7BD11F"/>
                  </a:gs>
                  <a:gs pos="55000">
                    <a:srgbClr val="3FA313"/>
                  </a:gs>
                  <a:gs pos="100000">
                    <a:srgbClr val="1E5E0F"/>
                  </a:gs>
                </a:gsLst>
                <a:lin ang="0" scaled="0"/>
              </a:gradFill>
              <a:round/>
            </a:ln>
            <a:effectLst/>
          </c:spPr>
          <c:marker>
            <c:symbol val="circle"/>
            <c:size val="6"/>
            <c:spPr>
              <a:gradFill>
                <a:gsLst>
                  <a:gs pos="0">
                    <a:srgbClr val="7BD11F"/>
                  </a:gs>
                  <a:gs pos="55000">
                    <a:srgbClr val="3FA313"/>
                  </a:gs>
                  <a:gs pos="100000">
                    <a:srgbClr val="1E5E0F"/>
                  </a:gs>
                </a:gsLst>
                <a:lin ang="0" scaled="0"/>
              </a:gradFill>
              <a:ln>
                <a:noFill/>
              </a:ln>
            </c:spPr>
          </c:marker>
          <c:dLbls>
            <c:dLbl>
              <c:idx val="5"/>
              <c:layout>
                <c:manualLayout>
                  <c:x val="-4.797047970479705E-2"/>
                  <c:y val="-9.7777777777777783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 algn="ctr">
                      <a:defRPr sz="1200" b="1" i="0">
                        <a:gradFill>
                          <a:gsLst>
                            <a:gs pos="0">
                              <a:srgbClr val="7BD11F"/>
                            </a:gs>
                            <a:gs pos="55000">
                              <a:srgbClr val="3FA313"/>
                            </a:gs>
                            <a:gs pos="100000">
                              <a:srgbClr val="1E5E0F"/>
                            </a:gs>
                          </a:gsLst>
                          <a:lin ang="0" scaled="0"/>
                        </a:gra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en-US" altLang="ko-KR" sz="1200" b="1" i="0" dirty="0">
                        <a:gradFill>
                          <a:gsLst>
                            <a:gs pos="0">
                              <a:srgbClr val="7BD11F"/>
                            </a:gs>
                            <a:gs pos="55000">
                              <a:srgbClr val="3FA313"/>
                            </a:gs>
                            <a:gs pos="100000">
                              <a:srgbClr val="1E5E0F"/>
                            </a:gs>
                          </a:gsLst>
                          <a:lin ang="0" scaled="0"/>
                        </a:gra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503,880</a:t>
                    </a:r>
                  </a:p>
                  <a:p>
                    <a:pPr algn="ctr">
                      <a:defRPr sz="1200" b="1" i="0">
                        <a:gradFill>
                          <a:gsLst>
                            <a:gs pos="0">
                              <a:srgbClr val="7BD11F"/>
                            </a:gs>
                            <a:gs pos="55000">
                              <a:srgbClr val="3FA313"/>
                            </a:gs>
                            <a:gs pos="100000">
                              <a:srgbClr val="1E5E0F"/>
                            </a:gs>
                          </a:gsLst>
                          <a:lin ang="0" scaled="0"/>
                        </a:gra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900" b="0" i="0" dirty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최고점 </a:t>
                    </a:r>
                    <a:r>
                      <a:rPr lang="en-US" altLang="ko-KR" sz="900" b="0" i="0" dirty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9/4(</a:t>
                    </a:r>
                    <a:r>
                      <a:rPr lang="ko-KR" altLang="en-US" sz="900" b="0" i="0" dirty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금</a:t>
                    </a:r>
                    <a:r>
                      <a:rPr lang="en-US" altLang="ko-KR" sz="900" b="0" i="0" dirty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)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4E9-E341-93D6-99B44709B956}"/>
                </c:ext>
              </c:extLst>
            </c:dLbl>
            <c:dLbl>
              <c:idx val="26"/>
              <c:layout>
                <c:manualLayout>
                  <c:x val="4.2804428044280439E-3"/>
                  <c:y val="4.1111111111111029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 algn="ctr">
                      <a:defRPr sz="1200" b="1" i="0">
                        <a:gradFill>
                          <a:gsLst>
                            <a:gs pos="0">
                              <a:srgbClr val="7BD11F"/>
                            </a:gs>
                            <a:gs pos="55000">
                              <a:srgbClr val="3FA313"/>
                            </a:gs>
                            <a:gs pos="100000">
                              <a:srgbClr val="1E5E0F"/>
                            </a:gs>
                          </a:gsLst>
                          <a:lin ang="0" scaled="0"/>
                        </a:gra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en-US" altLang="ko-KR" sz="1200" b="1" i="0">
                        <a:gradFill>
                          <a:gsLst>
                            <a:gs pos="0">
                              <a:srgbClr val="7BD11F"/>
                            </a:gs>
                            <a:gs pos="55000">
                              <a:srgbClr val="3FA313"/>
                            </a:gs>
                            <a:gs pos="100000">
                              <a:srgbClr val="1E5E0F"/>
                            </a:gs>
                          </a:gsLst>
                          <a:lin ang="0" scaled="0"/>
                        </a:gra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218,959</a:t>
                    </a:r>
                  </a:p>
                  <a:p>
                    <a:pPr algn="ctr">
                      <a:defRPr sz="1200" b="1" i="0">
                        <a:gradFill>
                          <a:gsLst>
                            <a:gs pos="0">
                              <a:srgbClr val="7BD11F"/>
                            </a:gs>
                            <a:gs pos="55000">
                              <a:srgbClr val="3FA313"/>
                            </a:gs>
                            <a:gs pos="100000">
                              <a:srgbClr val="1E5E0F"/>
                            </a:gs>
                          </a:gsLst>
                          <a:lin ang="0" scaled="0"/>
                        </a:gra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r>
                      <a:rPr lang="ko-KR" altLang="en-US" sz="900" b="0" i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최저점 </a:t>
                    </a:r>
                    <a:r>
                      <a:rPr lang="en-US" altLang="ko-KR" sz="900" b="0" i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9/25(</a:t>
                    </a:r>
                    <a:r>
                      <a:rPr lang="ko-KR" altLang="en-US" sz="900" b="0" i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금</a:t>
                    </a:r>
                    <a:r>
                      <a:rPr lang="en-US" altLang="ko-KR" sz="900" b="0" i="0">
                        <a:solidFill>
                          <a:srgbClr val="80808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)</a:t>
                    </a:r>
                  </a:p>
                </c:rich>
              </c:tx>
              <c:numFmt formatCode="#,##0" sourceLinked="0"/>
              <c:spPr>
                <a:noFill/>
                <a:ln>
                  <a:noFill/>
                </a:ln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4E9-E341-93D6-99B44709B95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 i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32"/>
              <c:pt idx="0">
                <c:v>8/30</c:v>
              </c:pt>
              <c:pt idx="5">
                <c:v>9/4</c:v>
              </c:pt>
              <c:pt idx="10">
                <c:v>9/9</c:v>
              </c:pt>
              <c:pt idx="15">
                <c:v>9/14</c:v>
              </c:pt>
              <c:pt idx="20">
                <c:v>9/19</c:v>
              </c:pt>
              <c:pt idx="25">
                <c:v>9/24</c:v>
              </c:pt>
              <c:pt idx="31">
                <c:v>9/30</c:v>
              </c:pt>
            </c:strLit>
          </c:cat>
          <c:val>
            <c:numLit>
              <c:formatCode>#,##0</c:formatCode>
              <c:ptCount val="32"/>
              <c:pt idx="0">
                <c:v>236476</c:v>
              </c:pt>
              <c:pt idx="1">
                <c:v>350371</c:v>
              </c:pt>
              <c:pt idx="2">
                <c:v>380054</c:v>
              </c:pt>
              <c:pt idx="3">
                <c:v>436805</c:v>
              </c:pt>
              <c:pt idx="4">
                <c:v>449716</c:v>
              </c:pt>
              <c:pt idx="5">
                <c:v>503880</c:v>
              </c:pt>
              <c:pt idx="6">
                <c:v>346723</c:v>
              </c:pt>
              <c:pt idx="7">
                <c:v>312856</c:v>
              </c:pt>
              <c:pt idx="8">
                <c:v>398920</c:v>
              </c:pt>
              <c:pt idx="9">
                <c:v>417126</c:v>
              </c:pt>
              <c:pt idx="10">
                <c:v>441432</c:v>
              </c:pt>
              <c:pt idx="11">
                <c:v>447476</c:v>
              </c:pt>
              <c:pt idx="12">
                <c:v>470188</c:v>
              </c:pt>
              <c:pt idx="13">
                <c:v>368398</c:v>
              </c:pt>
              <c:pt idx="14">
                <c:v>301279</c:v>
              </c:pt>
              <c:pt idx="15">
                <c:v>409466</c:v>
              </c:pt>
              <c:pt idx="16">
                <c:v>459193</c:v>
              </c:pt>
              <c:pt idx="17">
                <c:v>484405</c:v>
              </c:pt>
              <c:pt idx="18">
                <c:v>460325</c:v>
              </c:pt>
              <c:pt idx="19">
                <c:v>481204</c:v>
              </c:pt>
              <c:pt idx="20">
                <c:v>376412</c:v>
              </c:pt>
              <c:pt idx="21">
                <c:v>299983</c:v>
              </c:pt>
              <c:pt idx="22">
                <c:v>411195</c:v>
              </c:pt>
              <c:pt idx="23">
                <c:v>419491</c:v>
              </c:pt>
              <c:pt idx="24">
                <c:v>403598</c:v>
              </c:pt>
              <c:pt idx="25">
                <c:v>277948</c:v>
              </c:pt>
              <c:pt idx="26">
                <c:v>218959</c:v>
              </c:pt>
              <c:pt idx="27">
                <c:v>340436</c:v>
              </c:pt>
              <c:pt idx="28">
                <c:v>262917</c:v>
              </c:pt>
              <c:pt idx="29">
                <c:v>382034</c:v>
              </c:pt>
              <c:pt idx="30">
                <c:v>410268</c:v>
              </c:pt>
              <c:pt idx="31">
                <c:v>432281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8-03F9-C246-9EBE-6231B38C08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>
              <a:solidFill>
                <a:srgbClr val="A2EE73"/>
              </a:solidFill>
              <a:prstDash val="dash"/>
            </a:ln>
          </c:spPr>
        </c:dropLines>
        <c:marker val="1"/>
        <c:smooth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E5E7EB"/>
            </a:solidFill>
          </a:ln>
        </c:spPr>
        <c:txPr>
          <a:bodyPr/>
          <a:lstStyle/>
          <a:p>
            <a:pPr>
              <a:defRPr sz="1000" b="0">
                <a:solidFill>
                  <a:srgbClr val="9AA4AF"/>
                </a:solidFill>
                <a:latin typeface="JTBC Gothic Regular"/>
              </a:defRPr>
            </a:pPr>
            <a:endParaRPr lang="ko-KR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550000"/>
          <c:min val="150000"/>
        </c:scaling>
        <c:delete val="1"/>
        <c:axPos val="l"/>
        <c:numFmt formatCode="#,##0" sourceLinked="0"/>
        <c:majorTickMark val="none"/>
        <c:minorTickMark val="none"/>
        <c:tickLblPos val="none"/>
        <c:crossAx val="111111111"/>
        <c:crosses val="autoZero"/>
        <c:crossBetween val="midCat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 sz="1100">
          <a:latin typeface="JTBC Gothic Regular"/>
        </a:defRPr>
      </a:pPr>
      <a:endParaRPr lang="ko-KR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2"/>
          <c:w val="0.96"/>
          <c:h val="0.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연령대 비중</c:v>
                </c:pt>
              </c:strCache>
            </c:strRef>
          </c:tx>
          <c:spPr>
            <a:gradFill>
              <a:gsLst>
                <a:gs pos="0">
                  <a:srgbClr val="C9CED4"/>
                </a:gs>
                <a:gs pos="55000">
                  <a:srgbClr val="A8AEB6"/>
                </a:gs>
                <a:gs pos="100000">
                  <a:srgbClr val="8A919A"/>
                </a:gs>
              </a:gsLst>
              <a:lin ang="5400000" scaled="0"/>
            </a:gra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rgbClr val="7BD11F"/>
                  </a:gs>
                  <a:gs pos="55000">
                    <a:srgbClr val="3FA313"/>
                  </a:gs>
                  <a:gs pos="100000">
                    <a:srgbClr val="1E5E0F"/>
                  </a:gs>
                </a:gsLst>
                <a:lin ang="5400000" scaled="0"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06E-8842-A090-98A122665E67}"/>
              </c:ext>
            </c:extLst>
          </c:dPt>
          <c:dPt>
            <c:idx val="1"/>
            <c:invertIfNegative val="0"/>
            <c:bubble3D val="0"/>
            <c:spPr>
              <a:gradFill>
                <a:gsLst>
                  <a:gs pos="0">
                    <a:srgbClr val="7BD11F"/>
                  </a:gs>
                  <a:gs pos="55000">
                    <a:srgbClr val="3FA313"/>
                  </a:gs>
                  <a:gs pos="100000">
                    <a:srgbClr val="1E5E0F"/>
                  </a:gs>
                </a:gsLst>
                <a:lin ang="5400000" scaled="0"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06E-8842-A090-98A122665E67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rgbClr val="C9CED4"/>
                  </a:gs>
                  <a:gs pos="100000">
                    <a:srgbClr val="8A919A"/>
                  </a:gs>
                </a:gsLst>
                <a:lin ang="16200000" scaled="1"/>
                <a:tileRect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06E-8842-A090-98A122665E67}"/>
              </c:ext>
            </c:extLst>
          </c:dPt>
          <c:dPt>
            <c:idx val="3"/>
            <c:invertIfNegative val="0"/>
            <c:bubble3D val="0"/>
            <c:spPr>
              <a:gradFill flip="none" rotWithShape="1">
                <a:gsLst>
                  <a:gs pos="0">
                    <a:srgbClr val="C9CED4"/>
                  </a:gs>
                  <a:gs pos="100000">
                    <a:srgbClr val="8A919A"/>
                  </a:gs>
                </a:gsLst>
                <a:lin ang="16200000" scaled="1"/>
                <a:tileRect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06E-8842-A090-98A122665E67}"/>
              </c:ext>
            </c:extLst>
          </c:dPt>
          <c:dPt>
            <c:idx val="4"/>
            <c:invertIfNegative val="0"/>
            <c:bubble3D val="0"/>
            <c:spPr>
              <a:gradFill flip="none" rotWithShape="1">
                <a:gsLst>
                  <a:gs pos="0">
                    <a:srgbClr val="C9CED4"/>
                  </a:gs>
                  <a:gs pos="100000">
                    <a:srgbClr val="8A919A"/>
                  </a:gs>
                </a:gsLst>
                <a:lin ang="16200000" scaled="1"/>
                <a:tileRect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E06E-8842-A090-98A122665E67}"/>
              </c:ext>
            </c:extLst>
          </c:dPt>
          <c:dPt>
            <c:idx val="5"/>
            <c:invertIfNegative val="0"/>
            <c:bubble3D val="0"/>
            <c:spPr>
              <a:gradFill flip="none" rotWithShape="1">
                <a:gsLst>
                  <a:gs pos="0">
                    <a:srgbClr val="C9CED4"/>
                  </a:gs>
                  <a:gs pos="100000">
                    <a:srgbClr val="8A919A"/>
                  </a:gs>
                </a:gsLst>
                <a:lin ang="16200000" scaled="1"/>
                <a:tileRect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E06E-8842-A090-98A122665E67}"/>
              </c:ext>
            </c:extLst>
          </c:dPt>
          <c:dPt>
            <c:idx val="6"/>
            <c:invertIfNegative val="0"/>
            <c:bubble3D val="0"/>
            <c:spPr>
              <a:gradFill>
                <a:gsLst>
                  <a:gs pos="100000">
                    <a:srgbClr val="C9CED4"/>
                  </a:gs>
                  <a:gs pos="0">
                    <a:srgbClr val="8A919A"/>
                  </a:gs>
                </a:gsLst>
                <a:lin ang="5400000" scaled="0"/>
              </a:gra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E06E-8842-A090-98A122665E67}"/>
              </c:ext>
            </c:extLst>
          </c:dPt>
          <c:dLbls>
            <c:dLbl>
              <c:idx val="0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gradFill>
                        <a:gsLst>
                          <a:gs pos="0">
                            <a:srgbClr val="7BD11F"/>
                          </a:gs>
                          <a:gs pos="55000">
                            <a:srgbClr val="3FA313"/>
                          </a:gs>
                          <a:gs pos="100000">
                            <a:srgbClr val="1E5E0F"/>
                          </a:gs>
                        </a:gsLst>
                        <a:lin ang="5400000" scaled="0"/>
                      </a:gradFill>
                      <a:latin typeface="JTBC Gothic Bold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06E-8842-A090-98A122665E67}"/>
                </c:ext>
              </c:extLst>
            </c:dLbl>
            <c:dLbl>
              <c:idx val="1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400" b="1">
                      <a:gradFill>
                        <a:gsLst>
                          <a:gs pos="0">
                            <a:srgbClr val="7BD11F"/>
                          </a:gs>
                          <a:gs pos="55000">
                            <a:srgbClr val="3FA313"/>
                          </a:gs>
                          <a:gs pos="100000">
                            <a:srgbClr val="1E5E0F"/>
                          </a:gs>
                        </a:gsLst>
                        <a:lin ang="5400000" scaled="0"/>
                      </a:gradFill>
                      <a:latin typeface="JTBC Gothic Bold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06E-8842-A090-98A122665E67}"/>
                </c:ext>
              </c:extLst>
            </c:dLbl>
            <c:dLbl>
              <c:idx val="2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0">
                      <a:solidFill>
                        <a:srgbClr val="9AA4AF"/>
                      </a:solidFill>
                      <a:latin typeface="JTBC Gothic Regular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06E-8842-A090-98A122665E67}"/>
                </c:ext>
              </c:extLst>
            </c:dLbl>
            <c:dLbl>
              <c:idx val="3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0">
                      <a:solidFill>
                        <a:srgbClr val="9AA4AF"/>
                      </a:solidFill>
                      <a:latin typeface="JTBC Gothic Regular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06E-8842-A090-98A122665E67}"/>
                </c:ext>
              </c:extLst>
            </c:dLbl>
            <c:dLbl>
              <c:idx val="4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0">
                      <a:solidFill>
                        <a:srgbClr val="9AA4AF"/>
                      </a:solidFill>
                      <a:latin typeface="JTBC Gothic Regular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06E-8842-A090-98A122665E67}"/>
                </c:ext>
              </c:extLst>
            </c:dLbl>
            <c:dLbl>
              <c:idx val="5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0">
                      <a:solidFill>
                        <a:srgbClr val="9AA4AF"/>
                      </a:solidFill>
                      <a:latin typeface="JTBC Gothic Regular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06E-8842-A090-98A122665E67}"/>
                </c:ext>
              </c:extLst>
            </c:dLbl>
            <c:dLbl>
              <c:idx val="6"/>
              <c:numFmt formatCode="0&quot;%&quot;" sourceLinked="0"/>
              <c:spPr>
                <a:noFill/>
                <a:ln>
                  <a:noFill/>
                </a:ln>
              </c:spPr>
              <c:txPr>
                <a:bodyPr/>
                <a:lstStyle/>
                <a:p>
                  <a:pPr>
                    <a:defRPr sz="1100" b="0">
                      <a:solidFill>
                        <a:srgbClr val="9AA4AF"/>
                      </a:solidFill>
                      <a:latin typeface="JTBC Gothic Regular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06E-8842-A090-98A122665E6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Lit>
              <c:ptCount val="7"/>
              <c:pt idx="0">
                <c:v>10대</c:v>
              </c:pt>
              <c:pt idx="1">
                <c:v>20대</c:v>
              </c:pt>
              <c:pt idx="2">
                <c:v>30대</c:v>
              </c:pt>
              <c:pt idx="3">
                <c:v>40대</c:v>
              </c:pt>
              <c:pt idx="4">
                <c:v>50대</c:v>
              </c:pt>
              <c:pt idx="5">
                <c:v>60대</c:v>
              </c:pt>
              <c:pt idx="6">
                <c:v>70대+</c:v>
              </c:pt>
            </c:strLit>
          </c:cat>
          <c:val>
            <c:numLit>
              <c:formatCode>0"%"</c:formatCode>
              <c:ptCount val="7"/>
              <c:pt idx="0">
                <c:v>4</c:v>
              </c:pt>
              <c:pt idx="1">
                <c:v>17</c:v>
              </c:pt>
              <c:pt idx="2">
                <c:v>18</c:v>
              </c:pt>
              <c:pt idx="3">
                <c:v>22</c:v>
              </c:pt>
              <c:pt idx="4">
                <c:v>19</c:v>
              </c:pt>
              <c:pt idx="5">
                <c:v>13</c:v>
              </c:pt>
              <c:pt idx="6">
                <c:v>7</c:v>
              </c:pt>
            </c:numLit>
          </c:val>
          <c:extLst>
            <c:ext xmlns:c16="http://schemas.microsoft.com/office/drawing/2014/chart" uri="{C3380CC4-5D6E-409C-BE32-E72D297353CC}">
              <c16:uniqueId val="{0000000E-E06E-8842-A090-98A122665E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311111111"/>
        <c:axId val="322222222"/>
      </c:barChart>
      <c:catAx>
        <c:axId val="3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9AA4AF"/>
                </a:solidFill>
                <a:latin typeface="JTBC Gothic Regular"/>
              </a:defRPr>
            </a:pPr>
            <a:endParaRPr lang="ko-KR"/>
          </a:p>
        </c:txPr>
        <c:crossAx val="322222222"/>
        <c:crosses val="autoZero"/>
        <c:auto val="1"/>
        <c:lblAlgn val="ctr"/>
        <c:lblOffset val="100"/>
        <c:noMultiLvlLbl val="0"/>
      </c:catAx>
      <c:valAx>
        <c:axId val="322222222"/>
        <c:scaling>
          <c:orientation val="minMax"/>
          <c:max val="26"/>
          <c:min val="0"/>
        </c:scaling>
        <c:delete val="1"/>
        <c:axPos val="l"/>
        <c:numFmt formatCode="0&quot;%&quot;" sourceLinked="1"/>
        <c:majorTickMark val="none"/>
        <c:minorTickMark val="none"/>
        <c:tickLblPos val="none"/>
        <c:crossAx val="31111111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판매</c:v>
                </c:pt>
              </c:strCache>
            </c:strRef>
          </c:tx>
          <c:dPt>
            <c:idx val="0"/>
            <c:bubble3D val="0"/>
            <c:spPr>
              <a:gradFill>
                <a:gsLst>
                  <a:gs pos="0">
                    <a:srgbClr val="B9F299"/>
                  </a:gs>
                  <a:gs pos="100000">
                    <a:srgbClr val="E6FAD9"/>
                  </a:gs>
                </a:gsLst>
                <a:lin ang="2700000" scaled="0"/>
              </a:gra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AF9C-C146-A913-F28D1B001EF9}"/>
              </c:ext>
            </c:extLst>
          </c:dPt>
          <c:dPt>
            <c:idx val="1"/>
            <c:bubble3D val="0"/>
            <c:spPr>
              <a:gradFill>
                <a:gsLst>
                  <a:gs pos="0">
                    <a:srgbClr val="7BD11F"/>
                  </a:gs>
                  <a:gs pos="55000">
                    <a:srgbClr val="3FA313"/>
                  </a:gs>
                  <a:gs pos="100000">
                    <a:srgbClr val="1E5E0F"/>
                  </a:gs>
                </a:gsLst>
                <a:lin ang="0" scaled="0"/>
              </a:gradFill>
              <a:ln w="1905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AF9C-C146-A913-F28D1B001EF9}"/>
              </c:ext>
            </c:extLst>
          </c:dPt>
          <c:cat>
            <c:strRef>
              <c:f>Sheet1!$A$2:$A$3</c:f>
              <c:strCache>
                <c:ptCount val="2"/>
                <c:pt idx="0">
                  <c:v>남성</c:v>
                </c:pt>
                <c:pt idx="1">
                  <c:v>여성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0.53200000000000003</c:v>
                </c:pt>
                <c:pt idx="1">
                  <c:v>0.46800000000000003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9C-C146-A913-F28D1B001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8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ore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267C6F-B5E7-E04E-BFAC-FF9B3AF37334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8DBB5-222D-9A48-BCAB-262B44D7FD2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288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546D-C453-F076-4FF2-47BEA2B2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F28698-6C60-E188-2B70-42FB7A881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28A31D-3A1C-F015-234F-C2BEAEB396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20E26B-C43F-7A1E-A34F-3421183B9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F570FD-9EB3-6C42-9E1E-F223AF15C938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7343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550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07307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F08C1-8D70-F6AD-6935-7FCA1043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4837A4-5519-0534-E89E-1ED6272FA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49B648-4DEC-F717-86C2-C2378F266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1B7BB9-C198-882D-C198-4C6479AFC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96865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4124-B8C9-51D3-7587-761623D78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EA14DE-2E94-28DB-8194-DCB1947A3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A9CAF9-F4DE-96A5-3937-A6DEAC2BB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916FA-AC3B-B497-F55B-9574A90AB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89915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76738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576951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9AB4B-F37A-6425-FDC1-A4C905AC6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5A5B83-CBA9-9155-1522-4FF209E61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754531-BBA5-F7CD-281A-EDC744848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47C0BF-EEF7-AECD-7EEF-411871248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0438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19564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B07A-2BFC-7EFD-CA62-B83B1F8D7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44A924-D84F-B3AC-9009-41D2A0B05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6384B4-1845-0E89-32F0-DC57C9AE6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DA86D6-48F7-0E48-E69D-27CA013CA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23185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7DBCC-11D0-BEAF-13FB-B0C720687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649D56-7875-3BF0-49BB-194619A1D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4DE20E-37AD-600A-E065-E6683C0D6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CAE150-7664-8269-3611-2C04A2645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A3D7C-F187-8F4F-8FF1-6030B30179F2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78281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868D4-251A-3DAA-74C0-F4E8A7B2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7ED462-8ED5-9E21-F004-48A261544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1EFC6B-1FEB-CE68-D27F-7DB18CC82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2734A-FA36-1CDF-5A9E-C3F31AC5B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F570FD-9EB3-6C42-9E1E-F223AF15C938}" type="slidenum">
              <a:rPr kumimoji="1" lang="ko-Kore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ko-Kore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505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9437D-408F-0204-B587-2F68D000E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E018B17-385C-8BA4-0BD3-BAF8A9A77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96D967-7E90-4721-1479-10BD3E30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17306D-9ABB-BCC7-08E8-2C8D4EC9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6026DD-F25D-E985-1C50-60842B0F4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46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AD0EA-452A-471D-C785-DF497B23C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B342D4-D099-3522-2E21-79D99F6B9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70069F-6474-71D2-014F-F27EC3E2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4F267C-E3B1-4FC6-9596-D1A22A072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0D282C-2E9B-4666-DCB1-F7C199E8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9790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51357-FBD3-82B5-E2DB-58D5A8FDF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D2F230-3F58-3A35-4FF3-94DC6C5BE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22072-BC68-A5C0-2C21-682ADE16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29FFF-0A44-769F-5393-A2886EB6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0DA8A8-C882-D34C-0C0D-D09E1BBC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6864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DA5DA-0FC3-18BA-9BA3-BA538698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52795F-180D-122D-4A95-0152FE2A5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ADE901-75F5-5304-9A8D-38ADC9385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79AEAA-ACA5-CA11-2542-BDB1ADC2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0A7DFE-499D-653D-9564-FDF5AE28F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7B2CC2-CDAA-AC03-4DC0-8CD9BC045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9985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16D44-809B-9E3A-FF9E-553CF04D8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B6FF17-E722-99AF-9912-93093F617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5070A2-4657-E286-6F23-04557852A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947B12-DBB7-7B1F-2863-521CF66BA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CE4405-CCAB-9767-FED0-3EDEEF5EF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B8E11A-D57F-C47B-2AC5-0B675233E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6545D66-5FC2-907A-EEE3-AA98ABD7A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1DFB4E-531D-9956-5B3D-722D0F5B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04829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7FDFB-7EE6-48F4-5F61-80A0FA666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55AD0D6-6A9D-CC60-29F3-24190AF8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848A88D-C568-717A-DFE0-3E679837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A2C299-3FF5-17E2-A2F6-1AE7CBCB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528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97139B-64DF-B394-FF80-8EC446AE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2BDADC-AF72-7456-0957-E7251825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0351C-0292-ED6F-4D18-88EA2916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592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66707E-62B2-3D68-E5BA-5C2BB36E8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A4CB7-25DC-6D89-8D09-697ED2CF7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C78D23-E784-0859-D9FD-0795FF431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AD36CB-9D11-41E2-E3C6-8DFC64F3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1B109-0BA7-CED7-E60A-79CE150A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AFFE4B-6ADB-5872-5976-066ECE445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7357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60271-2C19-A18A-2D1C-DFE379F2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B32846-13F3-9933-9F2A-72607319F8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E6A0D4-76CF-5A4D-0382-6913515A2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822FA6-EA64-84B7-D0F4-C0E3D84B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5E944F-31C3-8BA1-8843-C60D3FFCC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84ECB3-2B06-7B8F-6A6B-2F9F2F95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2769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C24CF-9148-C60A-99AF-DF21B445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CB1654-3066-2887-E194-25AC5D476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677F60-B116-C7B7-BBE6-DEBBC0B74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AC848D-7F3A-6377-827D-5C029469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7D7B30-9557-58ED-D78A-164096B8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573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C6289F-9C1B-2C3F-D5B7-543A5096F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944D1F-8C5B-1898-4282-05C4FC9D5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186147-61B5-B0B3-C08B-F70DBFD3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E0782-D044-B5D8-6E6B-DD8340AA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C2AEB8-C7D7-B328-ED4C-498E0395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956927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579653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310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F3764B-1183-B795-6BEA-9347E9DB1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D07FFE-4DBB-8E6E-6250-F04C03326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950AAB-19F1-64C7-B099-8BA7C6647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919C4-5A06-164D-85D6-982585A479E9}" type="datetimeFigureOut">
              <a:rPr kumimoji="1" lang="ko-KR" altLang="en-US" smtClean="0"/>
              <a:t>2026. 10. 19.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481776-76AA-B14D-2D1C-3AAEBDFA0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D68264-4653-AE06-FC81-244CF3782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85A90-136A-CC4A-87D5-5E205672BF8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37439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5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docs.google.com/spreadsheets/d/e/2PACX-1vSoCtBD6BHEmCkSGDe3hG_R4cgX9KPW5SmhK4iX7sejczzx-afkfoggisqEezEVYzq8gylHeuQato9J/pub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BD11F"/>
            </a:gs>
            <a:gs pos="55000">
              <a:srgbClr val="3FA313"/>
            </a:gs>
            <a:gs pos="100000">
              <a:srgbClr val="1E5E0F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FB93D-D8CC-5CC3-9BF9-D8AE2D1DB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esign and Brand Guidelines">
            <a:extLst>
              <a:ext uri="{FF2B5EF4-FFF2-40B4-BE49-F238E27FC236}">
                <a16:creationId xmlns:a16="http://schemas.microsoft.com/office/drawing/2014/main" id="{E7A37FF7-9A29-D9DC-98E8-A313B1424C2D}"/>
              </a:ext>
            </a:extLst>
          </p:cNvPr>
          <p:cNvSpPr txBox="1"/>
          <p:nvPr/>
        </p:nvSpPr>
        <p:spPr>
          <a:xfrm>
            <a:off x="4181521" y="3625101"/>
            <a:ext cx="3828959" cy="488788"/>
          </a:xfrm>
          <a:prstGeom prst="rect">
            <a:avLst/>
          </a:prstGeom>
          <a:ln w="12700"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>
            <a:spAutoFit/>
          </a:bodyPr>
          <a:lstStyle>
            <a:lvl1pPr>
              <a:buFont typeface="Arial"/>
              <a:defRPr sz="5000" b="0" cap="all" spc="50" baseline="0">
                <a:latin typeface="+mn-lt"/>
                <a:ea typeface="+mn-ea"/>
                <a:cs typeface="+mn-cs"/>
                <a:sym typeface="Montserrat Bold"/>
              </a:defRPr>
            </a:lvl1pPr>
          </a:lstStyle>
          <a:p>
            <a:pPr algn="ctr">
              <a:lnSpc>
                <a:spcPct val="130000"/>
              </a:lnSpc>
              <a:defRPr/>
            </a:pPr>
            <a:r>
              <a:rPr kumimoji="1" lang="ko-KR" altLang="en-US" sz="2300" cap="none" spc="-150" dirty="0" err="1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룩스</a:t>
            </a:r>
            <a:r>
              <a:rPr kumimoji="1" lang="en" altLang="ko-KR" sz="2300" cap="none" spc="-15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(LUUX)</a:t>
            </a:r>
            <a:r>
              <a:rPr kumimoji="1" lang="en-US" altLang="ko-KR" sz="2300" cap="none" spc="-15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kumimoji="1" lang="ko-KR" altLang="en-US" sz="2300" cap="none" spc="-15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광고 결과 보고서</a:t>
            </a:r>
            <a:endParaRPr kumimoji="1" lang="en-US" altLang="ko-KR" sz="2300" cap="none" spc="-15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CE1593-AEDE-4423-D68F-437C42927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5728" y="2744111"/>
            <a:ext cx="4700545" cy="77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BF0EF5-281F-D559-A066-077C01D989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54917" y="5975595"/>
            <a:ext cx="3682166" cy="26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8236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A4839C-7D65-5691-A8A9-340EE5B0CB2C}"/>
              </a:ext>
            </a:extLst>
          </p:cNvPr>
          <p:cNvSpPr txBox="1"/>
          <p:nvPr/>
        </p:nvSpPr>
        <p:spPr>
          <a:xfrm>
            <a:off x="500316" y="1148121"/>
            <a:ext cx="2964779" cy="553998"/>
          </a:xfrm>
          <a:prstGeom prst="rect">
            <a:avLst/>
          </a:prstGeom>
          <a:noFill/>
        </p:spPr>
        <p:txBody>
          <a:bodyPr wrap="square" lIns="90000" tIns="0" rIns="90000" bIns="0" rtlCol="0">
            <a:spAutoFit/>
          </a:bodyPr>
          <a:lstStyle/>
          <a:p>
            <a:r>
              <a:rPr lang="en-US" altLang="ko-KR" sz="36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Contents</a:t>
            </a:r>
            <a:endParaRPr lang="en-US" sz="3600" b="1" dirty="0">
              <a:gradFill>
                <a:gsLst>
                  <a:gs pos="0">
                    <a:srgbClr val="7BD11F"/>
                  </a:gs>
                  <a:gs pos="55000">
                    <a:srgbClr val="3FA313"/>
                  </a:gs>
                  <a:gs pos="100000">
                    <a:srgbClr val="1E5E0F"/>
                  </a:gs>
                </a:gsLst>
                <a:lin ang="0" scaled="0"/>
              </a:gra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948FC-C954-B1D3-49FD-A21BA8B5788E}"/>
              </a:ext>
            </a:extLst>
          </p:cNvPr>
          <p:cNvSpPr txBox="1"/>
          <p:nvPr/>
        </p:nvSpPr>
        <p:spPr>
          <a:xfrm>
            <a:off x="500316" y="1702119"/>
            <a:ext cx="25412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pc="-7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CJ올리브영</a:t>
            </a:r>
            <a:r>
              <a:rPr lang="ko-KR" altLang="en-US" sz="1000" spc="-7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lang="ko-KR" altLang="en-US" sz="1000" spc="-7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1000" spc="-7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(</a:t>
            </a:r>
            <a:r>
              <a:rPr lang="en" altLang="ko-KR" sz="1000" spc="-7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LUUX) </a:t>
            </a:r>
            <a:r>
              <a:rPr lang="ko-KR" altLang="en-US" sz="1000" spc="-7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</a:t>
            </a:r>
          </a:p>
        </p:txBody>
      </p: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A14E380A-8919-845C-2739-8B41C27E7983}"/>
              </a:ext>
            </a:extLst>
          </p:cNvPr>
          <p:cNvCxnSpPr>
            <a:cxnSpLocks/>
          </p:cNvCxnSpPr>
          <p:nvPr/>
        </p:nvCxnSpPr>
        <p:spPr>
          <a:xfrm>
            <a:off x="6116643" y="3350386"/>
            <a:ext cx="6096000" cy="0"/>
          </a:xfrm>
          <a:prstGeom prst="line">
            <a:avLst/>
          </a:prstGeom>
          <a:ln w="9525">
            <a:gradFill>
              <a:gsLst>
                <a:gs pos="0">
                  <a:srgbClr val="7BD11F"/>
                </a:gs>
                <a:gs pos="55000">
                  <a:srgbClr val="3FA313"/>
                </a:gs>
                <a:gs pos="100000">
                  <a:srgbClr val="1E5E0F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A791053-B5AD-C1B0-36A7-5C90942AAE7E}"/>
              </a:ext>
            </a:extLst>
          </p:cNvPr>
          <p:cNvSpPr txBox="1"/>
          <p:nvPr/>
        </p:nvSpPr>
        <p:spPr>
          <a:xfrm>
            <a:off x="6097140" y="2302816"/>
            <a:ext cx="1836650" cy="215444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en-US" altLang="ko-KR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Ⅰ</a:t>
            </a:r>
            <a:r>
              <a:rPr kumimoji="1" lang="ko-KR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    결과보고 요약</a:t>
            </a:r>
            <a:endParaRPr kumimoji="1" lang="ko-Kore-KR" altLang="en-US" sz="14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FC9EEA-E695-EE52-EAF3-B8E6A2A4E4C2}"/>
              </a:ext>
            </a:extLst>
          </p:cNvPr>
          <p:cNvSpPr txBox="1"/>
          <p:nvPr/>
        </p:nvSpPr>
        <p:spPr>
          <a:xfrm>
            <a:off x="6163129" y="2581750"/>
            <a:ext cx="2482211" cy="442429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01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  결과보고 </a:t>
            </a:r>
            <a:r>
              <a:rPr lang="en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SUMMARY</a:t>
            </a:r>
            <a:endParaRPr lang="en-US" altLang="ko-KR" sz="1000" spc="-80" dirty="0">
              <a:solidFill>
                <a:srgbClr val="514E4F"/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Light" panose="00000400000000000000" pitchFamily="2" charset="0"/>
            </a:endParaRPr>
          </a:p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02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</a:t>
            </a: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현장사진</a:t>
            </a:r>
            <a:endParaRPr lang="en-US" altLang="ko-KR" sz="1000" spc="-80" dirty="0">
              <a:solidFill>
                <a:srgbClr val="514E4F"/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Light" panose="000004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BE3017-8B08-5093-642C-504FDDA07DBC}"/>
              </a:ext>
            </a:extLst>
          </p:cNvPr>
          <p:cNvSpPr txBox="1"/>
          <p:nvPr/>
        </p:nvSpPr>
        <p:spPr>
          <a:xfrm>
            <a:off x="6096000" y="3694593"/>
            <a:ext cx="3009900" cy="215444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pPr>
              <a:tabLst>
                <a:tab pos="301625" algn="l"/>
              </a:tabLst>
            </a:pPr>
            <a:r>
              <a:rPr kumimoji="1" lang="en-US" altLang="ko-KR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Ⅱ      </a:t>
            </a:r>
            <a:r>
              <a:rPr kumimoji="1" lang="ko-KR" altLang="en-US" sz="1400" b="1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오디언스</a:t>
            </a:r>
            <a:r>
              <a:rPr kumimoji="1" lang="ko-KR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타겟팅</a:t>
            </a:r>
            <a:endParaRPr kumimoji="1" lang="ko-Kore-KR" altLang="en-US" sz="14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79C760-A0C2-2DDD-2966-6C15523B637D}"/>
              </a:ext>
            </a:extLst>
          </p:cNvPr>
          <p:cNvSpPr txBox="1"/>
          <p:nvPr/>
        </p:nvSpPr>
        <p:spPr>
          <a:xfrm>
            <a:off x="6163129" y="3937526"/>
            <a:ext cx="3050102" cy="435056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01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  총 유동인구</a:t>
            </a:r>
          </a:p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02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  연령대별 및 성별 유동인구</a:t>
            </a:r>
          </a:p>
        </p:txBody>
      </p: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CB1AB1C9-8411-8721-D9EE-1DA8C5F737E7}"/>
              </a:ext>
            </a:extLst>
          </p:cNvPr>
          <p:cNvCxnSpPr>
            <a:cxnSpLocks/>
          </p:cNvCxnSpPr>
          <p:nvPr/>
        </p:nvCxnSpPr>
        <p:spPr>
          <a:xfrm>
            <a:off x="6116643" y="4724162"/>
            <a:ext cx="6096000" cy="0"/>
          </a:xfrm>
          <a:prstGeom prst="line">
            <a:avLst/>
          </a:prstGeom>
          <a:ln w="9525">
            <a:gradFill>
              <a:gsLst>
                <a:gs pos="0">
                  <a:srgbClr val="7BD11F"/>
                </a:gs>
                <a:gs pos="55000">
                  <a:srgbClr val="3FA313"/>
                </a:gs>
                <a:gs pos="100000">
                  <a:srgbClr val="1E5E0F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67B5379-21A7-BE3C-A23B-6D202D8DC1C1}"/>
              </a:ext>
            </a:extLst>
          </p:cNvPr>
          <p:cNvSpPr txBox="1"/>
          <p:nvPr/>
        </p:nvSpPr>
        <p:spPr>
          <a:xfrm>
            <a:off x="6163129" y="4907948"/>
            <a:ext cx="4224134" cy="153888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pPr>
              <a:tabLst>
                <a:tab pos="301625" algn="l"/>
              </a:tabLst>
            </a:pPr>
            <a:r>
              <a:rPr kumimoji="1" lang="en-US" altLang="ko-KR" sz="10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APPENDIX</a:t>
            </a:r>
            <a:r>
              <a:rPr kumimoji="1" lang="ko-KR" altLang="en-US" sz="10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    데이터 추출 기준 </a:t>
            </a:r>
            <a:r>
              <a:rPr kumimoji="1" lang="en-US" altLang="ko-KR" sz="10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/</a:t>
            </a:r>
            <a:r>
              <a:rPr kumimoji="1" lang="ko-KR" altLang="en-US" sz="10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일별 편성 횟수</a:t>
            </a:r>
            <a:endParaRPr kumimoji="1" lang="ko-Kore-KR" altLang="en-US" sz="10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cxnSp>
        <p:nvCxnSpPr>
          <p:cNvPr id="15" name="직선 연결선[R] 21">
            <a:extLst>
              <a:ext uri="{FF2B5EF4-FFF2-40B4-BE49-F238E27FC236}">
                <a16:creationId xmlns:a16="http://schemas.microsoft.com/office/drawing/2014/main" id="{8E2F0F5E-D05A-49D7-9629-F1162F928F22}"/>
              </a:ext>
            </a:extLst>
          </p:cNvPr>
          <p:cNvCxnSpPr>
            <a:cxnSpLocks/>
          </p:cNvCxnSpPr>
          <p:nvPr/>
        </p:nvCxnSpPr>
        <p:spPr>
          <a:xfrm>
            <a:off x="6116643" y="1976610"/>
            <a:ext cx="6096000" cy="0"/>
          </a:xfrm>
          <a:prstGeom prst="line">
            <a:avLst/>
          </a:prstGeom>
          <a:ln w="9525">
            <a:gradFill>
              <a:gsLst>
                <a:gs pos="0">
                  <a:srgbClr val="7BD11F"/>
                </a:gs>
                <a:gs pos="55000">
                  <a:srgbClr val="3FA313"/>
                </a:gs>
                <a:gs pos="100000">
                  <a:srgbClr val="1E5E0F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52285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0BE3017-8B08-5093-642C-504FDDA07DBC}"/>
              </a:ext>
            </a:extLst>
          </p:cNvPr>
          <p:cNvSpPr txBox="1"/>
          <p:nvPr/>
        </p:nvSpPr>
        <p:spPr>
          <a:xfrm>
            <a:off x="434199" y="2791218"/>
            <a:ext cx="2018811" cy="215444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pPr>
              <a:tabLst>
                <a:tab pos="301625" algn="l"/>
              </a:tabLst>
            </a:pPr>
            <a:r>
              <a:rPr kumimoji="1" lang="en-US" altLang="ko-KR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Ⅰ    </a:t>
            </a:r>
            <a:r>
              <a:rPr kumimoji="1" lang="ko-KR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결과보고 요약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79C760-A0C2-2DDD-2966-6C15523B637D}"/>
              </a:ext>
            </a:extLst>
          </p:cNvPr>
          <p:cNvSpPr txBox="1"/>
          <p:nvPr/>
        </p:nvSpPr>
        <p:spPr>
          <a:xfrm>
            <a:off x="2657474" y="2797797"/>
            <a:ext cx="1965326" cy="442429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01   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결과보고 </a:t>
            </a:r>
            <a:r>
              <a:rPr lang="en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SUMMARY</a:t>
            </a:r>
            <a:endParaRPr lang="ko-KR" altLang="en-US" sz="1000" spc="-80" dirty="0">
              <a:solidFill>
                <a:srgbClr val="514E4F"/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Light" panose="00000400000000000000" pitchFamily="2" charset="0"/>
            </a:endParaRPr>
          </a:p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02   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현장사진</a:t>
            </a:r>
          </a:p>
        </p:txBody>
      </p:sp>
      <p:cxnSp>
        <p:nvCxnSpPr>
          <p:cNvPr id="2" name="직선 연결선[R] 21">
            <a:extLst>
              <a:ext uri="{FF2B5EF4-FFF2-40B4-BE49-F238E27FC236}">
                <a16:creationId xmlns:a16="http://schemas.microsoft.com/office/drawing/2014/main" id="{E251A983-A36E-7CA2-7E2D-0951B7772A02}"/>
              </a:ext>
            </a:extLst>
          </p:cNvPr>
          <p:cNvCxnSpPr>
            <a:cxnSpLocks/>
          </p:cNvCxnSpPr>
          <p:nvPr/>
        </p:nvCxnSpPr>
        <p:spPr>
          <a:xfrm>
            <a:off x="0" y="1976610"/>
            <a:ext cx="4470400" cy="0"/>
          </a:xfrm>
          <a:prstGeom prst="line">
            <a:avLst/>
          </a:prstGeom>
          <a:ln w="9525">
            <a:gradFill>
              <a:gsLst>
                <a:gs pos="0">
                  <a:srgbClr val="7BD11F"/>
                </a:gs>
                <a:gs pos="55000">
                  <a:srgbClr val="3FA313"/>
                </a:gs>
                <a:gs pos="100000">
                  <a:srgbClr val="1E5E0F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8643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수동 입력 97">
            <a:extLst>
              <a:ext uri="{FF2B5EF4-FFF2-40B4-BE49-F238E27FC236}">
                <a16:creationId xmlns:a16="http://schemas.microsoft.com/office/drawing/2014/main" id="{0820EB3C-1992-7534-197A-979CE4A76909}"/>
              </a:ext>
            </a:extLst>
          </p:cNvPr>
          <p:cNvSpPr/>
          <p:nvPr/>
        </p:nvSpPr>
        <p:spPr>
          <a:xfrm>
            <a:off x="4575513" y="2453568"/>
            <a:ext cx="3247460" cy="3904335"/>
          </a:xfrm>
          <a:prstGeom prst="flowChartManualInput">
            <a:avLst/>
          </a:prstGeom>
          <a:gradFill flip="none" rotWithShape="1">
            <a:gsLst>
              <a:gs pos="0">
                <a:srgbClr val="101D46">
                  <a:alpha val="2000"/>
                </a:srgbClr>
              </a:gs>
              <a:gs pos="100000">
                <a:srgbClr val="101D46">
                  <a:alpha val="2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EFA38518-B4DC-84DA-4E12-BBD72B2351BF}"/>
              </a:ext>
            </a:extLst>
          </p:cNvPr>
          <p:cNvGrpSpPr/>
          <p:nvPr/>
        </p:nvGrpSpPr>
        <p:grpSpPr>
          <a:xfrm>
            <a:off x="500316" y="813208"/>
            <a:ext cx="3447811" cy="865680"/>
            <a:chOff x="500316" y="813208"/>
            <a:chExt cx="3447811" cy="865680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9E38DB2-F273-1CA9-7742-000F7B2251B8}"/>
                </a:ext>
              </a:extLst>
            </p:cNvPr>
            <p:cNvSpPr txBox="1"/>
            <p:nvPr/>
          </p:nvSpPr>
          <p:spPr>
            <a:xfrm>
              <a:off x="510372" y="1433821"/>
              <a:ext cx="3437755" cy="245067"/>
            </a:xfrm>
            <a:prstGeom prst="rect">
              <a:avLst/>
            </a:prstGeom>
            <a:noFill/>
          </p:spPr>
          <p:txBody>
            <a:bodyPr wrap="square" lIns="90000" tIns="0" rIns="0" bIns="0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spc="-7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CJ올리브영</a:t>
              </a:r>
              <a:r>
                <a:rPr lang="ko-KR" altLang="en-US" sz="1200" spc="-7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1200" spc="-7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룩스</a:t>
              </a:r>
              <a:r>
                <a:rPr lang="en-US" altLang="ko-KR" sz="1200" spc="-7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(LUUX) </a:t>
              </a:r>
              <a:r>
                <a:rPr lang="ko-KR" altLang="en-US" sz="1200" spc="-7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광고 결과 요약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6A801F95-4377-AB57-503C-530FB765CD6F}"/>
                </a:ext>
              </a:extLst>
            </p:cNvPr>
            <p:cNvSpPr txBox="1"/>
            <p:nvPr/>
          </p:nvSpPr>
          <p:spPr>
            <a:xfrm>
              <a:off x="509086" y="1061430"/>
              <a:ext cx="3186221" cy="276999"/>
            </a:xfrm>
            <a:prstGeom prst="rect">
              <a:avLst/>
            </a:prstGeom>
            <a:noFill/>
          </p:spPr>
          <p:txBody>
            <a:bodyPr wrap="square" lIns="90000" tIns="0" rIns="90000" bIns="0" rtlCol="0">
              <a:spAutoFit/>
            </a:bodyPr>
            <a:lstStyle/>
            <a:p>
              <a:r>
                <a:rPr lang="ko-KR" altLang="en-US" b="1" spc="-80" dirty="0">
                  <a:solidFill>
                    <a:schemeClr val="bg2">
                      <a:lumMod val="25000"/>
                    </a:schemeClr>
                  </a:solidFill>
                  <a:latin typeface="Pretendard" panose="020B0503000000000000" pitchFamily="34" charset="-127"/>
                  <a:ea typeface="Pretendard" panose="020B0503000000000000" pitchFamily="34" charset="-127"/>
                  <a:cs typeface="Pretendard Medium" panose="00000600000000000000" pitchFamily="2" charset="0"/>
                </a:rPr>
                <a:t>결과보고 </a:t>
              </a:r>
              <a:r>
                <a:rPr lang="en" altLang="ko-KR" b="1" spc="-80" dirty="0">
                  <a:solidFill>
                    <a:schemeClr val="bg2">
                      <a:lumMod val="25000"/>
                    </a:schemeClr>
                  </a:solidFill>
                  <a:latin typeface="Pretendard" panose="020B0503000000000000" pitchFamily="34" charset="-127"/>
                  <a:ea typeface="Pretendard" panose="020B0503000000000000" pitchFamily="34" charset="-127"/>
                  <a:cs typeface="Pretendard Medium" panose="00000600000000000000" pitchFamily="2" charset="0"/>
                </a:rPr>
                <a:t>SUMMARY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46E66BE2-58E9-D67E-6921-9EE2231559B5}"/>
                </a:ext>
              </a:extLst>
            </p:cNvPr>
            <p:cNvSpPr txBox="1"/>
            <p:nvPr/>
          </p:nvSpPr>
          <p:spPr>
            <a:xfrm>
              <a:off x="500316" y="813208"/>
              <a:ext cx="350074" cy="18466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spAutoFit/>
            </a:bodyPr>
            <a:lstStyle/>
            <a:p>
              <a:r>
                <a:rPr lang="en-US" altLang="ko-KR" sz="1200" b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01</a:t>
              </a:r>
              <a:endParaRPr lang="en-US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endParaRP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B34F7725-6BE1-FD03-034D-9437C6C471B5}"/>
              </a:ext>
            </a:extLst>
          </p:cNvPr>
          <p:cNvSpPr txBox="1"/>
          <p:nvPr/>
        </p:nvSpPr>
        <p:spPr>
          <a:xfrm>
            <a:off x="500316" y="212481"/>
            <a:ext cx="9213672" cy="26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CJ올리브영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(LUUX)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         결과보고 요약</a:t>
            </a:r>
            <a:r>
              <a:rPr lang="en-US" altLang="ko-KR" sz="1050" spc="-80" dirty="0">
                <a:latin typeface="Pretendard" panose="020B0503000000000000" pitchFamily="34" charset="-127"/>
                <a:ea typeface="Pretendard" panose="020B0503000000000000" pitchFamily="34" charset="-127"/>
              </a:rPr>
              <a:t>	</a:t>
            </a:r>
            <a:endParaRPr lang="ko-KR" altLang="en-US" sz="1200" spc="-80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790C38B7-9CDB-1213-8BD3-270BA3182A61}"/>
              </a:ext>
            </a:extLst>
          </p:cNvPr>
          <p:cNvGrpSpPr/>
          <p:nvPr/>
        </p:nvGrpSpPr>
        <p:grpSpPr>
          <a:xfrm>
            <a:off x="7606214" y="2085056"/>
            <a:ext cx="4076700" cy="4272847"/>
            <a:chOff x="7405061" y="2085056"/>
            <a:chExt cx="4076700" cy="4272847"/>
          </a:xfrm>
        </p:grpSpPr>
        <p:sp>
          <p:nvSpPr>
            <p:cNvPr id="312" name="Bar 313"/>
            <p:cNvSpPr/>
            <p:nvPr/>
          </p:nvSpPr>
          <p:spPr>
            <a:xfrm>
              <a:off x="7405061" y="2434518"/>
              <a:ext cx="2463800" cy="946727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b="1">
                <a:solidFill>
                  <a:schemeClr val="lt1"/>
                </a:solidFill>
              </a:endParaRPr>
            </a:p>
          </p:txBody>
        </p:sp>
        <p:sp>
          <p:nvSpPr>
            <p:cNvPr id="311" name="Bar 312"/>
            <p:cNvSpPr/>
            <p:nvPr/>
          </p:nvSpPr>
          <p:spPr>
            <a:xfrm>
              <a:off x="7405061" y="2434518"/>
              <a:ext cx="4076700" cy="946727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2700">
              <a:solidFill>
                <a:srgbClr val="D2D5DB">
                  <a:alpha val="99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b="1"/>
            </a:p>
          </p:txBody>
        </p:sp>
        <p:sp>
          <p:nvSpPr>
            <p:cNvPr id="313" name="Bar 314"/>
            <p:cNvSpPr/>
            <p:nvPr/>
          </p:nvSpPr>
          <p:spPr>
            <a:xfrm>
              <a:off x="8636961" y="2619245"/>
              <a:ext cx="10160" cy="577273"/>
            </a:xfrm>
            <a:prstGeom prst="rect">
              <a:avLst/>
            </a:prstGeom>
            <a:solidFill>
              <a:srgbClr val="EEFCE6"/>
            </a:solidFill>
            <a:ln>
              <a:noFill/>
            </a:ln>
          </p:spPr>
          <p:txBody>
            <a:bodyPr/>
            <a:lstStyle/>
            <a:p>
              <a:endParaRPr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14" name="Bar 315"/>
            <p:cNvSpPr/>
            <p:nvPr/>
          </p:nvSpPr>
          <p:spPr>
            <a:xfrm>
              <a:off x="9868861" y="2434518"/>
              <a:ext cx="1612900" cy="946727"/>
            </a:xfrm>
            <a:prstGeom prst="roundRect">
              <a:avLst>
                <a:gd name="adj" fmla="val 8000"/>
              </a:avLst>
            </a:prstGeom>
            <a:gradFill flip="none" rotWithShape="1">
              <a:gsLst>
                <a:gs pos="0">
                  <a:srgbClr val="7BD11F"/>
                </a:gs>
                <a:gs pos="55000">
                  <a:srgbClr val="3FA313"/>
                </a:gs>
                <a:gs pos="100000">
                  <a:srgbClr val="1E5E0F"/>
                </a:gs>
              </a:gsLst>
              <a:lin ang="2700000" scaled="1"/>
              <a:tileRect/>
            </a:gradFill>
            <a:ln w="12700">
              <a:noFill/>
            </a:ln>
          </p:spPr>
          <p:txBody>
            <a:bodyPr/>
            <a:lstStyle/>
            <a:p>
              <a:endParaRPr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15" name="T 316"/>
            <p:cNvSpPr txBox="1"/>
            <p:nvPr/>
          </p:nvSpPr>
          <p:spPr>
            <a:xfrm>
              <a:off x="7455861" y="2699215"/>
              <a:ext cx="1130300" cy="13708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ko-KR" altLang="en-US" sz="900" dirty="0">
                  <a:solidFill>
                    <a:srgbClr val="666666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계약보장 송출횟수</a:t>
              </a:r>
            </a:p>
          </p:txBody>
        </p:sp>
        <p:sp>
          <p:nvSpPr>
            <p:cNvPr id="316" name="T 317"/>
            <p:cNvSpPr txBox="1"/>
            <p:nvPr/>
          </p:nvSpPr>
          <p:spPr>
            <a:xfrm>
              <a:off x="7455861" y="2872164"/>
              <a:ext cx="1130300" cy="2284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1500" b="1" dirty="0">
                  <a:solidFill>
                    <a:srgbClr val="22222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4,480</a:t>
              </a:r>
              <a:r>
                <a:rPr lang="ko-KR" altLang="en-US" sz="1500" b="1" dirty="0">
                  <a:solidFill>
                    <a:srgbClr val="22222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회</a:t>
              </a:r>
            </a:p>
          </p:txBody>
        </p:sp>
        <p:sp>
          <p:nvSpPr>
            <p:cNvPr id="317" name="T 318"/>
            <p:cNvSpPr txBox="1"/>
            <p:nvPr/>
          </p:nvSpPr>
          <p:spPr>
            <a:xfrm>
              <a:off x="8687761" y="2699216"/>
              <a:ext cx="1130300" cy="137089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ko-KR" altLang="en-US" sz="900" dirty="0" err="1">
                  <a:solidFill>
                    <a:srgbClr val="666666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실집행</a:t>
              </a:r>
              <a:r>
                <a:rPr lang="ko-KR" altLang="en-US" sz="900" dirty="0">
                  <a:solidFill>
                    <a:srgbClr val="666666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 송출횟수</a:t>
              </a:r>
            </a:p>
          </p:txBody>
        </p:sp>
        <p:sp>
          <p:nvSpPr>
            <p:cNvPr id="318" name="T 319"/>
            <p:cNvSpPr txBox="1"/>
            <p:nvPr/>
          </p:nvSpPr>
          <p:spPr>
            <a:xfrm>
              <a:off x="8687761" y="2872165"/>
              <a:ext cx="1130300" cy="2284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1500" b="1" dirty="0">
                  <a:solidFill>
                    <a:srgbClr val="22222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5,796</a:t>
              </a:r>
              <a:r>
                <a:rPr lang="ko-KR" altLang="en-US" sz="1500" b="1" dirty="0">
                  <a:solidFill>
                    <a:srgbClr val="222222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회</a:t>
              </a:r>
            </a:p>
          </p:txBody>
        </p:sp>
        <p:sp>
          <p:nvSpPr>
            <p:cNvPr id="320" name="T 321"/>
            <p:cNvSpPr txBox="1"/>
            <p:nvPr/>
          </p:nvSpPr>
          <p:spPr>
            <a:xfrm>
              <a:off x="9919661" y="2686310"/>
              <a:ext cx="1511300" cy="152286"/>
            </a:xfrm>
            <a:prstGeom prst="rect">
              <a:avLst/>
            </a:prstGeom>
            <a:noFill/>
          </p:spPr>
          <p:txBody>
            <a:bodyPr wrap="square" lIns="0" tIns="0" rIns="0" bIns="0" anchor="b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ko-KR" altLang="en-US" sz="1000" b="1" dirty="0" err="1">
                  <a:solidFill>
                    <a:srgbClr val="F3FDED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달성률</a:t>
              </a:r>
              <a:endParaRPr lang="ko-KR" altLang="en-US" sz="1000" b="1" dirty="0">
                <a:solidFill>
                  <a:srgbClr val="F3FDED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endParaRPr>
            </a:p>
          </p:txBody>
        </p:sp>
        <p:sp>
          <p:nvSpPr>
            <p:cNvPr id="321" name="T 322"/>
            <p:cNvSpPr txBox="1"/>
            <p:nvPr/>
          </p:nvSpPr>
          <p:spPr>
            <a:xfrm>
              <a:off x="9919661" y="2824824"/>
              <a:ext cx="1511300" cy="3046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2000" b="1" dirty="0">
                  <a:solidFill>
                    <a:srgbClr val="FFFFFF"/>
                  </a:soli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rPr>
                <a:t>129.4%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7B2BA9D-F38C-26C4-79FE-C2BD68425AD7}"/>
                </a:ext>
              </a:extLst>
            </p:cNvPr>
            <p:cNvSpPr txBox="1"/>
            <p:nvPr/>
          </p:nvSpPr>
          <p:spPr>
            <a:xfrm>
              <a:off x="7407601" y="2085056"/>
              <a:ext cx="997068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200" b="1" i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JTBC Gothic Bold"/>
                  <a:ea typeface="JTBC Gothic Bold"/>
                </a:rPr>
                <a:t>|</a:t>
              </a:r>
              <a:r>
                <a:rPr kumimoji="1" lang="ko-KR" altLang="en-US" sz="1200" b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JTBC Gothic Bold"/>
                  <a:ea typeface="JTBC Gothic Bold"/>
                </a:rPr>
                <a:t>    총 재생횟수</a:t>
              </a:r>
              <a:endParaRPr kumimoji="1" lang="en" altLang="ko-KR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JTBC Gothic Bold"/>
                <a:ea typeface="JTBC Gothic Bold"/>
              </a:endParaRPr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DFA0EEF3-D233-E061-9EBF-3D5A16EC5AD1}"/>
                </a:ext>
              </a:extLst>
            </p:cNvPr>
            <p:cNvGrpSpPr/>
            <p:nvPr/>
          </p:nvGrpSpPr>
          <p:grpSpPr>
            <a:xfrm>
              <a:off x="7405061" y="3573385"/>
              <a:ext cx="4076700" cy="1296189"/>
              <a:chOff x="7390386" y="2085056"/>
              <a:chExt cx="4076700" cy="1296189"/>
            </a:xfrm>
          </p:grpSpPr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07E69A45-5E28-35CF-4096-D0FEF0FDC966}"/>
                  </a:ext>
                </a:extLst>
              </p:cNvPr>
              <p:cNvGrpSpPr/>
              <p:nvPr/>
            </p:nvGrpSpPr>
            <p:grpSpPr>
              <a:xfrm>
                <a:off x="7390386" y="2434518"/>
                <a:ext cx="4076700" cy="946727"/>
                <a:chOff x="7390386" y="2433675"/>
                <a:chExt cx="4076700" cy="1041400"/>
              </a:xfrm>
            </p:grpSpPr>
            <p:sp>
              <p:nvSpPr>
                <p:cNvPr id="123" name="Bar 313">
                  <a:extLst>
                    <a:ext uri="{FF2B5EF4-FFF2-40B4-BE49-F238E27FC236}">
                      <a16:creationId xmlns:a16="http://schemas.microsoft.com/office/drawing/2014/main" id="{B380981A-8E67-56A9-6DCA-27C4AD51A467}"/>
                    </a:ext>
                  </a:extLst>
                </p:cNvPr>
                <p:cNvSpPr/>
                <p:nvPr/>
              </p:nvSpPr>
              <p:spPr>
                <a:xfrm>
                  <a:off x="7390386" y="2433675"/>
                  <a:ext cx="2463800" cy="1041400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b="1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124" name="Bar 312">
                  <a:extLst>
                    <a:ext uri="{FF2B5EF4-FFF2-40B4-BE49-F238E27FC236}">
                      <a16:creationId xmlns:a16="http://schemas.microsoft.com/office/drawing/2014/main" id="{A9C6FBAB-971C-D8DD-2048-6790D9499EA5}"/>
                    </a:ext>
                  </a:extLst>
                </p:cNvPr>
                <p:cNvSpPr/>
                <p:nvPr/>
              </p:nvSpPr>
              <p:spPr>
                <a:xfrm>
                  <a:off x="7390386" y="2433675"/>
                  <a:ext cx="4076700" cy="1041400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bg1"/>
                </a:solidFill>
                <a:ln w="12700">
                  <a:solidFill>
                    <a:srgbClr val="D2D5DB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b="1"/>
                </a:p>
              </p:txBody>
            </p:sp>
            <p:sp>
              <p:nvSpPr>
                <p:cNvPr id="125" name="Bar 314">
                  <a:extLst>
                    <a:ext uri="{FF2B5EF4-FFF2-40B4-BE49-F238E27FC236}">
                      <a16:creationId xmlns:a16="http://schemas.microsoft.com/office/drawing/2014/main" id="{F4D390DC-F1E8-446B-4297-882B5BCF40EA}"/>
                    </a:ext>
                  </a:extLst>
                </p:cNvPr>
                <p:cNvSpPr/>
                <p:nvPr/>
              </p:nvSpPr>
              <p:spPr>
                <a:xfrm>
                  <a:off x="8622286" y="2636875"/>
                  <a:ext cx="10160" cy="635000"/>
                </a:xfrm>
                <a:prstGeom prst="rect">
                  <a:avLst/>
                </a:prstGeom>
                <a:solidFill>
                  <a:srgbClr val="EEFCE6"/>
                </a:solidFill>
                <a:ln>
                  <a:noFill/>
                </a:ln>
              </p:spPr>
              <p:txBody>
                <a:bodyPr/>
                <a:lstStyle/>
                <a:p>
                  <a:endParaRPr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126" name="Bar 315">
                  <a:extLst>
                    <a:ext uri="{FF2B5EF4-FFF2-40B4-BE49-F238E27FC236}">
                      <a16:creationId xmlns:a16="http://schemas.microsoft.com/office/drawing/2014/main" id="{78901952-D07D-0AF2-C6C5-1988F725CC95}"/>
                    </a:ext>
                  </a:extLst>
                </p:cNvPr>
                <p:cNvSpPr/>
                <p:nvPr/>
              </p:nvSpPr>
              <p:spPr>
                <a:xfrm>
                  <a:off x="9854186" y="2433675"/>
                  <a:ext cx="1612900" cy="1041400"/>
                </a:xfrm>
                <a:prstGeom prst="roundRect">
                  <a:avLst>
                    <a:gd name="adj" fmla="val 8000"/>
                  </a:avLst>
                </a:prstGeom>
                <a:gradFill flip="none" rotWithShape="1"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2700000" scaled="1"/>
                  <a:tileRect/>
                </a:gradFill>
                <a:ln w="12700">
                  <a:noFill/>
                </a:ln>
              </p:spPr>
              <p:txBody>
                <a:bodyPr/>
                <a:lstStyle/>
                <a:p>
                  <a:endParaRPr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127" name="그룹 126">
                  <a:extLst>
                    <a:ext uri="{FF2B5EF4-FFF2-40B4-BE49-F238E27FC236}">
                      <a16:creationId xmlns:a16="http://schemas.microsoft.com/office/drawing/2014/main" id="{A2DA8018-668C-2B4D-1FDF-34255CC152C4}"/>
                    </a:ext>
                  </a:extLst>
                </p:cNvPr>
                <p:cNvGrpSpPr/>
                <p:nvPr/>
              </p:nvGrpSpPr>
              <p:grpSpPr>
                <a:xfrm>
                  <a:off x="7441186" y="2738552"/>
                  <a:ext cx="1130300" cy="416418"/>
                  <a:chOff x="7683500" y="4219011"/>
                  <a:chExt cx="1130300" cy="416418"/>
                </a:xfrm>
              </p:grpSpPr>
              <p:sp>
                <p:nvSpPr>
                  <p:cNvPr id="262" name="T 316">
                    <a:extLst>
                      <a:ext uri="{FF2B5EF4-FFF2-40B4-BE49-F238E27FC236}">
                        <a16:creationId xmlns:a16="http://schemas.microsoft.com/office/drawing/2014/main" id="{1CE0A22D-5450-EEFB-94F8-2D82742C550A}"/>
                      </a:ext>
                    </a:extLst>
                  </p:cNvPr>
                  <p:cNvSpPr txBox="1"/>
                  <p:nvPr/>
                </p:nvSpPr>
                <p:spPr>
                  <a:xfrm>
                    <a:off x="7683500" y="4219011"/>
                    <a:ext cx="1130300" cy="13708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ko-KR" altLang="en-US" sz="900" dirty="0">
                        <a:solidFill>
                          <a:srgbClr val="666666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광고비(VAT별도)</a:t>
                    </a:r>
                  </a:p>
                </p:txBody>
              </p:sp>
              <p:sp>
                <p:nvSpPr>
                  <p:cNvPr id="263" name="T 317">
                    <a:extLst>
                      <a:ext uri="{FF2B5EF4-FFF2-40B4-BE49-F238E27FC236}">
                        <a16:creationId xmlns:a16="http://schemas.microsoft.com/office/drawing/2014/main" id="{75F75AB9-3D0C-8431-BAB2-8003552C5B14}"/>
                      </a:ext>
                    </a:extLst>
                  </p:cNvPr>
                  <p:cNvSpPr txBox="1"/>
                  <p:nvPr/>
                </p:nvSpPr>
                <p:spPr>
                  <a:xfrm>
                    <a:off x="7683500" y="4406969"/>
                    <a:ext cx="1130300" cy="22846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en-US" altLang="ko-KR" sz="1500" b="1" dirty="0">
                        <a:solidFill>
                          <a:srgbClr val="222222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6,000</a:t>
                    </a:r>
                    <a:r>
                      <a:rPr lang="ko-KR" altLang="en-US" sz="1500" b="1" dirty="0">
                        <a:solidFill>
                          <a:srgbClr val="222222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만원</a:t>
                    </a:r>
                  </a:p>
                </p:txBody>
              </p:sp>
            </p:grpSp>
            <p:grpSp>
              <p:nvGrpSpPr>
                <p:cNvPr id="256" name="그룹 255">
                  <a:extLst>
                    <a:ext uri="{FF2B5EF4-FFF2-40B4-BE49-F238E27FC236}">
                      <a16:creationId xmlns:a16="http://schemas.microsoft.com/office/drawing/2014/main" id="{507F4DAF-D7F1-D939-D12B-336F662C16B7}"/>
                    </a:ext>
                  </a:extLst>
                </p:cNvPr>
                <p:cNvGrpSpPr/>
                <p:nvPr/>
              </p:nvGrpSpPr>
              <p:grpSpPr>
                <a:xfrm>
                  <a:off x="8673086" y="2738552"/>
                  <a:ext cx="1130300" cy="416418"/>
                  <a:chOff x="8915400" y="4219011"/>
                  <a:chExt cx="1130300" cy="416418"/>
                </a:xfrm>
              </p:grpSpPr>
              <p:sp>
                <p:nvSpPr>
                  <p:cNvPr id="260" name="T 318">
                    <a:extLst>
                      <a:ext uri="{FF2B5EF4-FFF2-40B4-BE49-F238E27FC236}">
                        <a16:creationId xmlns:a16="http://schemas.microsoft.com/office/drawing/2014/main" id="{98FCD1F6-2ED3-24DB-EFA5-6C5777101A24}"/>
                      </a:ext>
                    </a:extLst>
                  </p:cNvPr>
                  <p:cNvSpPr txBox="1"/>
                  <p:nvPr/>
                </p:nvSpPr>
                <p:spPr>
                  <a:xfrm>
                    <a:off x="8915400" y="4219011"/>
                    <a:ext cx="1130300" cy="13708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ko-KR" altLang="en-US" sz="900" dirty="0">
                        <a:solidFill>
                          <a:srgbClr val="666666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노출인구</a:t>
                    </a:r>
                  </a:p>
                </p:txBody>
              </p:sp>
              <p:sp>
                <p:nvSpPr>
                  <p:cNvPr id="261" name="T 319">
                    <a:extLst>
                      <a:ext uri="{FF2B5EF4-FFF2-40B4-BE49-F238E27FC236}">
                        <a16:creationId xmlns:a16="http://schemas.microsoft.com/office/drawing/2014/main" id="{21A419D6-9542-0006-6C3B-E41D572D5C61}"/>
                      </a:ext>
                    </a:extLst>
                  </p:cNvPr>
                  <p:cNvSpPr txBox="1"/>
                  <p:nvPr/>
                </p:nvSpPr>
                <p:spPr>
                  <a:xfrm>
                    <a:off x="8915400" y="4406969"/>
                    <a:ext cx="1130300" cy="22846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:r>
                      <a:rPr lang="ko-KR" altLang="en-US" sz="1500" b="1" dirty="0">
                        <a:solidFill>
                          <a:srgbClr val="222222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1,239만 명</a:t>
                    </a:r>
                  </a:p>
                </p:txBody>
              </p:sp>
            </p:grpSp>
            <p:grpSp>
              <p:nvGrpSpPr>
                <p:cNvPr id="257" name="그룹 256">
                  <a:extLst>
                    <a:ext uri="{FF2B5EF4-FFF2-40B4-BE49-F238E27FC236}">
                      <a16:creationId xmlns:a16="http://schemas.microsoft.com/office/drawing/2014/main" id="{BC6E1AAC-F357-FAE0-1228-E6AD09625D70}"/>
                    </a:ext>
                  </a:extLst>
                </p:cNvPr>
                <p:cNvGrpSpPr/>
                <p:nvPr/>
              </p:nvGrpSpPr>
              <p:grpSpPr>
                <a:xfrm>
                  <a:off x="9904986" y="2725874"/>
                  <a:ext cx="1511300" cy="457003"/>
                  <a:chOff x="10147300" y="4203814"/>
                  <a:chExt cx="1511300" cy="457003"/>
                </a:xfrm>
              </p:grpSpPr>
              <p:sp>
                <p:nvSpPr>
                  <p:cNvPr id="258" name="T 321">
                    <a:extLst>
                      <a:ext uri="{FF2B5EF4-FFF2-40B4-BE49-F238E27FC236}">
                        <a16:creationId xmlns:a16="http://schemas.microsoft.com/office/drawing/2014/main" id="{D5D6DCAF-C808-1837-4CE5-E14D6DEE87D3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7300" y="4203814"/>
                    <a:ext cx="1511300" cy="15228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ko-KR" altLang="en-US" sz="1000" b="1" dirty="0">
                        <a:solidFill>
                          <a:srgbClr val="F3FDED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CPM (원)</a:t>
                    </a:r>
                  </a:p>
                </p:txBody>
              </p:sp>
              <p:sp>
                <p:nvSpPr>
                  <p:cNvPr id="259" name="T 322">
                    <a:extLst>
                      <a:ext uri="{FF2B5EF4-FFF2-40B4-BE49-F238E27FC236}">
                        <a16:creationId xmlns:a16="http://schemas.microsoft.com/office/drawing/2014/main" id="{CD3755CC-719E-A461-B590-8EEE9B8B4E7C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7300" y="4356182"/>
                    <a:ext cx="1511300" cy="30463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en-US" altLang="ko-KR" sz="2000" b="1" dirty="0">
                        <a:solidFill>
                          <a:srgbClr val="FFFFFF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4,842</a:t>
                    </a:r>
                    <a:r>
                      <a:rPr lang="ko-KR" altLang="en-US" sz="2000" b="1" dirty="0">
                        <a:solidFill>
                          <a:srgbClr val="FFFFFF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원</a:t>
                    </a:r>
                  </a:p>
                </p:txBody>
              </p:sp>
            </p:grp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514C4D56-6F8C-6348-B1BE-085BD63EE47F}"/>
                  </a:ext>
                </a:extLst>
              </p:cNvPr>
              <p:cNvSpPr txBox="1"/>
              <p:nvPr/>
            </p:nvSpPr>
            <p:spPr>
              <a:xfrm>
                <a:off x="7392926" y="2085056"/>
                <a:ext cx="404939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ko-KR" altLang="en-US" sz="1200" b="1" i="1" dirty="0">
                    <a:gradFill>
                      <a:gsLst>
                        <a:gs pos="0">
                          <a:srgbClr val="7BD11F"/>
                        </a:gs>
                        <a:gs pos="55000">
                          <a:srgbClr val="3FA313"/>
                        </a:gs>
                        <a:gs pos="100000">
                          <a:srgbClr val="1E5E0F"/>
                        </a:gs>
                      </a:gsLst>
                      <a:lin ang="0" scaled="0"/>
                    </a:gradFill>
                    <a:latin typeface="JTBC Gothic Bold"/>
                    <a:ea typeface="JTBC Gothic Bold"/>
                  </a:rPr>
                  <a:t>|</a:t>
                </a:r>
                <a:r>
                  <a:rPr kumimoji="1" lang="ko-KR" altLang="en-US" sz="1200" b="1" dirty="0">
                    <a:gradFill>
                      <a:gsLst>
                        <a:gs pos="0">
                          <a:srgbClr val="7BD11F"/>
                        </a:gs>
                        <a:gs pos="55000">
                          <a:srgbClr val="3FA313"/>
                        </a:gs>
                        <a:gs pos="100000">
                          <a:srgbClr val="1E5E0F"/>
                        </a:gs>
                      </a:gsLst>
                      <a:lin ang="0" scaled="0"/>
                    </a:gradFill>
                    <a:latin typeface="JTBC Gothic Bold"/>
                    <a:ea typeface="JTBC Gothic Bold"/>
                  </a:rPr>
                  <a:t>    광고 효율</a:t>
                </a:r>
                <a:endParaRPr kumimoji="1" lang="en" altLang="ko-KR" sz="1200" b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JTBC Gothic Bold"/>
                  <a:ea typeface="JTBC Gothic Bold"/>
                </a:endParaRPr>
              </a:p>
            </p:txBody>
          </p:sp>
        </p:grpSp>
        <p:grpSp>
          <p:nvGrpSpPr>
            <p:cNvPr id="264" name="그룹 263">
              <a:extLst>
                <a:ext uri="{FF2B5EF4-FFF2-40B4-BE49-F238E27FC236}">
                  <a16:creationId xmlns:a16="http://schemas.microsoft.com/office/drawing/2014/main" id="{5A4B35EA-2CE6-D8E0-FD41-4D838C84595C}"/>
                </a:ext>
              </a:extLst>
            </p:cNvPr>
            <p:cNvGrpSpPr/>
            <p:nvPr/>
          </p:nvGrpSpPr>
          <p:grpSpPr>
            <a:xfrm>
              <a:off x="7405061" y="5061714"/>
              <a:ext cx="4076700" cy="1296189"/>
              <a:chOff x="7390386" y="2085056"/>
              <a:chExt cx="4076700" cy="1296189"/>
            </a:xfrm>
          </p:grpSpPr>
          <p:grpSp>
            <p:nvGrpSpPr>
              <p:cNvPr id="265" name="그룹 264">
                <a:extLst>
                  <a:ext uri="{FF2B5EF4-FFF2-40B4-BE49-F238E27FC236}">
                    <a16:creationId xmlns:a16="http://schemas.microsoft.com/office/drawing/2014/main" id="{6078BB16-6B52-8249-B66C-F2F8A53380B4}"/>
                  </a:ext>
                </a:extLst>
              </p:cNvPr>
              <p:cNvGrpSpPr/>
              <p:nvPr/>
            </p:nvGrpSpPr>
            <p:grpSpPr>
              <a:xfrm>
                <a:off x="7390386" y="2434518"/>
                <a:ext cx="4076700" cy="946727"/>
                <a:chOff x="7390386" y="2433675"/>
                <a:chExt cx="4076700" cy="1041400"/>
              </a:xfrm>
            </p:grpSpPr>
            <p:sp>
              <p:nvSpPr>
                <p:cNvPr id="267" name="Bar 313">
                  <a:extLst>
                    <a:ext uri="{FF2B5EF4-FFF2-40B4-BE49-F238E27FC236}">
                      <a16:creationId xmlns:a16="http://schemas.microsoft.com/office/drawing/2014/main" id="{AB44F2A8-2FE0-6540-2807-377EC0B1531E}"/>
                    </a:ext>
                  </a:extLst>
                </p:cNvPr>
                <p:cNvSpPr/>
                <p:nvPr/>
              </p:nvSpPr>
              <p:spPr>
                <a:xfrm>
                  <a:off x="7390386" y="2433675"/>
                  <a:ext cx="2463800" cy="1041400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bg1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b="1">
                    <a:solidFill>
                      <a:schemeClr val="lt1"/>
                    </a:solidFill>
                  </a:endParaRPr>
                </a:p>
              </p:txBody>
            </p:sp>
            <p:sp>
              <p:nvSpPr>
                <p:cNvPr id="268" name="Bar 312">
                  <a:extLst>
                    <a:ext uri="{FF2B5EF4-FFF2-40B4-BE49-F238E27FC236}">
                      <a16:creationId xmlns:a16="http://schemas.microsoft.com/office/drawing/2014/main" id="{8ACDB393-F2D1-5E82-D408-D0BAEEB9B8A2}"/>
                    </a:ext>
                  </a:extLst>
                </p:cNvPr>
                <p:cNvSpPr/>
                <p:nvPr/>
              </p:nvSpPr>
              <p:spPr>
                <a:xfrm>
                  <a:off x="7390386" y="2433675"/>
                  <a:ext cx="4076700" cy="1041400"/>
                </a:xfrm>
                <a:prstGeom prst="roundRect">
                  <a:avLst>
                    <a:gd name="adj" fmla="val 8000"/>
                  </a:avLst>
                </a:prstGeom>
                <a:solidFill>
                  <a:schemeClr val="bg1"/>
                </a:solidFill>
                <a:ln w="12700">
                  <a:solidFill>
                    <a:srgbClr val="D2D5DB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b="1"/>
                </a:p>
              </p:txBody>
            </p:sp>
            <p:sp>
              <p:nvSpPr>
                <p:cNvPr id="269" name="Bar 314">
                  <a:extLst>
                    <a:ext uri="{FF2B5EF4-FFF2-40B4-BE49-F238E27FC236}">
                      <a16:creationId xmlns:a16="http://schemas.microsoft.com/office/drawing/2014/main" id="{5E55A535-FD59-72B3-D37D-33FA39E299DF}"/>
                    </a:ext>
                  </a:extLst>
                </p:cNvPr>
                <p:cNvSpPr/>
                <p:nvPr/>
              </p:nvSpPr>
              <p:spPr>
                <a:xfrm>
                  <a:off x="8622286" y="2636875"/>
                  <a:ext cx="10160" cy="635000"/>
                </a:xfrm>
                <a:prstGeom prst="rect">
                  <a:avLst/>
                </a:prstGeom>
                <a:solidFill>
                  <a:srgbClr val="EEFCE6"/>
                </a:solidFill>
                <a:ln>
                  <a:noFill/>
                </a:ln>
              </p:spPr>
              <p:txBody>
                <a:bodyPr/>
                <a:lstStyle/>
                <a:p>
                  <a:endParaRPr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sp>
              <p:nvSpPr>
                <p:cNvPr id="270" name="Bar 315">
                  <a:extLst>
                    <a:ext uri="{FF2B5EF4-FFF2-40B4-BE49-F238E27FC236}">
                      <a16:creationId xmlns:a16="http://schemas.microsoft.com/office/drawing/2014/main" id="{D77EB4EE-5BE0-CD60-B731-751C66CD3FC3}"/>
                    </a:ext>
                  </a:extLst>
                </p:cNvPr>
                <p:cNvSpPr/>
                <p:nvPr/>
              </p:nvSpPr>
              <p:spPr>
                <a:xfrm>
                  <a:off x="9854186" y="2433675"/>
                  <a:ext cx="1612900" cy="1041400"/>
                </a:xfrm>
                <a:prstGeom prst="roundRect">
                  <a:avLst>
                    <a:gd name="adj" fmla="val 8000"/>
                  </a:avLst>
                </a:prstGeom>
                <a:gradFill flip="none" rotWithShape="1"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2700000" scaled="1"/>
                  <a:tileRect/>
                </a:gradFill>
                <a:ln w="12700">
                  <a:noFill/>
                </a:ln>
              </p:spPr>
              <p:txBody>
                <a:bodyPr/>
                <a:lstStyle/>
                <a:p>
                  <a:endParaRPr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endParaRPr>
                </a:p>
              </p:txBody>
            </p:sp>
            <p:grpSp>
              <p:nvGrpSpPr>
                <p:cNvPr id="271" name="그룹 270">
                  <a:extLst>
                    <a:ext uri="{FF2B5EF4-FFF2-40B4-BE49-F238E27FC236}">
                      <a16:creationId xmlns:a16="http://schemas.microsoft.com/office/drawing/2014/main" id="{0448CE8A-4A4D-A187-2F47-E6C9797C9082}"/>
                    </a:ext>
                  </a:extLst>
                </p:cNvPr>
                <p:cNvGrpSpPr/>
                <p:nvPr/>
              </p:nvGrpSpPr>
              <p:grpSpPr>
                <a:xfrm>
                  <a:off x="7441186" y="2724843"/>
                  <a:ext cx="1130300" cy="441549"/>
                  <a:chOff x="7683500" y="4205302"/>
                  <a:chExt cx="1130300" cy="441549"/>
                </a:xfrm>
              </p:grpSpPr>
              <p:sp>
                <p:nvSpPr>
                  <p:cNvPr id="278" name="T 316">
                    <a:extLst>
                      <a:ext uri="{FF2B5EF4-FFF2-40B4-BE49-F238E27FC236}">
                        <a16:creationId xmlns:a16="http://schemas.microsoft.com/office/drawing/2014/main" id="{239503AC-6A5C-5B40-2ABC-967DA8ECAF8A}"/>
                      </a:ext>
                    </a:extLst>
                  </p:cNvPr>
                  <p:cNvSpPr txBox="1"/>
                  <p:nvPr/>
                </p:nvSpPr>
                <p:spPr>
                  <a:xfrm>
                    <a:off x="7683500" y="4205302"/>
                    <a:ext cx="1130300" cy="1507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:r>
                      <a:rPr lang="ko-KR" altLang="en-US" sz="900" dirty="0">
                        <a:solidFill>
                          <a:srgbClr val="666666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일평균 유동인구</a:t>
                    </a:r>
                  </a:p>
                </p:txBody>
              </p:sp>
              <p:sp>
                <p:nvSpPr>
                  <p:cNvPr id="279" name="T 317">
                    <a:extLst>
                      <a:ext uri="{FF2B5EF4-FFF2-40B4-BE49-F238E27FC236}">
                        <a16:creationId xmlns:a16="http://schemas.microsoft.com/office/drawing/2014/main" id="{348EB96D-260B-1E93-3EE9-69F944D096DF}"/>
                      </a:ext>
                    </a:extLst>
                  </p:cNvPr>
                  <p:cNvSpPr txBox="1"/>
                  <p:nvPr/>
                </p:nvSpPr>
                <p:spPr>
                  <a:xfrm>
                    <a:off x="7683500" y="4395545"/>
                    <a:ext cx="1130300" cy="2513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en-US" altLang="ko-KR" sz="1500" b="1" dirty="0">
                        <a:solidFill>
                          <a:srgbClr val="222222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387,244명</a:t>
                    </a:r>
                  </a:p>
                </p:txBody>
              </p:sp>
            </p:grpSp>
            <p:grpSp>
              <p:nvGrpSpPr>
                <p:cNvPr id="272" name="그룹 271">
                  <a:extLst>
                    <a:ext uri="{FF2B5EF4-FFF2-40B4-BE49-F238E27FC236}">
                      <a16:creationId xmlns:a16="http://schemas.microsoft.com/office/drawing/2014/main" id="{BFBB7CA5-C782-A493-B204-79F5773D101A}"/>
                    </a:ext>
                  </a:extLst>
                </p:cNvPr>
                <p:cNvGrpSpPr/>
                <p:nvPr/>
              </p:nvGrpSpPr>
              <p:grpSpPr>
                <a:xfrm>
                  <a:off x="8673086" y="2724843"/>
                  <a:ext cx="1130300" cy="441549"/>
                  <a:chOff x="8915400" y="4205302"/>
                  <a:chExt cx="1130300" cy="441549"/>
                </a:xfrm>
              </p:grpSpPr>
              <p:sp>
                <p:nvSpPr>
                  <p:cNvPr id="276" name="T 318">
                    <a:extLst>
                      <a:ext uri="{FF2B5EF4-FFF2-40B4-BE49-F238E27FC236}">
                        <a16:creationId xmlns:a16="http://schemas.microsoft.com/office/drawing/2014/main" id="{D27DA96B-C37D-3C35-39DE-56FA32318E91}"/>
                      </a:ext>
                    </a:extLst>
                  </p:cNvPr>
                  <p:cNvSpPr txBox="1"/>
                  <p:nvPr/>
                </p:nvSpPr>
                <p:spPr>
                  <a:xfrm>
                    <a:off x="8915400" y="4205302"/>
                    <a:ext cx="1130300" cy="1507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:r>
                      <a:rPr lang="ko-KR" altLang="en-US" sz="900" dirty="0">
                        <a:solidFill>
                          <a:srgbClr val="666666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일 최대 유동인구</a:t>
                    </a:r>
                  </a:p>
                </p:txBody>
              </p:sp>
              <p:sp>
                <p:nvSpPr>
                  <p:cNvPr id="277" name="T 319">
                    <a:extLst>
                      <a:ext uri="{FF2B5EF4-FFF2-40B4-BE49-F238E27FC236}">
                        <a16:creationId xmlns:a16="http://schemas.microsoft.com/office/drawing/2014/main" id="{82AD4EC0-2FD1-0CB1-489F-AD2A146192C0}"/>
                      </a:ext>
                    </a:extLst>
                  </p:cNvPr>
                  <p:cNvSpPr txBox="1"/>
                  <p:nvPr/>
                </p:nvSpPr>
                <p:spPr>
                  <a:xfrm>
                    <a:off x="8915400" y="4395545"/>
                    <a:ext cx="1130300" cy="25130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:r>
                      <a:rPr lang="en-US" altLang="ko-KR" sz="1500" b="1" dirty="0">
                        <a:solidFill>
                          <a:srgbClr val="222222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503,880명</a:t>
                    </a:r>
                  </a:p>
                </p:txBody>
              </p:sp>
            </p:grpSp>
            <p:grpSp>
              <p:nvGrpSpPr>
                <p:cNvPr id="273" name="그룹 272">
                  <a:extLst>
                    <a:ext uri="{FF2B5EF4-FFF2-40B4-BE49-F238E27FC236}">
                      <a16:creationId xmlns:a16="http://schemas.microsoft.com/office/drawing/2014/main" id="{99E2058C-F460-4117-20D9-5621E6853EB4}"/>
                    </a:ext>
                  </a:extLst>
                </p:cNvPr>
                <p:cNvGrpSpPr/>
                <p:nvPr/>
              </p:nvGrpSpPr>
              <p:grpSpPr>
                <a:xfrm>
                  <a:off x="9904986" y="2710646"/>
                  <a:ext cx="1511300" cy="487461"/>
                  <a:chOff x="10147300" y="4188586"/>
                  <a:chExt cx="1511300" cy="487461"/>
                </a:xfrm>
              </p:grpSpPr>
              <p:sp>
                <p:nvSpPr>
                  <p:cNvPr id="274" name="T 321">
                    <a:extLst>
                      <a:ext uri="{FF2B5EF4-FFF2-40B4-BE49-F238E27FC236}">
                        <a16:creationId xmlns:a16="http://schemas.microsoft.com/office/drawing/2014/main" id="{6E56DC1C-8AFE-A16D-42B6-D702B7555FE5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7300" y="4188586"/>
                    <a:ext cx="1511300" cy="16751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b">
                    <a:spAutoFit/>
                  </a:bodyPr>
                  <a:lstStyle/>
                  <a:p>
                    <a:pPr marL="0" indent="0" algn="ctr">
                      <a:lnSpc>
                        <a:spcPct val="105000"/>
                      </a:lnSpc>
                      <a:buNone/>
                    </a:pPr>
                    <a:r>
                      <a:rPr lang="ko-KR" altLang="en-US" sz="1000" b="1" dirty="0">
                        <a:solidFill>
                          <a:srgbClr val="F3FDED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총 유동인구</a:t>
                    </a:r>
                  </a:p>
                </p:txBody>
              </p:sp>
              <p:sp>
                <p:nvSpPr>
                  <p:cNvPr id="275" name="T 322">
                    <a:extLst>
                      <a:ext uri="{FF2B5EF4-FFF2-40B4-BE49-F238E27FC236}">
                        <a16:creationId xmlns:a16="http://schemas.microsoft.com/office/drawing/2014/main" id="{93B13C8F-1A3B-058A-F9D6-FE75DA13A915}"/>
                      </a:ext>
                    </a:extLst>
                  </p:cNvPr>
                  <p:cNvSpPr txBox="1"/>
                  <p:nvPr/>
                </p:nvSpPr>
                <p:spPr>
                  <a:xfrm>
                    <a:off x="10147300" y="4340949"/>
                    <a:ext cx="1511300" cy="33509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>
                      <a:lnSpc>
                        <a:spcPct val="105000"/>
                      </a:lnSpc>
                    </a:pPr>
                    <a:r>
                      <a:rPr lang="en-US" altLang="ko-KR" sz="2000" b="1" dirty="0">
                        <a:solidFill>
                          <a:srgbClr val="FFFFFF"/>
                        </a:solidFill>
                        <a:latin typeface="Pretendard SemiBold" panose="02000703000000020004" pitchFamily="50" charset="-127"/>
                        <a:ea typeface="Pretendard SemiBold" panose="02000703000000020004" pitchFamily="50" charset="-127"/>
                        <a:cs typeface="Pretendard SemiBold" panose="02000703000000020004" pitchFamily="50" charset="-127"/>
                      </a:rPr>
                      <a:t>1,239만 명</a:t>
                    </a:r>
                  </a:p>
                </p:txBody>
              </p:sp>
            </p:grpSp>
          </p:grp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6E2475CB-63B6-B137-C74B-F41CE33C52DA}"/>
                  </a:ext>
                </a:extLst>
              </p:cNvPr>
              <p:cNvSpPr txBox="1"/>
              <p:nvPr/>
            </p:nvSpPr>
            <p:spPr>
              <a:xfrm>
                <a:off x="7392926" y="2085056"/>
                <a:ext cx="404939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ko-KR" altLang="en-US" sz="1200" b="1" i="1" dirty="0">
                    <a:gradFill>
                      <a:gsLst>
                        <a:gs pos="0">
                          <a:srgbClr val="7BD11F"/>
                        </a:gs>
                        <a:gs pos="55000">
                          <a:srgbClr val="3FA313"/>
                        </a:gs>
                        <a:gs pos="100000">
                          <a:srgbClr val="1E5E0F"/>
                        </a:gs>
                      </a:gsLst>
                      <a:lin ang="0" scaled="0"/>
                    </a:gradFill>
                    <a:latin typeface="JTBC Gothic Bold"/>
                    <a:ea typeface="JTBC Gothic Bold"/>
                  </a:rPr>
                  <a:t>|</a:t>
                </a:r>
                <a:r>
                  <a:rPr kumimoji="1" lang="ko-KR" altLang="en-US" sz="1200" b="1" dirty="0">
                    <a:gradFill>
                      <a:gsLst>
                        <a:gs pos="0">
                          <a:srgbClr val="7BD11F"/>
                        </a:gs>
                        <a:gs pos="55000">
                          <a:srgbClr val="3FA313"/>
                        </a:gs>
                        <a:gs pos="100000">
                          <a:srgbClr val="1E5E0F"/>
                        </a:gs>
                      </a:gsLst>
                      <a:lin ang="0" scaled="0"/>
                    </a:gradFill>
                    <a:latin typeface="JTBC Gothic Bold"/>
                    <a:ea typeface="JTBC Gothic Bold"/>
                  </a:rPr>
                  <a:t>    유동인구 규모</a:t>
                </a:r>
                <a:endParaRPr kumimoji="1" lang="en" altLang="ko-KR" sz="1200" b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JTBC Gothic Bold"/>
                  <a:ea typeface="JTBC Gothic Bold"/>
                </a:endParaRPr>
              </a:p>
            </p:txBody>
          </p:sp>
        </p:grp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BCC9C792-171D-9E81-7AB3-D8BA1489653F}"/>
              </a:ext>
            </a:extLst>
          </p:cNvPr>
          <p:cNvGrpSpPr/>
          <p:nvPr/>
        </p:nvGrpSpPr>
        <p:grpSpPr>
          <a:xfrm>
            <a:off x="563859" y="2647838"/>
            <a:ext cx="5299045" cy="3710065"/>
            <a:chOff x="649241" y="2085056"/>
            <a:chExt cx="5299045" cy="371006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F20BDE-F300-E205-71A3-BB6479A78116}"/>
                </a:ext>
              </a:extLst>
            </p:cNvPr>
            <p:cNvSpPr txBox="1"/>
            <p:nvPr/>
          </p:nvSpPr>
          <p:spPr>
            <a:xfrm>
              <a:off x="677154" y="2085056"/>
              <a:ext cx="85600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ko-KR" altLang="en-US" sz="1200" b="1" i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JTBC Gothic Bold"/>
                  <a:ea typeface="JTBC Gothic Bold"/>
                </a:rPr>
                <a:t>|</a:t>
              </a:r>
              <a:r>
                <a:rPr kumimoji="1" lang="ko-KR" altLang="en-US" sz="1200" b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JTBC Gothic Bold"/>
                  <a:ea typeface="JTBC Gothic Bold"/>
                </a:rPr>
                <a:t>    매체 정보</a:t>
              </a:r>
              <a:endParaRPr kumimoji="1" lang="en" altLang="ko-KR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JTBC Gothic Bold"/>
                <a:ea typeface="JTBC Gothic Bold"/>
              </a:endParaRP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D20EEAA1-3126-0BCF-9822-28A81767BDE3}"/>
                </a:ext>
              </a:extLst>
            </p:cNvPr>
            <p:cNvGrpSpPr/>
            <p:nvPr/>
          </p:nvGrpSpPr>
          <p:grpSpPr>
            <a:xfrm>
              <a:off x="649241" y="2679281"/>
              <a:ext cx="5299045" cy="3115840"/>
              <a:chOff x="649241" y="2679281"/>
              <a:chExt cx="5299045" cy="3115840"/>
            </a:xfrm>
          </p:grpSpPr>
          <p:sp>
            <p:nvSpPr>
              <p:cNvPr id="69" name="Shape 10">
                <a:extLst>
                  <a:ext uri="{FF2B5EF4-FFF2-40B4-BE49-F238E27FC236}">
                    <a16:creationId xmlns:a16="http://schemas.microsoft.com/office/drawing/2014/main" id="{0479868D-B40A-E145-49C4-D6BC9B695341}"/>
                  </a:ext>
                </a:extLst>
              </p:cNvPr>
              <p:cNvSpPr/>
              <p:nvPr/>
            </p:nvSpPr>
            <p:spPr>
              <a:xfrm>
                <a:off x="649241" y="3343941"/>
                <a:ext cx="1122218" cy="457200"/>
              </a:xfrm>
              <a:prstGeom prst="roundRect">
                <a:avLst>
                  <a:gd name="adj" fmla="val 8000"/>
                </a:avLst>
              </a:prstGeom>
              <a:solidFill>
                <a:srgbClr val="F3FDED"/>
              </a:solidFill>
              <a:ln w="6350">
                <a:solidFill>
                  <a:srgbClr val="E3E6EA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70" name="Text 11">
                <a:extLst>
                  <a:ext uri="{FF2B5EF4-FFF2-40B4-BE49-F238E27FC236}">
                    <a16:creationId xmlns:a16="http://schemas.microsoft.com/office/drawing/2014/main" id="{E3BB93DF-0391-1DB2-7335-23C689B354DA}"/>
                  </a:ext>
                </a:extLst>
              </p:cNvPr>
              <p:cNvSpPr txBox="1"/>
              <p:nvPr/>
            </p:nvSpPr>
            <p:spPr>
              <a:xfrm>
                <a:off x="877430" y="3343941"/>
                <a:ext cx="6658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100" b="1" dirty="0">
                    <a:solidFill>
                      <a:srgbClr val="22222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상세 위치</a:t>
                </a:r>
                <a:endParaRPr 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71" name="Shape 12">
                <a:extLst>
                  <a:ext uri="{FF2B5EF4-FFF2-40B4-BE49-F238E27FC236}">
                    <a16:creationId xmlns:a16="http://schemas.microsoft.com/office/drawing/2014/main" id="{15D561F8-6430-1A9F-37F6-DA4E0D338A28}"/>
                  </a:ext>
                </a:extLst>
              </p:cNvPr>
              <p:cNvSpPr/>
              <p:nvPr/>
            </p:nvSpPr>
            <p:spPr>
              <a:xfrm>
                <a:off x="1854587" y="3343941"/>
                <a:ext cx="2871958" cy="457200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>
                <a:solidFill>
                  <a:srgbClr val="D2D5DB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72" name="Text 13">
                <a:extLst>
                  <a:ext uri="{FF2B5EF4-FFF2-40B4-BE49-F238E27FC236}">
                    <a16:creationId xmlns:a16="http://schemas.microsoft.com/office/drawing/2014/main" id="{13F3A94A-9C48-3A61-C9B1-06CB38757874}"/>
                  </a:ext>
                </a:extLst>
              </p:cNvPr>
              <p:cNvSpPr txBox="1"/>
              <p:nvPr/>
            </p:nvSpPr>
            <p:spPr>
              <a:xfrm>
                <a:off x="2086128" y="3343941"/>
                <a:ext cx="3862158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광화문 동아일보사 사옥 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세종대로 사거리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  <p:sp>
            <p:nvSpPr>
              <p:cNvPr id="35" name="Shape 10">
                <a:extLst>
                  <a:ext uri="{FF2B5EF4-FFF2-40B4-BE49-F238E27FC236}">
                    <a16:creationId xmlns:a16="http://schemas.microsoft.com/office/drawing/2014/main" id="{04D77E0B-94DD-195B-C33B-11AF9F72AEC4}"/>
                  </a:ext>
                </a:extLst>
              </p:cNvPr>
              <p:cNvSpPr/>
              <p:nvPr/>
            </p:nvSpPr>
            <p:spPr>
              <a:xfrm>
                <a:off x="649241" y="2679281"/>
                <a:ext cx="1122218" cy="457200"/>
              </a:xfrm>
              <a:prstGeom prst="roundRect">
                <a:avLst>
                  <a:gd name="adj" fmla="val 8000"/>
                </a:avLst>
              </a:prstGeom>
              <a:solidFill>
                <a:srgbClr val="F3FDED"/>
              </a:solidFill>
              <a:ln w="6350">
                <a:solidFill>
                  <a:srgbClr val="E3E6EA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36" name="Text 11">
                <a:extLst>
                  <a:ext uri="{FF2B5EF4-FFF2-40B4-BE49-F238E27FC236}">
                    <a16:creationId xmlns:a16="http://schemas.microsoft.com/office/drawing/2014/main" id="{0B9C926C-90EE-6A72-CD11-A6E82C292D30}"/>
                  </a:ext>
                </a:extLst>
              </p:cNvPr>
              <p:cNvSpPr txBox="1"/>
              <p:nvPr/>
            </p:nvSpPr>
            <p:spPr>
              <a:xfrm>
                <a:off x="877430" y="2679281"/>
                <a:ext cx="6658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100" b="1" dirty="0" err="1">
                    <a:solidFill>
                      <a:srgbClr val="22222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매체명</a:t>
                </a:r>
                <a:endParaRPr 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37" name="Shape 12">
                <a:extLst>
                  <a:ext uri="{FF2B5EF4-FFF2-40B4-BE49-F238E27FC236}">
                    <a16:creationId xmlns:a16="http://schemas.microsoft.com/office/drawing/2014/main" id="{A23E3D48-DAAD-4D39-C6A1-E14547BD264D}"/>
                  </a:ext>
                </a:extLst>
              </p:cNvPr>
              <p:cNvSpPr/>
              <p:nvPr/>
            </p:nvSpPr>
            <p:spPr>
              <a:xfrm>
                <a:off x="1854587" y="2679281"/>
                <a:ext cx="2871959" cy="457200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>
                <a:solidFill>
                  <a:srgbClr val="D2D5DB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38" name="Text 13">
                <a:extLst>
                  <a:ext uri="{FF2B5EF4-FFF2-40B4-BE49-F238E27FC236}">
                    <a16:creationId xmlns:a16="http://schemas.microsoft.com/office/drawing/2014/main" id="{68058F64-1DF2-69AD-06B8-59867FB83EF1}"/>
                  </a:ext>
                </a:extLst>
              </p:cNvPr>
              <p:cNvSpPr txBox="1"/>
              <p:nvPr/>
            </p:nvSpPr>
            <p:spPr>
              <a:xfrm>
                <a:off x="2086128" y="2679281"/>
                <a:ext cx="937029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100" dirty="0" err="1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룩스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(LUUX)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</a:t>
                </a:r>
                <a:endParaRPr lang="en-US" sz="1100" dirty="0">
                  <a:solidFill>
                    <a:schemeClr val="bg2">
                      <a:lumMod val="2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74" name="Shape 10">
                <a:extLst>
                  <a:ext uri="{FF2B5EF4-FFF2-40B4-BE49-F238E27FC236}">
                    <a16:creationId xmlns:a16="http://schemas.microsoft.com/office/drawing/2014/main" id="{A7835DEF-F488-42C6-62A2-2302BC767E72}"/>
                  </a:ext>
                </a:extLst>
              </p:cNvPr>
              <p:cNvSpPr/>
              <p:nvPr/>
            </p:nvSpPr>
            <p:spPr>
              <a:xfrm>
                <a:off x="649241" y="4008601"/>
                <a:ext cx="1122218" cy="457200"/>
              </a:xfrm>
              <a:prstGeom prst="roundRect">
                <a:avLst>
                  <a:gd name="adj" fmla="val 8000"/>
                </a:avLst>
              </a:prstGeom>
              <a:solidFill>
                <a:srgbClr val="F3FDED"/>
              </a:solidFill>
              <a:ln w="6350">
                <a:solidFill>
                  <a:srgbClr val="E3E6EA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75" name="Text 11">
                <a:extLst>
                  <a:ext uri="{FF2B5EF4-FFF2-40B4-BE49-F238E27FC236}">
                    <a16:creationId xmlns:a16="http://schemas.microsoft.com/office/drawing/2014/main" id="{4119288A-2B34-D0E0-A1F3-F8BE84D96864}"/>
                  </a:ext>
                </a:extLst>
              </p:cNvPr>
              <p:cNvSpPr txBox="1"/>
              <p:nvPr/>
            </p:nvSpPr>
            <p:spPr>
              <a:xfrm>
                <a:off x="877430" y="4008601"/>
                <a:ext cx="6658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100" b="1" dirty="0">
                    <a:solidFill>
                      <a:srgbClr val="22222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일정</a:t>
                </a:r>
                <a:endParaRPr 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76" name="Shape 12">
                <a:extLst>
                  <a:ext uri="{FF2B5EF4-FFF2-40B4-BE49-F238E27FC236}">
                    <a16:creationId xmlns:a16="http://schemas.microsoft.com/office/drawing/2014/main" id="{707A4EFD-589F-6F2E-CB07-57DE3178DE6F}"/>
                  </a:ext>
                </a:extLst>
              </p:cNvPr>
              <p:cNvSpPr/>
              <p:nvPr/>
            </p:nvSpPr>
            <p:spPr>
              <a:xfrm>
                <a:off x="1854588" y="4008601"/>
                <a:ext cx="2871959" cy="457200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>
                <a:solidFill>
                  <a:srgbClr val="D2D5DB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77" name="Text 13">
                <a:extLst>
                  <a:ext uri="{FF2B5EF4-FFF2-40B4-BE49-F238E27FC236}">
                    <a16:creationId xmlns:a16="http://schemas.microsoft.com/office/drawing/2014/main" id="{4773B7F7-50E4-FDBB-F0C5-36F944446BE9}"/>
                  </a:ext>
                </a:extLst>
              </p:cNvPr>
              <p:cNvSpPr txBox="1"/>
              <p:nvPr/>
            </p:nvSpPr>
            <p:spPr>
              <a:xfrm>
                <a:off x="2086129" y="4008601"/>
                <a:ext cx="3421293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26.08.30 ~ 26.09.30 (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총 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32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일</a:t>
                </a:r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)</a:t>
                </a:r>
              </a:p>
            </p:txBody>
          </p:sp>
          <p:sp>
            <p:nvSpPr>
              <p:cNvPr id="79" name="Shape 10">
                <a:extLst>
                  <a:ext uri="{FF2B5EF4-FFF2-40B4-BE49-F238E27FC236}">
                    <a16:creationId xmlns:a16="http://schemas.microsoft.com/office/drawing/2014/main" id="{932FD3A7-C7B6-8971-5AEA-0374958898F0}"/>
                  </a:ext>
                </a:extLst>
              </p:cNvPr>
              <p:cNvSpPr/>
              <p:nvPr/>
            </p:nvSpPr>
            <p:spPr>
              <a:xfrm>
                <a:off x="649241" y="4673261"/>
                <a:ext cx="1122218" cy="457200"/>
              </a:xfrm>
              <a:prstGeom prst="roundRect">
                <a:avLst>
                  <a:gd name="adj" fmla="val 8000"/>
                </a:avLst>
              </a:prstGeom>
              <a:solidFill>
                <a:srgbClr val="F3FDED"/>
              </a:solidFill>
              <a:ln w="6350">
                <a:solidFill>
                  <a:srgbClr val="E3E6EA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81" name="Text 11">
                <a:extLst>
                  <a:ext uri="{FF2B5EF4-FFF2-40B4-BE49-F238E27FC236}">
                    <a16:creationId xmlns:a16="http://schemas.microsoft.com/office/drawing/2014/main" id="{AB75F2F5-C63B-2929-7567-9538D86D4462}"/>
                  </a:ext>
                </a:extLst>
              </p:cNvPr>
              <p:cNvSpPr txBox="1"/>
              <p:nvPr/>
            </p:nvSpPr>
            <p:spPr>
              <a:xfrm>
                <a:off x="877430" y="4673261"/>
                <a:ext cx="6658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100" b="1" dirty="0">
                    <a:solidFill>
                      <a:srgbClr val="22222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노출횟수</a:t>
                </a:r>
                <a:endParaRPr 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82" name="Shape 12">
                <a:extLst>
                  <a:ext uri="{FF2B5EF4-FFF2-40B4-BE49-F238E27FC236}">
                    <a16:creationId xmlns:a16="http://schemas.microsoft.com/office/drawing/2014/main" id="{0968E810-E553-CD23-E78B-97E0FEC0779D}"/>
                  </a:ext>
                </a:extLst>
              </p:cNvPr>
              <p:cNvSpPr/>
              <p:nvPr/>
            </p:nvSpPr>
            <p:spPr>
              <a:xfrm>
                <a:off x="1854587" y="4673261"/>
                <a:ext cx="2871959" cy="457200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>
                <a:solidFill>
                  <a:srgbClr val="D2D5DB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83" name="Text 13">
                <a:extLst>
                  <a:ext uri="{FF2B5EF4-FFF2-40B4-BE49-F238E27FC236}">
                    <a16:creationId xmlns:a16="http://schemas.microsoft.com/office/drawing/2014/main" id="{AC78BDCE-84FD-3626-BE66-DDEA7B729FA2}"/>
                  </a:ext>
                </a:extLst>
              </p:cNvPr>
              <p:cNvSpPr txBox="1"/>
              <p:nvPr/>
            </p:nvSpPr>
            <p:spPr>
              <a:xfrm>
                <a:off x="2086128" y="4673261"/>
                <a:ext cx="2506893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altLang="ko-KR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15초 · 1일 140회</a:t>
                </a:r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 이상 로테이션 </a:t>
                </a:r>
                <a:endParaRPr lang="en-US" sz="1100" dirty="0">
                  <a:solidFill>
                    <a:schemeClr val="bg2">
                      <a:lumMod val="25000"/>
                    </a:schemeClr>
                  </a:solidFill>
                  <a:latin typeface="Pretendard Medium" panose="02000603000000020004" pitchFamily="50" charset="-127"/>
                  <a:ea typeface="Pretendard Medium" panose="02000603000000020004" pitchFamily="50" charset="-127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85" name="Shape 10">
                <a:extLst>
                  <a:ext uri="{FF2B5EF4-FFF2-40B4-BE49-F238E27FC236}">
                    <a16:creationId xmlns:a16="http://schemas.microsoft.com/office/drawing/2014/main" id="{0A241E2B-293B-7951-A0C8-6499F98DCCC6}"/>
                  </a:ext>
                </a:extLst>
              </p:cNvPr>
              <p:cNvSpPr/>
              <p:nvPr/>
            </p:nvSpPr>
            <p:spPr>
              <a:xfrm>
                <a:off x="649241" y="5337921"/>
                <a:ext cx="1122218" cy="457200"/>
              </a:xfrm>
              <a:prstGeom prst="roundRect">
                <a:avLst>
                  <a:gd name="adj" fmla="val 8000"/>
                </a:avLst>
              </a:prstGeom>
              <a:solidFill>
                <a:srgbClr val="F3FDED"/>
              </a:solidFill>
              <a:ln w="6350">
                <a:solidFill>
                  <a:srgbClr val="E3E6EA"/>
                </a:solidFill>
                <a:prstDash val="solid"/>
              </a:ln>
            </p:spPr>
            <p:txBody>
              <a:bodyPr/>
              <a:lstStyle/>
              <a:p>
                <a:endParaRPr lang="ko-KR" altLang="en-US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86" name="Text 11">
                <a:extLst>
                  <a:ext uri="{FF2B5EF4-FFF2-40B4-BE49-F238E27FC236}">
                    <a16:creationId xmlns:a16="http://schemas.microsoft.com/office/drawing/2014/main" id="{FA9051A6-C016-8573-38AE-834A91D118A0}"/>
                  </a:ext>
                </a:extLst>
              </p:cNvPr>
              <p:cNvSpPr txBox="1"/>
              <p:nvPr/>
            </p:nvSpPr>
            <p:spPr>
              <a:xfrm>
                <a:off x="877430" y="5337921"/>
                <a:ext cx="66584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ko-KR" altLang="en-US" sz="1100" b="1" dirty="0">
                    <a:solidFill>
                      <a:srgbClr val="222222"/>
                    </a:solidFill>
                    <a:latin typeface="Pretendard SemiBold" panose="02000703000000020004" pitchFamily="50" charset="-127"/>
                    <a:ea typeface="Pretendard SemiBold" panose="02000703000000020004" pitchFamily="50" charset="-127"/>
                    <a:cs typeface="Pretendard SemiBold" panose="02000703000000020004" pitchFamily="50" charset="-127"/>
                  </a:rPr>
                  <a:t>노출방식</a:t>
                </a:r>
                <a:endParaRPr lang="en-US" sz="1100" dirty="0"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87" name="Shape 12">
                <a:extLst>
                  <a:ext uri="{FF2B5EF4-FFF2-40B4-BE49-F238E27FC236}">
                    <a16:creationId xmlns:a16="http://schemas.microsoft.com/office/drawing/2014/main" id="{78688D82-6A2C-7670-F450-E2D00577D283}"/>
                  </a:ext>
                </a:extLst>
              </p:cNvPr>
              <p:cNvSpPr/>
              <p:nvPr/>
            </p:nvSpPr>
            <p:spPr>
              <a:xfrm>
                <a:off x="1854587" y="5337921"/>
                <a:ext cx="2871959" cy="457200"/>
              </a:xfrm>
              <a:prstGeom prst="roundRect">
                <a:avLst>
                  <a:gd name="adj" fmla="val 8000"/>
                </a:avLst>
              </a:prstGeom>
              <a:solidFill>
                <a:schemeClr val="bg1"/>
              </a:solidFill>
              <a:ln w="12700">
                <a:solidFill>
                  <a:srgbClr val="D2D5DB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b="1">
                  <a:solidFill>
                    <a:schemeClr val="lt1"/>
                  </a:solidFill>
                </a:endParaRPr>
              </a:p>
            </p:txBody>
          </p:sp>
          <p:sp>
            <p:nvSpPr>
              <p:cNvPr id="88" name="Text 13">
                <a:extLst>
                  <a:ext uri="{FF2B5EF4-FFF2-40B4-BE49-F238E27FC236}">
                    <a16:creationId xmlns:a16="http://schemas.microsoft.com/office/drawing/2014/main" id="{D0025DD5-3BC5-DE7C-316D-DA4FBB9EFF45}"/>
                  </a:ext>
                </a:extLst>
              </p:cNvPr>
              <p:cNvSpPr txBox="1"/>
              <p:nvPr/>
            </p:nvSpPr>
            <p:spPr>
              <a:xfrm>
                <a:off x="2086128" y="5337921"/>
                <a:ext cx="1609179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ko-KR" altLang="en-US" sz="1100" dirty="0">
                    <a:solidFill>
                      <a:schemeClr val="bg2">
                        <a:lumMod val="25000"/>
                      </a:schemeClr>
                    </a:solidFill>
                    <a:latin typeface="Pretendard Medium" panose="02000603000000020004" pitchFamily="50" charset="-127"/>
                    <a:ea typeface="Pretendard Medium" panose="02000603000000020004" pitchFamily="50" charset="-127"/>
                    <a:cs typeface="Pretendard Medium" panose="02000603000000020004" pitchFamily="50" charset="-127"/>
                  </a:rPr>
                  <a:t>풀스크린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553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45C9-CFA0-589B-B991-F26264D8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0BFC6FC0-685D-A430-AF82-DEBDEBCE49F0}"/>
              </a:ext>
            </a:extLst>
          </p:cNvPr>
          <p:cNvSpPr txBox="1"/>
          <p:nvPr/>
        </p:nvSpPr>
        <p:spPr>
          <a:xfrm>
            <a:off x="7963014" y="2718353"/>
            <a:ext cx="1476742" cy="184666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200" b="1" dirty="0" err="1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북측면</a:t>
            </a:r>
            <a:r>
              <a:rPr kumimoji="1" lang="ko-KR" altLang="en-US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  </a:t>
            </a:r>
            <a:r>
              <a:rPr kumimoji="1" lang="ko-KR" altLang="en-US" sz="1000" dirty="0">
                <a:latin typeface="Pretendard" panose="020B0503000000000000" pitchFamily="50" charset="-127"/>
                <a:ea typeface="Pretendard" panose="020B0503000000000000" pitchFamily="50" charset="-127"/>
              </a:rPr>
              <a:t>광화문광장 방향</a:t>
            </a:r>
            <a:endParaRPr kumimoji="1" lang="ko-Kore-KR" altLang="en-US" sz="1000" dirty="0">
              <a:latin typeface="Pretendard" panose="020B0503000000000000" pitchFamily="50" charset="-127"/>
              <a:ea typeface="Pretendard" panose="020B0503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91B29E7-F724-19F0-93A9-DE584CF376F7}"/>
              </a:ext>
            </a:extLst>
          </p:cNvPr>
          <p:cNvSpPr/>
          <p:nvPr/>
        </p:nvSpPr>
        <p:spPr>
          <a:xfrm>
            <a:off x="563859" y="2505836"/>
            <a:ext cx="11119055" cy="4016780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8B02DF-F4FA-2FB8-5815-34CD7B89EBBF}"/>
              </a:ext>
            </a:extLst>
          </p:cNvPr>
          <p:cNvSpPr txBox="1"/>
          <p:nvPr/>
        </p:nvSpPr>
        <p:spPr>
          <a:xfrm>
            <a:off x="746294" y="2718353"/>
            <a:ext cx="1702265" cy="184666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200" b="1" dirty="0" err="1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서측면</a:t>
            </a:r>
            <a:r>
              <a:rPr kumimoji="1" lang="ko-KR" altLang="en-US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  </a:t>
            </a:r>
            <a:r>
              <a:rPr kumimoji="1" lang="ko-KR" altLang="en-US" sz="1000" dirty="0">
                <a:latin typeface="Pretendard" panose="020B0503000000000000" pitchFamily="50" charset="-127"/>
                <a:ea typeface="Pretendard" panose="020B0503000000000000" pitchFamily="50" charset="-127"/>
              </a:rPr>
              <a:t>광화문빌딩 방향</a:t>
            </a:r>
            <a:endParaRPr kumimoji="1" lang="ko-Kore-KR" altLang="en-US" sz="1000" dirty="0">
              <a:latin typeface="Pretendard" panose="020B0503000000000000" pitchFamily="50" charset="-127"/>
              <a:ea typeface="Pretendard" panose="020B0503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016F67-CC2A-A4D1-83F4-8FA0720F9D5A}"/>
              </a:ext>
            </a:extLst>
          </p:cNvPr>
          <p:cNvSpPr txBox="1"/>
          <p:nvPr/>
        </p:nvSpPr>
        <p:spPr>
          <a:xfrm>
            <a:off x="4378316" y="2718353"/>
            <a:ext cx="1466430" cy="184666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200" b="1" dirty="0" err="1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남측면</a:t>
            </a:r>
            <a:r>
              <a:rPr kumimoji="1" lang="ko-KR" altLang="en-US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  </a:t>
            </a:r>
            <a:r>
              <a:rPr kumimoji="1" lang="ko-KR" altLang="en-US" sz="1000" dirty="0">
                <a:latin typeface="Pretendard" panose="020B0503000000000000" pitchFamily="50" charset="-127"/>
                <a:ea typeface="Pretendard" panose="020B0503000000000000" pitchFamily="50" charset="-127"/>
              </a:rPr>
              <a:t>청계광장 방향</a:t>
            </a:r>
            <a:endParaRPr kumimoji="1" lang="ko-Kore-KR" altLang="en-US" sz="1000" dirty="0">
              <a:latin typeface="Pretendard" panose="020B0503000000000000" pitchFamily="50" charset="-127"/>
              <a:ea typeface="Pretendard" panose="020B0503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4490989-B5D9-864A-060A-EC85182784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216" r="16216"/>
          <a:stretch/>
        </p:blipFill>
        <p:spPr>
          <a:xfrm>
            <a:off x="832383" y="2979419"/>
            <a:ext cx="3338533" cy="3294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141927A-37A3-A42B-5D45-0E3078E90B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09" t="1910" r="16786" b="13049"/>
          <a:stretch>
            <a:fillRect/>
          </a:stretch>
        </p:blipFill>
        <p:spPr>
          <a:xfrm>
            <a:off x="4448158" y="2977316"/>
            <a:ext cx="3330041" cy="33084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B3A2440-60CD-01BD-F556-9F93325B8F9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846" t="13123" r="29748" b="7580"/>
          <a:stretch>
            <a:fillRect/>
          </a:stretch>
        </p:blipFill>
        <p:spPr>
          <a:xfrm>
            <a:off x="8055215" y="2977314"/>
            <a:ext cx="3338533" cy="3304800"/>
          </a:xfrm>
          <a:prstGeom prst="rect">
            <a:avLst/>
          </a:prstGeom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3734AE87-0CF5-FD38-81C4-84D2015F5743}"/>
              </a:ext>
            </a:extLst>
          </p:cNvPr>
          <p:cNvGrpSpPr/>
          <p:nvPr/>
        </p:nvGrpSpPr>
        <p:grpSpPr>
          <a:xfrm>
            <a:off x="500316" y="813208"/>
            <a:ext cx="3051406" cy="1114490"/>
            <a:chOff x="500316" y="813208"/>
            <a:chExt cx="3051406" cy="111449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935CAF5-765B-7084-5AF7-425CC87ACFFB}"/>
                </a:ext>
              </a:extLst>
            </p:cNvPr>
            <p:cNvSpPr txBox="1"/>
            <p:nvPr/>
          </p:nvSpPr>
          <p:spPr>
            <a:xfrm>
              <a:off x="509086" y="1061430"/>
              <a:ext cx="1117583" cy="276999"/>
            </a:xfrm>
            <a:prstGeom prst="rect">
              <a:avLst/>
            </a:prstGeom>
            <a:noFill/>
          </p:spPr>
          <p:txBody>
            <a:bodyPr wrap="square" lIns="90000" tIns="0" rIns="90000" bIns="0" rtlCol="0">
              <a:spAutoFit/>
            </a:bodyPr>
            <a:lstStyle/>
            <a:p>
              <a:r>
                <a:rPr lang="ko-KR" altLang="en-US" b="1" spc="-80" dirty="0">
                  <a:solidFill>
                    <a:schemeClr val="bg2">
                      <a:lumMod val="25000"/>
                    </a:schemeClr>
                  </a:solidFill>
                  <a:latin typeface="Pretendard" panose="020B0503000000000000" pitchFamily="34" charset="-127"/>
                  <a:ea typeface="Pretendard" panose="020B0503000000000000" pitchFamily="34" charset="-127"/>
                  <a:cs typeface="Pretendard Medium" panose="00000600000000000000" pitchFamily="2" charset="0"/>
                </a:rPr>
                <a:t>현장사진</a:t>
              </a:r>
              <a:endParaRPr lang="en-US" altLang="ko-KR" b="1" spc="-8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8B5CF83-77AC-FA30-88EA-F436C08EEBE7}"/>
                </a:ext>
              </a:extLst>
            </p:cNvPr>
            <p:cNvSpPr txBox="1"/>
            <p:nvPr/>
          </p:nvSpPr>
          <p:spPr>
            <a:xfrm>
              <a:off x="500316" y="813208"/>
              <a:ext cx="380530" cy="18466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spAutoFit/>
            </a:bodyPr>
            <a:lstStyle/>
            <a:p>
              <a:r>
                <a:rPr lang="en-US" altLang="ko-KR" sz="1200" b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 ExtraBold" panose="020C0603000000000000" pitchFamily="34" charset="-127"/>
                  <a:ea typeface="Pretendard ExtraBold" panose="020C0603000000000000" pitchFamily="34" charset="-127"/>
                  <a:cs typeface="Pretendard Medium" panose="00000600000000000000" pitchFamily="2" charset="0"/>
                </a:rPr>
                <a:t>02</a:t>
              </a:r>
              <a:endParaRPr lang="en-US" sz="1200" b="1" spc="-150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BF7B1C-8AB8-E6B6-7EBA-9D43A1E3F6EB}"/>
                </a:ext>
              </a:extLst>
            </p:cNvPr>
            <p:cNvSpPr txBox="1"/>
            <p:nvPr/>
          </p:nvSpPr>
          <p:spPr>
            <a:xfrm>
              <a:off x="1499539" y="1101954"/>
              <a:ext cx="1036479" cy="230832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spAutoFit/>
            </a:bodyPr>
            <a:lstStyle/>
            <a:p>
              <a:r>
                <a:rPr lang="ko-KR" altLang="en-US" sz="1500" spc="-80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소재 교체 전</a:t>
              </a:r>
              <a:endParaRPr lang="en-US" altLang="ko-KR" sz="1500" spc="-80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87CADE5-CA39-BE07-3F9E-7639137132A6}"/>
                </a:ext>
              </a:extLst>
            </p:cNvPr>
            <p:cNvSpPr txBox="1"/>
            <p:nvPr/>
          </p:nvSpPr>
          <p:spPr>
            <a:xfrm>
              <a:off x="509086" y="1463147"/>
              <a:ext cx="3042636" cy="464551"/>
            </a:xfrm>
            <a:prstGeom prst="rect">
              <a:avLst/>
            </a:prstGeom>
            <a:noFill/>
          </p:spPr>
          <p:txBody>
            <a:bodyPr wrap="square" lIns="90000" tIns="0" rIns="0" bIns="0" rtlCol="0">
              <a:spAutoFit/>
            </a:bodyPr>
            <a:lstStyle/>
            <a:p>
              <a:pPr marL="401638" marR="0" lvl="0" indent="-401638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41325" algn="l"/>
                </a:tabLst>
                <a:defRPr/>
              </a:pPr>
              <a:r>
                <a:rPr lang="ko-KR" altLang="en-US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집행기간</a:t>
              </a:r>
              <a:r>
                <a:rPr lang="en-US" altLang="ko-KR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      </a:t>
              </a:r>
              <a:r>
                <a:rPr lang="en-US" altLang="ko-KR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26.08.30 ~</a:t>
              </a:r>
              <a:r>
                <a:rPr lang="ko-KR" altLang="en-US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 </a:t>
              </a:r>
              <a:r>
                <a:rPr lang="en-US" altLang="ko-KR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26.09.05</a:t>
              </a:r>
            </a:p>
            <a:p>
              <a:pPr marL="401638" indent="-401638" latinLnBrk="0">
                <a:lnSpc>
                  <a:spcPct val="150000"/>
                </a:lnSpc>
                <a:tabLst>
                  <a:tab pos="441325" algn="l"/>
                </a:tabLst>
                <a:defRPr/>
              </a:pPr>
              <a:r>
                <a:rPr lang="ko-KR" altLang="en-US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콘텐츠</a:t>
              </a:r>
              <a:r>
                <a:rPr lang="en-US" altLang="ko-KR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</a:t>
              </a:r>
              <a:r>
                <a:rPr lang="ko-KR" altLang="en-US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</a:t>
              </a:r>
              <a:r>
                <a:rPr lang="en-US" altLang="ko-KR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	       </a:t>
              </a:r>
              <a:r>
                <a:rPr lang="ko-KR" altLang="en-US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올영세일 홍보 영상</a:t>
              </a:r>
              <a:endParaRPr lang="en-US" altLang="ko-KR" sz="1050" dirty="0">
                <a:latin typeface="Pretendard Light" panose="020C0303000000000000" pitchFamily="34" charset="-127"/>
                <a:ea typeface="Pretendard Light" panose="020C0303000000000000" pitchFamily="34" charset="-127"/>
                <a:cs typeface="Pretendard Light" panose="00000400000000000000" pitchFamily="2" charset="0"/>
              </a:endParaRPr>
            </a:p>
          </p:txBody>
        </p:sp>
      </p:grp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D76AF29A-698E-F72B-3FB5-9410C56D9CD5}"/>
              </a:ext>
            </a:extLst>
          </p:cNvPr>
          <p:cNvSpPr/>
          <p:nvPr/>
        </p:nvSpPr>
        <p:spPr>
          <a:xfrm>
            <a:off x="3081972" y="1055787"/>
            <a:ext cx="1320155" cy="27699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BD11F"/>
              </a:gs>
              <a:gs pos="55000">
                <a:srgbClr val="3FA313"/>
              </a:gs>
              <a:gs pos="100000">
                <a:srgbClr val="1E5E0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spc="-80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3</a:t>
            </a:r>
            <a:r>
              <a:rPr lang="ko-KR" altLang="en-US" sz="1300" spc="-80" dirty="0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개면 </a:t>
            </a:r>
            <a:r>
              <a:rPr lang="ko-KR" altLang="en-US" sz="1300" spc="-80" dirty="0" err="1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뷰포인트</a:t>
            </a:r>
            <a:endParaRPr lang="ko-KR" altLang="en-US" sz="1300" spc="-80" dirty="0">
              <a:solidFill>
                <a:schemeClr val="bg1"/>
              </a:solidFill>
              <a:latin typeface="Pretendard" panose="020B0503000000000000" pitchFamily="34" charset="-127"/>
              <a:ea typeface="Pretendard" panose="020B0503000000000000" pitchFamily="34" charset="-127"/>
              <a:cs typeface="Pretendard Medium" panose="000006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A50674-C258-018A-72ED-EF053994EDDA}"/>
              </a:ext>
            </a:extLst>
          </p:cNvPr>
          <p:cNvSpPr txBox="1"/>
          <p:nvPr/>
        </p:nvSpPr>
        <p:spPr>
          <a:xfrm>
            <a:off x="9662185" y="2114496"/>
            <a:ext cx="2115287" cy="153888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00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북측면</a:t>
            </a:r>
            <a:r>
              <a:rPr kumimoji="1" lang="ko-KR" altLang="en-US" sz="90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kumimoji="1" lang="ko-KR" altLang="en-US" sz="850" dirty="0">
                <a:solidFill>
                  <a:schemeClr val="bg2">
                    <a:lumMod val="25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</a:rPr>
              <a:t>광화문광장 방향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56CA2F-2B2C-335B-5C0B-941570A0568D}"/>
              </a:ext>
            </a:extLst>
          </p:cNvPr>
          <p:cNvSpPr txBox="1"/>
          <p:nvPr/>
        </p:nvSpPr>
        <p:spPr>
          <a:xfrm>
            <a:off x="7490248" y="2106228"/>
            <a:ext cx="2115287" cy="153888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00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남측면</a:t>
            </a:r>
            <a:r>
              <a:rPr kumimoji="1" lang="ko-KR" altLang="en-US" sz="90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kumimoji="1" lang="ko-KR" altLang="en-US" sz="850" dirty="0">
                <a:solidFill>
                  <a:schemeClr val="bg2">
                    <a:lumMod val="25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</a:rPr>
              <a:t>청계광장 방향</a:t>
            </a:r>
            <a:endParaRPr kumimoji="1" lang="ko-Kore-KR" altLang="en-US" sz="850" dirty="0">
              <a:solidFill>
                <a:schemeClr val="bg2">
                  <a:lumMod val="25000"/>
                </a:schemeClr>
              </a:solidFill>
              <a:latin typeface="Pretendard Light" panose="020B0503000000000000" pitchFamily="34" charset="-127"/>
              <a:ea typeface="Pretendard Light" panose="020B0503000000000000" pitchFamily="34" charset="-127"/>
            </a:endParaRPr>
          </a:p>
        </p:txBody>
      </p:sp>
      <p:pic>
        <p:nvPicPr>
          <p:cNvPr id="48" name="Picture 2">
            <a:extLst>
              <a:ext uri="{FF2B5EF4-FFF2-40B4-BE49-F238E27FC236}">
                <a16:creationId xmlns:a16="http://schemas.microsoft.com/office/drawing/2014/main" id="{999EC94F-3FB2-1E72-FAC5-F98A7E4CF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t="21871" b="21871"/>
          <a:stretch/>
        </p:blipFill>
        <p:spPr bwMode="auto">
          <a:xfrm>
            <a:off x="5408073" y="997873"/>
            <a:ext cx="1922699" cy="1023567"/>
          </a:xfrm>
          <a:prstGeom prst="roundRect">
            <a:avLst>
              <a:gd name="adj" fmla="val 5168"/>
            </a:avLst>
          </a:prstGeom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6A3D51D-C317-297B-045B-0192F05E6871}"/>
              </a:ext>
            </a:extLst>
          </p:cNvPr>
          <p:cNvSpPr txBox="1"/>
          <p:nvPr/>
        </p:nvSpPr>
        <p:spPr>
          <a:xfrm>
            <a:off x="5318310" y="2114496"/>
            <a:ext cx="2115287" cy="153888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00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서측면</a:t>
            </a:r>
            <a:r>
              <a:rPr kumimoji="1" lang="ko-KR" altLang="en-US" sz="90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kumimoji="1" lang="ko-KR" altLang="en-US" sz="850" dirty="0">
                <a:solidFill>
                  <a:schemeClr val="bg2">
                    <a:lumMod val="25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</a:rPr>
              <a:t>광화문빌딩 방향</a:t>
            </a:r>
            <a:endParaRPr kumimoji="1" lang="ko-Kore-KR" altLang="en-US" sz="850" dirty="0">
              <a:solidFill>
                <a:schemeClr val="bg2">
                  <a:lumMod val="25000"/>
                </a:schemeClr>
              </a:solidFill>
              <a:latin typeface="Pretendard Light" panose="020B0503000000000000" pitchFamily="34" charset="-127"/>
              <a:ea typeface="Pretendard Light" panose="020B0503000000000000" pitchFamily="34" charset="-127"/>
            </a:endParaRPr>
          </a:p>
        </p:txBody>
      </p:sp>
      <p:pic>
        <p:nvPicPr>
          <p:cNvPr id="1032" name="Picture 2">
            <a:extLst>
              <a:ext uri="{FF2B5EF4-FFF2-40B4-BE49-F238E27FC236}">
                <a16:creationId xmlns:a16="http://schemas.microsoft.com/office/drawing/2014/main" id="{6E13FB7B-1DFD-7D5E-BFEB-A64E58041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t="31551" b="12065"/>
          <a:stretch>
            <a:fillRect/>
          </a:stretch>
        </p:blipFill>
        <p:spPr bwMode="auto">
          <a:xfrm>
            <a:off x="7572519" y="997873"/>
            <a:ext cx="1922699" cy="1023567"/>
          </a:xfrm>
          <a:prstGeom prst="roundRect">
            <a:avLst>
              <a:gd name="adj" fmla="val 5168"/>
            </a:avLst>
          </a:prstGeom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</p:spPr>
      </p:pic>
      <p:pic>
        <p:nvPicPr>
          <p:cNvPr id="1033" name="Picture 2">
            <a:extLst>
              <a:ext uri="{FF2B5EF4-FFF2-40B4-BE49-F238E27FC236}">
                <a16:creationId xmlns:a16="http://schemas.microsoft.com/office/drawing/2014/main" id="{6CF9543B-32C9-FE02-CB4B-473386967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 t="16776" b="26733"/>
          <a:stretch>
            <a:fillRect/>
          </a:stretch>
        </p:blipFill>
        <p:spPr bwMode="auto">
          <a:xfrm>
            <a:off x="9751948" y="997873"/>
            <a:ext cx="1922699" cy="1023567"/>
          </a:xfrm>
          <a:prstGeom prst="roundRect">
            <a:avLst>
              <a:gd name="adj" fmla="val 5168"/>
            </a:avLst>
          </a:prstGeom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7C7D79-6215-5818-3534-59C9AFADFC2E}"/>
              </a:ext>
            </a:extLst>
          </p:cNvPr>
          <p:cNvSpPr txBox="1"/>
          <p:nvPr/>
        </p:nvSpPr>
        <p:spPr>
          <a:xfrm>
            <a:off x="500316" y="212481"/>
            <a:ext cx="9213672" cy="26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CJ올리브영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(LUUX)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         결과보고 요약</a:t>
            </a:r>
            <a:r>
              <a:rPr lang="en-US" altLang="ko-KR" sz="1050" spc="-80" dirty="0">
                <a:latin typeface="Pretendard" panose="020B0503000000000000" pitchFamily="34" charset="-127"/>
                <a:ea typeface="Pretendard" panose="020B0503000000000000" pitchFamily="34" charset="-127"/>
              </a:rPr>
              <a:t>	</a:t>
            </a:r>
            <a:endParaRPr lang="ko-KR" altLang="en-US" sz="1200" spc="-80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174844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67B5C-D50B-5A57-AE18-C388F745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FF3D56CA-AFE4-3D45-6867-B8711115FF01}"/>
              </a:ext>
            </a:extLst>
          </p:cNvPr>
          <p:cNvSpPr txBox="1"/>
          <p:nvPr/>
        </p:nvSpPr>
        <p:spPr>
          <a:xfrm>
            <a:off x="7963014" y="2718353"/>
            <a:ext cx="1476742" cy="184666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200" b="1" dirty="0" err="1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북측면</a:t>
            </a:r>
            <a:r>
              <a:rPr kumimoji="1" lang="ko-KR" altLang="en-US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  </a:t>
            </a:r>
            <a:r>
              <a:rPr kumimoji="1" lang="ko-KR" altLang="en-US" sz="1000" dirty="0">
                <a:latin typeface="Pretendard" panose="020B0503000000000000" pitchFamily="50" charset="-127"/>
                <a:ea typeface="Pretendard" panose="020B0503000000000000" pitchFamily="50" charset="-127"/>
              </a:rPr>
              <a:t>광화문광장 방향</a:t>
            </a:r>
            <a:endParaRPr kumimoji="1" lang="ko-Kore-KR" altLang="en-US" sz="1000" dirty="0">
              <a:latin typeface="Pretendard" panose="020B0503000000000000" pitchFamily="50" charset="-127"/>
              <a:ea typeface="Pretendard" panose="020B0503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3B54774-5611-1881-0864-3702B8A1249C}"/>
              </a:ext>
            </a:extLst>
          </p:cNvPr>
          <p:cNvSpPr/>
          <p:nvPr/>
        </p:nvSpPr>
        <p:spPr>
          <a:xfrm>
            <a:off x="563859" y="2505836"/>
            <a:ext cx="11119055" cy="4016780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DACDB7-B9D7-6CFB-6552-0BFEC7357D11}"/>
              </a:ext>
            </a:extLst>
          </p:cNvPr>
          <p:cNvSpPr txBox="1"/>
          <p:nvPr/>
        </p:nvSpPr>
        <p:spPr>
          <a:xfrm>
            <a:off x="746294" y="2718353"/>
            <a:ext cx="1702265" cy="184666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200" b="1" dirty="0" err="1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서측면</a:t>
            </a:r>
            <a:r>
              <a:rPr kumimoji="1" lang="ko-KR" altLang="en-US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  </a:t>
            </a:r>
            <a:r>
              <a:rPr kumimoji="1" lang="ko-KR" altLang="en-US" sz="1000" dirty="0">
                <a:latin typeface="Pretendard" panose="020B0503000000000000" pitchFamily="50" charset="-127"/>
                <a:ea typeface="Pretendard" panose="020B0503000000000000" pitchFamily="50" charset="-127"/>
              </a:rPr>
              <a:t>광화문빌딩 방향</a:t>
            </a:r>
            <a:endParaRPr kumimoji="1" lang="ko-Kore-KR" altLang="en-US" sz="1000" dirty="0">
              <a:latin typeface="Pretendard" panose="020B0503000000000000" pitchFamily="50" charset="-127"/>
              <a:ea typeface="Pretendard" panose="020B0503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604E9F-A9AB-5682-822C-7B4A1C769DB8}"/>
              </a:ext>
            </a:extLst>
          </p:cNvPr>
          <p:cNvSpPr txBox="1"/>
          <p:nvPr/>
        </p:nvSpPr>
        <p:spPr>
          <a:xfrm>
            <a:off x="4378316" y="2718353"/>
            <a:ext cx="1466430" cy="184666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200" b="1" dirty="0" err="1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남측면</a:t>
            </a:r>
            <a:r>
              <a:rPr kumimoji="1" lang="ko-KR" altLang="en-US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B0503000000000000" pitchFamily="34" charset="-127"/>
                <a:ea typeface="Pretendard" panose="020B0503000000000000" pitchFamily="34" charset="-127"/>
              </a:rPr>
              <a:t>  </a:t>
            </a:r>
            <a:r>
              <a:rPr kumimoji="1" lang="ko-KR" altLang="en-US" sz="1000" dirty="0">
                <a:latin typeface="Pretendard" panose="020B0503000000000000" pitchFamily="50" charset="-127"/>
                <a:ea typeface="Pretendard" panose="020B0503000000000000" pitchFamily="50" charset="-127"/>
              </a:rPr>
              <a:t>청계광장 방향</a:t>
            </a:r>
            <a:endParaRPr kumimoji="1" lang="ko-Kore-KR" altLang="en-US" sz="1000" dirty="0">
              <a:latin typeface="Pretendard" panose="020B0503000000000000" pitchFamily="50" charset="-127"/>
              <a:ea typeface="Pretendard" panose="020B0503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6313A36-0CF5-E873-C7DC-9201230BFA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836" t="4353" r="19737" b="10656"/>
          <a:stretch>
            <a:fillRect/>
          </a:stretch>
        </p:blipFill>
        <p:spPr>
          <a:xfrm>
            <a:off x="832383" y="2979419"/>
            <a:ext cx="3338533" cy="3294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053B483-1168-134D-7FDA-D7C2CAD574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234" t="4795" r="16389" b="14040"/>
          <a:stretch>
            <a:fillRect/>
          </a:stretch>
        </p:blipFill>
        <p:spPr>
          <a:xfrm>
            <a:off x="4448158" y="2977316"/>
            <a:ext cx="3330041" cy="33084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7C2F9AF-4A85-F79E-E096-DC412AB4CD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488" t="1783" r="33107" b="18920"/>
          <a:stretch>
            <a:fillRect/>
          </a:stretch>
        </p:blipFill>
        <p:spPr>
          <a:xfrm>
            <a:off x="8055215" y="2977314"/>
            <a:ext cx="3338533" cy="3304800"/>
          </a:xfrm>
          <a:prstGeom prst="rect">
            <a:avLst/>
          </a:prstGeom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08914F8D-AE36-34CD-5864-C444447E46C6}"/>
              </a:ext>
            </a:extLst>
          </p:cNvPr>
          <p:cNvGrpSpPr/>
          <p:nvPr/>
        </p:nvGrpSpPr>
        <p:grpSpPr>
          <a:xfrm>
            <a:off x="500316" y="813208"/>
            <a:ext cx="3051406" cy="1114490"/>
            <a:chOff x="500316" y="813208"/>
            <a:chExt cx="3051406" cy="111449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734238F-EE30-2F2A-634B-09FBD9D309FE}"/>
                </a:ext>
              </a:extLst>
            </p:cNvPr>
            <p:cNvSpPr txBox="1"/>
            <p:nvPr/>
          </p:nvSpPr>
          <p:spPr>
            <a:xfrm>
              <a:off x="509086" y="1061430"/>
              <a:ext cx="1117583" cy="276999"/>
            </a:xfrm>
            <a:prstGeom prst="rect">
              <a:avLst/>
            </a:prstGeom>
            <a:noFill/>
          </p:spPr>
          <p:txBody>
            <a:bodyPr wrap="square" lIns="90000" tIns="0" rIns="90000" bIns="0" rtlCol="0">
              <a:spAutoFit/>
            </a:bodyPr>
            <a:lstStyle/>
            <a:p>
              <a:r>
                <a:rPr lang="ko-KR" altLang="en-US" b="1" spc="-80" dirty="0">
                  <a:solidFill>
                    <a:schemeClr val="bg2">
                      <a:lumMod val="25000"/>
                    </a:schemeClr>
                  </a:solidFill>
                  <a:latin typeface="Pretendard" panose="020B0503000000000000" pitchFamily="34" charset="-127"/>
                  <a:ea typeface="Pretendard" panose="020B0503000000000000" pitchFamily="34" charset="-127"/>
                  <a:cs typeface="Pretendard Medium" panose="00000600000000000000" pitchFamily="2" charset="0"/>
                </a:rPr>
                <a:t>현장사진</a:t>
              </a:r>
              <a:endParaRPr lang="en-US" altLang="ko-KR" b="1" spc="-8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CF81FFE-B125-8EDE-B516-FA2955E5517D}"/>
                </a:ext>
              </a:extLst>
            </p:cNvPr>
            <p:cNvSpPr txBox="1"/>
            <p:nvPr/>
          </p:nvSpPr>
          <p:spPr>
            <a:xfrm>
              <a:off x="500316" y="813208"/>
              <a:ext cx="380530" cy="18466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spAutoFit/>
            </a:bodyPr>
            <a:lstStyle/>
            <a:p>
              <a:r>
                <a:rPr lang="en-US" altLang="ko-KR" sz="1200" b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 ExtraBold" panose="020C0603000000000000" pitchFamily="34" charset="-127"/>
                  <a:ea typeface="Pretendard ExtraBold" panose="020C0603000000000000" pitchFamily="34" charset="-127"/>
                  <a:cs typeface="Pretendard Medium" panose="00000600000000000000" pitchFamily="2" charset="0"/>
                </a:rPr>
                <a:t>02</a:t>
              </a:r>
              <a:endParaRPr lang="en-US" sz="1200" b="1" spc="-150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FD0FBC2-20D4-312D-EFF5-7F464B824A77}"/>
                </a:ext>
              </a:extLst>
            </p:cNvPr>
            <p:cNvSpPr txBox="1"/>
            <p:nvPr/>
          </p:nvSpPr>
          <p:spPr>
            <a:xfrm>
              <a:off x="1499539" y="1101954"/>
              <a:ext cx="1036479" cy="230832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spAutoFit/>
            </a:bodyPr>
            <a:lstStyle/>
            <a:p>
              <a:r>
                <a:rPr lang="ko-KR" altLang="en-US" sz="1500" spc="-80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 Medium" panose="02000503000000020004" pitchFamily="2" charset="-127"/>
                  <a:ea typeface="Pretendard Medium" panose="02000503000000020004" pitchFamily="2" charset="-127"/>
                  <a:cs typeface="Pretendard Medium" panose="02000503000000020004" pitchFamily="2" charset="-127"/>
                </a:rPr>
                <a:t>소재 교체 후</a:t>
              </a:r>
              <a:endParaRPr lang="en-US" altLang="ko-KR" sz="1500" spc="-80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35B69AB-E87E-5393-3AAC-D88A1409D1DD}"/>
                </a:ext>
              </a:extLst>
            </p:cNvPr>
            <p:cNvSpPr txBox="1"/>
            <p:nvPr/>
          </p:nvSpPr>
          <p:spPr>
            <a:xfrm>
              <a:off x="509086" y="1463147"/>
              <a:ext cx="3042636" cy="464551"/>
            </a:xfrm>
            <a:prstGeom prst="rect">
              <a:avLst/>
            </a:prstGeom>
            <a:noFill/>
          </p:spPr>
          <p:txBody>
            <a:bodyPr wrap="square" lIns="90000" tIns="0" rIns="0" bIns="0" rtlCol="0">
              <a:spAutoFit/>
            </a:bodyPr>
            <a:lstStyle/>
            <a:p>
              <a:pPr marL="401638" marR="0" lvl="0" indent="-401638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441325" algn="l"/>
                </a:tabLst>
                <a:defRPr/>
              </a:pPr>
              <a:r>
                <a:rPr lang="ko-KR" altLang="en-US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집행기간</a:t>
              </a:r>
              <a:r>
                <a:rPr lang="en-US" altLang="ko-KR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      </a:t>
              </a:r>
              <a:r>
                <a:rPr lang="en-US" altLang="ko-KR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26.09.06 ~</a:t>
              </a:r>
              <a:r>
                <a:rPr lang="ko-KR" altLang="en-US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 </a:t>
              </a:r>
              <a:r>
                <a:rPr lang="en-US" altLang="ko-KR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26.09.30</a:t>
              </a:r>
            </a:p>
            <a:p>
              <a:pPr marL="401638" indent="-401638" latinLnBrk="0">
                <a:lnSpc>
                  <a:spcPct val="150000"/>
                </a:lnSpc>
                <a:tabLst>
                  <a:tab pos="441325" algn="l"/>
                </a:tabLst>
                <a:defRPr/>
              </a:pPr>
              <a:r>
                <a:rPr lang="ko-KR" altLang="en-US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콘텐츠</a:t>
              </a:r>
              <a:r>
                <a:rPr lang="en-US" altLang="ko-KR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</a:t>
              </a:r>
              <a:r>
                <a:rPr lang="ko-KR" altLang="en-US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</a:t>
              </a:r>
              <a:r>
                <a:rPr lang="en-US" altLang="ko-KR" sz="1050" b="1" dirty="0"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	       </a:t>
              </a:r>
              <a:r>
                <a:rPr lang="ko-KR" altLang="en-US" sz="1050" dirty="0" err="1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산리오</a:t>
              </a:r>
              <a:r>
                <a:rPr lang="ko-KR" altLang="en-US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 </a:t>
              </a:r>
              <a:r>
                <a:rPr lang="ko-KR" altLang="en-US" sz="1050" dirty="0" err="1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콜라보</a:t>
              </a:r>
              <a:r>
                <a:rPr lang="ko-KR" altLang="en-US" sz="1050" dirty="0">
                  <a:latin typeface="Pretendard Light" panose="020C0303000000000000" pitchFamily="34" charset="-127"/>
                  <a:ea typeface="Pretendard Light" panose="020C0303000000000000" pitchFamily="34" charset="-127"/>
                  <a:cs typeface="Pretendard Light" panose="00000400000000000000" pitchFamily="2" charset="0"/>
                </a:rPr>
                <a:t> 홍보 영상</a:t>
              </a:r>
              <a:endParaRPr lang="en-US" altLang="ko-KR" sz="1050" dirty="0">
                <a:latin typeface="Pretendard Light" panose="020C0303000000000000" pitchFamily="34" charset="-127"/>
                <a:ea typeface="Pretendard Light" panose="020C0303000000000000" pitchFamily="34" charset="-127"/>
                <a:cs typeface="Pretendard Light" panose="00000400000000000000" pitchFamily="2" charset="0"/>
              </a:endParaRPr>
            </a:p>
          </p:txBody>
        </p:sp>
      </p:grp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7017C308-A24B-303D-31D8-7AD5502E0E1E}"/>
              </a:ext>
            </a:extLst>
          </p:cNvPr>
          <p:cNvSpPr/>
          <p:nvPr/>
        </p:nvSpPr>
        <p:spPr>
          <a:xfrm>
            <a:off x="3081972" y="1055787"/>
            <a:ext cx="1320155" cy="27699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BD11F"/>
              </a:gs>
              <a:gs pos="55000">
                <a:srgbClr val="3FA313"/>
              </a:gs>
              <a:gs pos="100000">
                <a:srgbClr val="1E5E0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spc="-80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3</a:t>
            </a:r>
            <a:r>
              <a:rPr lang="ko-KR" altLang="en-US" sz="1300" spc="-80" dirty="0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개면 </a:t>
            </a:r>
            <a:r>
              <a:rPr lang="ko-KR" altLang="en-US" sz="1300" spc="-80" dirty="0" err="1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뷰포인트</a:t>
            </a:r>
            <a:endParaRPr lang="ko-KR" altLang="en-US" sz="1300" spc="-80" dirty="0">
              <a:solidFill>
                <a:schemeClr val="bg1"/>
              </a:solidFill>
              <a:latin typeface="Pretendard" panose="020B0503000000000000" pitchFamily="34" charset="-127"/>
              <a:ea typeface="Pretendard" panose="020B0503000000000000" pitchFamily="34" charset="-127"/>
              <a:cs typeface="Pretendard Medium" panose="00000600000000000000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E369DB-B3EC-A9B7-C9B2-56851D771EA3}"/>
              </a:ext>
            </a:extLst>
          </p:cNvPr>
          <p:cNvSpPr txBox="1"/>
          <p:nvPr/>
        </p:nvSpPr>
        <p:spPr>
          <a:xfrm>
            <a:off x="9662185" y="2114496"/>
            <a:ext cx="2115287" cy="153888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00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북측면</a:t>
            </a:r>
            <a:r>
              <a:rPr kumimoji="1" lang="ko-KR" altLang="en-US" sz="90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kumimoji="1" lang="ko-KR" altLang="en-US" sz="850" dirty="0">
                <a:solidFill>
                  <a:schemeClr val="bg2">
                    <a:lumMod val="25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</a:rPr>
              <a:t>광화문광장 방향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0FB1AB-4719-106B-11A7-E1169BE84A19}"/>
              </a:ext>
            </a:extLst>
          </p:cNvPr>
          <p:cNvSpPr txBox="1"/>
          <p:nvPr/>
        </p:nvSpPr>
        <p:spPr>
          <a:xfrm>
            <a:off x="7490248" y="2106228"/>
            <a:ext cx="2115287" cy="153888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00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남측면</a:t>
            </a:r>
            <a:r>
              <a:rPr kumimoji="1" lang="ko-KR" altLang="en-US" sz="90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kumimoji="1" lang="ko-KR" altLang="en-US" sz="850" dirty="0">
                <a:solidFill>
                  <a:schemeClr val="bg2">
                    <a:lumMod val="25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</a:rPr>
              <a:t>청계광장 방향</a:t>
            </a:r>
            <a:endParaRPr kumimoji="1" lang="ko-Kore-KR" altLang="en-US" sz="850" dirty="0">
              <a:solidFill>
                <a:schemeClr val="bg2">
                  <a:lumMod val="25000"/>
                </a:schemeClr>
              </a:solidFill>
              <a:latin typeface="Pretendard Light" panose="020B0503000000000000" pitchFamily="34" charset="-127"/>
              <a:ea typeface="Pretendard Light" panose="020B0503000000000000" pitchFamily="34" charset="-127"/>
            </a:endParaRPr>
          </a:p>
        </p:txBody>
      </p:sp>
      <p:pic>
        <p:nvPicPr>
          <p:cNvPr id="48" name="Picture 2">
            <a:extLst>
              <a:ext uri="{FF2B5EF4-FFF2-40B4-BE49-F238E27FC236}">
                <a16:creationId xmlns:a16="http://schemas.microsoft.com/office/drawing/2014/main" id="{84720475-C40E-B504-C5AF-53ECCC2C7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t="21871" b="21871"/>
          <a:stretch/>
        </p:blipFill>
        <p:spPr bwMode="auto">
          <a:xfrm>
            <a:off x="5408073" y="997873"/>
            <a:ext cx="1922699" cy="1023567"/>
          </a:xfrm>
          <a:prstGeom prst="roundRect">
            <a:avLst>
              <a:gd name="adj" fmla="val 5168"/>
            </a:avLst>
          </a:prstGeom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1FB8A15-73BA-F91C-A047-33C405839C16}"/>
              </a:ext>
            </a:extLst>
          </p:cNvPr>
          <p:cNvSpPr txBox="1"/>
          <p:nvPr/>
        </p:nvSpPr>
        <p:spPr>
          <a:xfrm>
            <a:off x="5318310" y="2114496"/>
            <a:ext cx="2115287" cy="153888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r>
              <a:rPr kumimoji="1" lang="ko-KR" altLang="en-US" sz="1000" dirty="0" err="1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서측면</a:t>
            </a:r>
            <a:r>
              <a:rPr kumimoji="1" lang="ko-KR" altLang="en-US" sz="90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kumimoji="1" lang="ko-KR" altLang="en-US" sz="850" dirty="0">
                <a:solidFill>
                  <a:schemeClr val="bg2">
                    <a:lumMod val="25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</a:rPr>
              <a:t>광화문빌딩 방향</a:t>
            </a:r>
            <a:endParaRPr kumimoji="1" lang="ko-Kore-KR" altLang="en-US" sz="850" dirty="0">
              <a:solidFill>
                <a:schemeClr val="bg2">
                  <a:lumMod val="25000"/>
                </a:schemeClr>
              </a:solidFill>
              <a:latin typeface="Pretendard Light" panose="020B0503000000000000" pitchFamily="34" charset="-127"/>
              <a:ea typeface="Pretendard Light" panose="020B0503000000000000" pitchFamily="34" charset="-127"/>
            </a:endParaRPr>
          </a:p>
        </p:txBody>
      </p:sp>
      <p:pic>
        <p:nvPicPr>
          <p:cNvPr id="1032" name="Picture 2">
            <a:extLst>
              <a:ext uri="{FF2B5EF4-FFF2-40B4-BE49-F238E27FC236}">
                <a16:creationId xmlns:a16="http://schemas.microsoft.com/office/drawing/2014/main" id="{E77B3826-07CA-EBF2-1125-E471B3990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 t="31551" b="12065"/>
          <a:stretch>
            <a:fillRect/>
          </a:stretch>
        </p:blipFill>
        <p:spPr bwMode="auto">
          <a:xfrm>
            <a:off x="7572519" y="997873"/>
            <a:ext cx="1922699" cy="1023567"/>
          </a:xfrm>
          <a:prstGeom prst="roundRect">
            <a:avLst>
              <a:gd name="adj" fmla="val 5168"/>
            </a:avLst>
          </a:prstGeom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</p:spPr>
      </p:pic>
      <p:pic>
        <p:nvPicPr>
          <p:cNvPr id="1033" name="Picture 2">
            <a:extLst>
              <a:ext uri="{FF2B5EF4-FFF2-40B4-BE49-F238E27FC236}">
                <a16:creationId xmlns:a16="http://schemas.microsoft.com/office/drawing/2014/main" id="{3F34D83B-738C-1B69-7558-92C32EA60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 t="16776" b="26733"/>
          <a:stretch>
            <a:fillRect/>
          </a:stretch>
        </p:blipFill>
        <p:spPr bwMode="auto">
          <a:xfrm>
            <a:off x="9751948" y="997873"/>
            <a:ext cx="1922699" cy="1023567"/>
          </a:xfrm>
          <a:prstGeom prst="roundRect">
            <a:avLst>
              <a:gd name="adj" fmla="val 5168"/>
            </a:avLst>
          </a:prstGeom>
          <a:ln w="9525">
            <a:solidFill>
              <a:schemeClr val="bg2">
                <a:lumMod val="90000"/>
              </a:schemeClr>
            </a:solidFill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20F4DD-BF28-9FA1-F196-8F02F0F335AA}"/>
              </a:ext>
            </a:extLst>
          </p:cNvPr>
          <p:cNvSpPr txBox="1"/>
          <p:nvPr/>
        </p:nvSpPr>
        <p:spPr>
          <a:xfrm>
            <a:off x="500316" y="212481"/>
            <a:ext cx="9213672" cy="26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CJ올리브영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(LUUX)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         결과보고 요약</a:t>
            </a:r>
            <a:r>
              <a:rPr lang="en-US" altLang="ko-KR" sz="1050" spc="-80" dirty="0">
                <a:latin typeface="Pretendard" panose="020B0503000000000000" pitchFamily="34" charset="-127"/>
                <a:ea typeface="Pretendard" panose="020B0503000000000000" pitchFamily="34" charset="-127"/>
              </a:rPr>
              <a:t>	</a:t>
            </a:r>
            <a:endParaRPr lang="ko-KR" altLang="en-US" sz="1200" spc="-80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791151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0BE3017-8B08-5093-642C-504FDDA07DBC}"/>
              </a:ext>
            </a:extLst>
          </p:cNvPr>
          <p:cNvSpPr txBox="1"/>
          <p:nvPr/>
        </p:nvSpPr>
        <p:spPr>
          <a:xfrm>
            <a:off x="434199" y="2797797"/>
            <a:ext cx="2563001" cy="430887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pPr>
              <a:tabLst>
                <a:tab pos="301625" algn="l"/>
              </a:tabLst>
            </a:pPr>
            <a:r>
              <a:rPr kumimoji="1" lang="en-US" altLang="ko-KR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Ⅱ 	</a:t>
            </a:r>
            <a:r>
              <a:rPr kumimoji="1" lang="ko-KR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kumimoji="1" lang="ko-KR" altLang="en-US" sz="1400" b="1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오디언스</a:t>
            </a:r>
            <a:r>
              <a:rPr kumimoji="1" lang="ko-KR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타겟팅</a:t>
            </a:r>
            <a:endParaRPr kumimoji="1" lang="ko-Kore-KR" altLang="en-US" sz="14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  <a:p>
            <a:pPr>
              <a:tabLst>
                <a:tab pos="301625" algn="l"/>
              </a:tabLst>
            </a:pPr>
            <a:endParaRPr kumimoji="1" lang="ko-Kore-KR" altLang="en-US" sz="14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cxnSp>
        <p:nvCxnSpPr>
          <p:cNvPr id="15" name="직선 연결선[R] 21">
            <a:extLst>
              <a:ext uri="{FF2B5EF4-FFF2-40B4-BE49-F238E27FC236}">
                <a16:creationId xmlns:a16="http://schemas.microsoft.com/office/drawing/2014/main" id="{8E2F0F5E-D05A-49D7-9629-F1162F928F22}"/>
              </a:ext>
            </a:extLst>
          </p:cNvPr>
          <p:cNvCxnSpPr>
            <a:cxnSpLocks/>
          </p:cNvCxnSpPr>
          <p:nvPr/>
        </p:nvCxnSpPr>
        <p:spPr>
          <a:xfrm>
            <a:off x="0" y="1976610"/>
            <a:ext cx="4470400" cy="0"/>
          </a:xfrm>
          <a:prstGeom prst="line">
            <a:avLst/>
          </a:prstGeom>
          <a:ln w="9525">
            <a:gradFill>
              <a:gsLst>
                <a:gs pos="0">
                  <a:srgbClr val="7BD11F"/>
                </a:gs>
                <a:gs pos="55000">
                  <a:srgbClr val="3FA313"/>
                </a:gs>
                <a:gs pos="100000">
                  <a:srgbClr val="1E5E0F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D0AD297-910E-624D-0156-D92A0F58AE7D}"/>
              </a:ext>
            </a:extLst>
          </p:cNvPr>
          <p:cNvSpPr txBox="1"/>
          <p:nvPr/>
        </p:nvSpPr>
        <p:spPr>
          <a:xfrm>
            <a:off x="2657474" y="2797797"/>
            <a:ext cx="1965326" cy="435056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01   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총 유동인구</a:t>
            </a:r>
          </a:p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02   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연령대별 및 성별 유동인구</a:t>
            </a:r>
          </a:p>
        </p:txBody>
      </p:sp>
    </p:spTree>
    <p:extLst>
      <p:ext uri="{BB962C8B-B14F-4D97-AF65-F5344CB8AC3E}">
        <p14:creationId xmlns:p14="http://schemas.microsoft.com/office/powerpoint/2010/main" val="391480182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802EE3-436A-04B1-9EAA-1E3ACE4ED323}"/>
              </a:ext>
            </a:extLst>
          </p:cNvPr>
          <p:cNvSpPr txBox="1"/>
          <p:nvPr/>
        </p:nvSpPr>
        <p:spPr>
          <a:xfrm>
            <a:off x="500316" y="212481"/>
            <a:ext cx="4616438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CJ올리브영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(</a:t>
            </a:r>
            <a:r>
              <a:rPr lang="en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LUUX)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        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오디언스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 타겟팅</a:t>
            </a:r>
            <a:endParaRPr lang="ko-KR" altLang="en-US" sz="1200" spc="-80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48CD10A-6366-9EB3-A2AB-D111F5CAF085}"/>
              </a:ext>
            </a:extLst>
          </p:cNvPr>
          <p:cNvSpPr/>
          <p:nvPr/>
        </p:nvSpPr>
        <p:spPr>
          <a:xfrm>
            <a:off x="563859" y="2548021"/>
            <a:ext cx="11119055" cy="3974595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02117C6-0564-6F90-123D-06FFE3F4EE71}"/>
              </a:ext>
            </a:extLst>
          </p:cNvPr>
          <p:cNvGrpSpPr/>
          <p:nvPr/>
        </p:nvGrpSpPr>
        <p:grpSpPr>
          <a:xfrm>
            <a:off x="500316" y="813208"/>
            <a:ext cx="3447811" cy="874529"/>
            <a:chOff x="500316" y="813208"/>
            <a:chExt cx="3447811" cy="874529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2EF9BB-FFFD-122A-189C-F6BCE7131316}"/>
                </a:ext>
              </a:extLst>
            </p:cNvPr>
            <p:cNvSpPr txBox="1"/>
            <p:nvPr/>
          </p:nvSpPr>
          <p:spPr>
            <a:xfrm>
              <a:off x="510372" y="1433821"/>
              <a:ext cx="3437755" cy="253916"/>
            </a:xfrm>
            <a:prstGeom prst="rect">
              <a:avLst/>
            </a:prstGeom>
            <a:noFill/>
          </p:spPr>
          <p:txBody>
            <a:bodyPr wrap="square" lIns="90000" tIns="0" rIns="0" bIns="0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200" spc="-7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로그데이터 산출 지표 중 ‘권역별 일자별 유동인구’ 정보 측정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59366DF-9230-4808-9C52-43137446DA93}"/>
                </a:ext>
              </a:extLst>
            </p:cNvPr>
            <p:cNvSpPr txBox="1"/>
            <p:nvPr/>
          </p:nvSpPr>
          <p:spPr>
            <a:xfrm>
              <a:off x="509086" y="1061430"/>
              <a:ext cx="3186221" cy="276999"/>
            </a:xfrm>
            <a:prstGeom prst="rect">
              <a:avLst/>
            </a:prstGeom>
            <a:noFill/>
          </p:spPr>
          <p:txBody>
            <a:bodyPr wrap="square" lIns="90000" tIns="0" rIns="90000" bIns="0" rtlCol="0">
              <a:spAutoFit/>
            </a:bodyPr>
            <a:lstStyle/>
            <a:p>
              <a:r>
                <a:rPr lang="ko-KR" altLang="en-US" b="1" spc="-80" dirty="0">
                  <a:solidFill>
                    <a:schemeClr val="bg2">
                      <a:lumMod val="25000"/>
                    </a:schemeClr>
                  </a:solidFill>
                  <a:latin typeface="Pretendard" panose="020B0503000000000000" pitchFamily="34" charset="-127"/>
                  <a:ea typeface="Pretendard" panose="020B0503000000000000" pitchFamily="34" charset="-127"/>
                  <a:cs typeface="Pretendard Medium" panose="00000600000000000000" pitchFamily="2" charset="0"/>
                </a:rPr>
                <a:t>총 유동인구</a:t>
              </a:r>
              <a:endParaRPr lang="en-US" altLang="ko-KR" b="1" spc="-8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3A9B943-6D6A-4027-B647-7DBA1AE8A5FC}"/>
                </a:ext>
              </a:extLst>
            </p:cNvPr>
            <p:cNvSpPr txBox="1"/>
            <p:nvPr/>
          </p:nvSpPr>
          <p:spPr>
            <a:xfrm>
              <a:off x="500316" y="813208"/>
              <a:ext cx="886031" cy="184666"/>
            </a:xfrm>
            <a:prstGeom prst="rect">
              <a:avLst/>
            </a:prstGeom>
            <a:noFill/>
          </p:spPr>
          <p:txBody>
            <a:bodyPr wrap="none" lIns="90000" tIns="0" rIns="90000" bIns="0" rtlCol="0">
              <a:spAutoFit/>
            </a:bodyPr>
            <a:lstStyle/>
            <a:p>
              <a:r>
                <a:rPr lang="en-US" altLang="ko-KR" sz="1200" b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 ExtraBold" panose="020C0603000000000000" pitchFamily="34" charset="-127"/>
                  <a:ea typeface="Pretendard ExtraBold" panose="020C0603000000000000" pitchFamily="34" charset="-127"/>
                  <a:cs typeface="Pretendard Medium" panose="00000600000000000000" pitchFamily="2" charset="0"/>
                </a:rPr>
                <a:t>01</a:t>
              </a:r>
              <a:endParaRPr lang="en-US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endParaRPr>
            </a:p>
          </p:txBody>
        </p:sp>
      </p:grpSp>
      <p:graphicFrame>
        <p:nvGraphicFramePr>
          <p:cNvPr id="171" name="Chart"/>
          <p:cNvGraphicFramePr/>
          <p:nvPr/>
        </p:nvGraphicFramePr>
        <p:xfrm>
          <a:off x="1031482" y="3340100"/>
          <a:ext cx="103251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97D8302-82DE-3C8C-1CD4-8475754E231B}"/>
              </a:ext>
            </a:extLst>
          </p:cNvPr>
          <p:cNvSpPr txBox="1"/>
          <p:nvPr/>
        </p:nvSpPr>
        <p:spPr>
          <a:xfrm>
            <a:off x="3415115" y="2196699"/>
            <a:ext cx="20345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SK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텔레콤 </a:t>
            </a:r>
            <a:r>
              <a:rPr lang="ko-KR" altLang="en-US" sz="800" spc="-60" dirty="0" err="1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지오비전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 퍼즐 유동인구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(50</a:t>
            </a:r>
            <a:r>
              <a:rPr lang="en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m×50m 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격자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)</a:t>
            </a:r>
            <a:endParaRPr lang="ko-KR" altLang="en-US" sz="800" spc="-60" dirty="0">
              <a:solidFill>
                <a:schemeClr val="bg2">
                  <a:lumMod val="50000"/>
                </a:schemeClr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Medium" panose="0200060300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92292B-8926-9ECE-FD32-62A71CB7C876}"/>
              </a:ext>
            </a:extLst>
          </p:cNvPr>
          <p:cNvSpPr txBox="1"/>
          <p:nvPr/>
        </p:nvSpPr>
        <p:spPr>
          <a:xfrm>
            <a:off x="482752" y="2085056"/>
            <a:ext cx="255863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7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 Light" panose="020B0303000000000000" pitchFamily="34" charset="-127"/>
                <a:ea typeface="Pretendard Light" panose="020B0303000000000000" pitchFamily="34" charset="-127"/>
                <a:cs typeface="+mn-cs"/>
              </a:rPr>
              <a:t>게첨</a:t>
            </a:r>
            <a:r>
              <a:rPr kumimoji="0" lang="ko-KR" altLang="en-US" sz="1200" b="0" i="0" u="none" strike="noStrike" kern="1200" cap="none" spc="-7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Pretendard Light" panose="020B0303000000000000" pitchFamily="34" charset="-127"/>
                <a:ea typeface="Pretendard Light" panose="020B0303000000000000" pitchFamily="34" charset="-127"/>
                <a:cs typeface="+mn-cs"/>
              </a:rPr>
              <a:t> 기간 내 유동인구 총합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938BE06-5195-CEA9-ED2A-F38C8BDE96CB}"/>
              </a:ext>
            </a:extLst>
          </p:cNvPr>
          <p:cNvSpPr txBox="1"/>
          <p:nvPr/>
        </p:nvSpPr>
        <p:spPr>
          <a:xfrm>
            <a:off x="2180931" y="2099966"/>
            <a:ext cx="1769635" cy="3400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829875">
              <a:lnSpc>
                <a:spcPct val="120000"/>
              </a:lnSpc>
              <a:defRPr sz="2000" b="0" spc="-94">
                <a:solidFill>
                  <a:srgbClr val="2355F2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pPr>
            <a:r>
              <a:rPr lang="ko-KR" altLang="en-US" sz="1400" b="1" spc="-94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C0603000000000000" pitchFamily="34" charset="-127"/>
                <a:ea typeface="Pretendard" panose="020C0603000000000000" pitchFamily="34" charset="-127"/>
                <a:cs typeface="Pretendard Medium"/>
              </a:rPr>
              <a:t>약 </a:t>
            </a:r>
            <a:r>
              <a:rPr lang="en-US" altLang="ko-KR" sz="1400" b="1" spc="-94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C0603000000000000" pitchFamily="34" charset="-127"/>
                <a:ea typeface="Pretendard" panose="020C0603000000000000" pitchFamily="34" charset="-127"/>
                <a:cs typeface="Pretendard Medium"/>
              </a:rPr>
              <a:t>1,239만 명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EC9E6E5-D0F7-2BD5-EA74-F4FBB64CC943}"/>
              </a:ext>
            </a:extLst>
          </p:cNvPr>
          <p:cNvSpPr txBox="1"/>
          <p:nvPr/>
        </p:nvSpPr>
        <p:spPr>
          <a:xfrm>
            <a:off x="830198" y="2753371"/>
            <a:ext cx="4875143" cy="285912"/>
          </a:xfrm>
          <a:prstGeom prst="rect">
            <a:avLst/>
          </a:prstGeom>
          <a:noFill/>
        </p:spPr>
        <p:txBody>
          <a:bodyPr wrap="none" lIns="90000" tIns="0" rIns="0" bIns="0" rtlCol="0">
            <a:spAutoFit/>
          </a:bodyPr>
          <a:lstStyle/>
          <a:p>
            <a:pPr marL="401638" indent="-401638" latinLnBrk="0">
              <a:lnSpc>
                <a:spcPct val="150000"/>
              </a:lnSpc>
              <a:tabLst>
                <a:tab pos="441325" algn="l"/>
              </a:tabLst>
              <a:defRPr/>
            </a:pPr>
            <a:r>
              <a:rPr lang="en-US" altLang="ko-KR" sz="1400" b="1" i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Light" panose="00000400000000000000" pitchFamily="2" charset="0"/>
              </a:rPr>
              <a:t>|</a:t>
            </a:r>
            <a:r>
              <a:rPr lang="ko-KR" altLang="en-US" sz="14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rPr>
              <a:t>   </a:t>
            </a:r>
            <a:r>
              <a:rPr lang="en-US" altLang="ko-KR" sz="14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rPr>
              <a:t>3</a:t>
            </a:r>
            <a:r>
              <a:rPr lang="ko-KR" altLang="en-US" sz="14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rPr>
              <a:t>개면 </a:t>
            </a:r>
            <a:r>
              <a:rPr lang="ko-KR" altLang="en-US" sz="1400" b="1" dirty="0" err="1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rPr>
              <a:t>뷰포인트</a:t>
            </a:r>
            <a:r>
              <a:rPr lang="ko-KR" altLang="en-US" sz="14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rPr>
              <a:t> 유동인구</a:t>
            </a:r>
            <a:endParaRPr lang="en-US" altLang="ko-KR" sz="1400" dirty="0">
              <a:gradFill>
                <a:gsLst>
                  <a:gs pos="0">
                    <a:srgbClr val="7BD11F"/>
                  </a:gs>
                  <a:gs pos="55000">
                    <a:srgbClr val="3FA313"/>
                  </a:gs>
                  <a:gs pos="100000">
                    <a:srgbClr val="1E5E0F"/>
                  </a:gs>
                </a:gsLst>
                <a:lin ang="0" scaled="0"/>
              </a:gradFill>
              <a:latin typeface="Pretendard Light" panose="020C0303000000000000" pitchFamily="34" charset="-127"/>
              <a:ea typeface="Pretendard Light" panose="020C0303000000000000" pitchFamily="34" charset="-127"/>
              <a:cs typeface="Pretendard Light" panose="00000400000000000000" pitchFamily="2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A31BA02-B5A2-3FEA-8914-589C5CC15663}"/>
              </a:ext>
            </a:extLst>
          </p:cNvPr>
          <p:cNvSpPr txBox="1"/>
          <p:nvPr/>
        </p:nvSpPr>
        <p:spPr>
          <a:xfrm>
            <a:off x="1031482" y="3097308"/>
            <a:ext cx="2774036" cy="218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광화문역 북부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·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남부권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서울시청 </a:t>
            </a:r>
            <a:r>
              <a:rPr lang="ko-KR" altLang="en-US" sz="800" spc="-60" dirty="0" err="1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북부권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 일별 합산</a:t>
            </a:r>
          </a:p>
        </p:txBody>
      </p:sp>
      <p:sp>
        <p:nvSpPr>
          <p:cNvPr id="2" name="모서리가 둥근 직사각형 1">
            <a:hlinkClick r:id="rId4"/>
            <a:extLst>
              <a:ext uri="{FF2B5EF4-FFF2-40B4-BE49-F238E27FC236}">
                <a16:creationId xmlns:a16="http://schemas.microsoft.com/office/drawing/2014/main" id="{46272936-2422-72BF-D6A7-BF05AD54127B}"/>
              </a:ext>
            </a:extLst>
          </p:cNvPr>
          <p:cNvSpPr/>
          <p:nvPr/>
        </p:nvSpPr>
        <p:spPr>
          <a:xfrm>
            <a:off x="9556790" y="2099966"/>
            <a:ext cx="2126124" cy="27699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BD11F"/>
              </a:gs>
              <a:gs pos="55000">
                <a:srgbClr val="3FA313"/>
              </a:gs>
              <a:gs pos="100000">
                <a:srgbClr val="1E5E0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u="sng" spc="-80" dirty="0" err="1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뷰포인트별</a:t>
            </a:r>
            <a:r>
              <a:rPr lang="ko-KR" altLang="en-US" sz="1300" u="sng" spc="-80" dirty="0">
                <a:solidFill>
                  <a:schemeClr val="bg1"/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 유동인구 바로가기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FD60D5B-8A24-E9E8-1CB2-623A4C1A4A0D}"/>
              </a:ext>
            </a:extLst>
          </p:cNvPr>
          <p:cNvSpPr/>
          <p:nvPr/>
        </p:nvSpPr>
        <p:spPr>
          <a:xfrm>
            <a:off x="3377057" y="3125707"/>
            <a:ext cx="190680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438338">
              <a:defRPr sz="2400" spc="-96">
                <a:solidFill>
                  <a:srgbClr val="212121"/>
                </a:solidFill>
                <a:latin typeface="Noto Sans CJK KR Light"/>
                <a:ea typeface="Noto Sans CJK KR Light"/>
                <a:cs typeface="Noto Sans CJK KR Light"/>
                <a:sym typeface="Noto Sans CJK KR Light"/>
              </a:defRPr>
            </a:pPr>
            <a:r>
              <a:rPr kumimoji="1" lang="en-US" altLang="ko-KR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2026 </a:t>
            </a:r>
            <a:r>
              <a:rPr kumimoji="1" lang="ko-KR" altLang="en-US" sz="900" b="1" spc="-40" dirty="0" err="1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살람서울</a:t>
            </a:r>
            <a:r>
              <a:rPr kumimoji="1" lang="ko-KR" altLang="en-US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 페스티벌</a:t>
            </a:r>
            <a:r>
              <a:rPr kumimoji="1" lang="en-US" altLang="ko-KR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(</a:t>
            </a:r>
            <a:r>
              <a:rPr kumimoji="1" lang="ko-KR" altLang="en-US" sz="900" b="1" spc="-40" dirty="0" err="1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리센느</a:t>
            </a:r>
            <a:r>
              <a:rPr kumimoji="1" lang="ko-KR" altLang="en-US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 공연</a:t>
            </a:r>
            <a:r>
              <a:rPr kumimoji="1" lang="en-US" altLang="ko-KR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)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5195673-74D4-ECBA-003D-3D70B20AEBCD}"/>
              </a:ext>
            </a:extLst>
          </p:cNvPr>
          <p:cNvGrpSpPr/>
          <p:nvPr/>
        </p:nvGrpSpPr>
        <p:grpSpPr>
          <a:xfrm>
            <a:off x="2857500" y="3233030"/>
            <a:ext cx="496697" cy="217910"/>
            <a:chOff x="8482446" y="3233030"/>
            <a:chExt cx="496697" cy="217910"/>
          </a:xfrm>
          <a:effectLst>
            <a:outerShdw blurRad="254000" algn="ctr" rotWithShape="0">
              <a:prstClr val="black">
                <a:alpha val="10000"/>
              </a:prstClr>
            </a:outerShdw>
          </a:effectLst>
        </p:grpSpPr>
        <p:cxnSp>
          <p:nvCxnSpPr>
            <p:cNvPr id="21" name="직선 연결선[R] 20">
              <a:extLst>
                <a:ext uri="{FF2B5EF4-FFF2-40B4-BE49-F238E27FC236}">
                  <a16:creationId xmlns:a16="http://schemas.microsoft.com/office/drawing/2014/main" id="{9B190872-EF7B-73FD-B323-2A698EEB06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446" y="3240009"/>
              <a:ext cx="309120" cy="210931"/>
            </a:xfrm>
            <a:prstGeom prst="line">
              <a:avLst/>
            </a:prstGeom>
            <a:ln w="6350">
              <a:solidFill>
                <a:schemeClr val="bg2">
                  <a:lumMod val="75000"/>
                </a:schemeClr>
              </a:solidFill>
              <a:prstDash val="dash"/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[R] 21">
              <a:extLst>
                <a:ext uri="{FF2B5EF4-FFF2-40B4-BE49-F238E27FC236}">
                  <a16:creationId xmlns:a16="http://schemas.microsoft.com/office/drawing/2014/main" id="{A85C81CA-B49F-9AEE-2346-3F354BE57B87}"/>
                </a:ext>
              </a:extLst>
            </p:cNvPr>
            <p:cNvCxnSpPr>
              <a:cxnSpLocks/>
            </p:cNvCxnSpPr>
            <p:nvPr/>
          </p:nvCxnSpPr>
          <p:spPr>
            <a:xfrm>
              <a:off x="8819483" y="3233030"/>
              <a:ext cx="159660" cy="0"/>
            </a:xfrm>
            <a:prstGeom prst="line">
              <a:avLst/>
            </a:prstGeom>
            <a:ln w="6350">
              <a:solidFill>
                <a:schemeClr val="bg2">
                  <a:lumMod val="75000"/>
                </a:schemeClr>
              </a:solidFill>
              <a:prstDash val="dash"/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0E2780-A464-0CBB-798F-F65100A20941}"/>
              </a:ext>
            </a:extLst>
          </p:cNvPr>
          <p:cNvSpPr/>
          <p:nvPr/>
        </p:nvSpPr>
        <p:spPr>
          <a:xfrm>
            <a:off x="9652091" y="4076700"/>
            <a:ext cx="66832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438338">
              <a:defRPr sz="2400" spc="-96">
                <a:solidFill>
                  <a:srgbClr val="212121"/>
                </a:solidFill>
                <a:latin typeface="Noto Sans CJK KR Light"/>
                <a:ea typeface="Noto Sans CJK KR Light"/>
                <a:cs typeface="Noto Sans CJK KR Light"/>
                <a:sym typeface="Noto Sans CJK KR Light"/>
              </a:defRPr>
            </a:pPr>
            <a:r>
              <a:rPr kumimoji="1" lang="ko-KR" altLang="en-US" sz="900" b="1" spc="-40" dirty="0">
                <a:solidFill>
                  <a:schemeClr val="bg2">
                    <a:lumMod val="25000"/>
                  </a:schemeClr>
                </a:solidFill>
                <a:latin typeface="JTBC Gothic Bold" panose="020B0503000000000000" pitchFamily="34" charset="-127"/>
                <a:ea typeface="JTBC Gothic Bold" panose="020B0503000000000000" pitchFamily="34" charset="-127"/>
              </a:rPr>
              <a:t>추석 연휴</a:t>
            </a:r>
            <a:endParaRPr kumimoji="1" lang="en-US" altLang="ko-KR" sz="900" b="1" spc="-40" dirty="0">
              <a:solidFill>
                <a:schemeClr val="bg2">
                  <a:lumMod val="25000"/>
                </a:schemeClr>
              </a:solidFill>
              <a:latin typeface="JTBC Gothic Bold" panose="020B0503000000000000" pitchFamily="34" charset="-127"/>
              <a:ea typeface="JTBC Gothic Bold" panose="020B0503000000000000" pitchFamily="34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7718707-87A7-81C3-172A-60EEE3868907}"/>
              </a:ext>
            </a:extLst>
          </p:cNvPr>
          <p:cNvGrpSpPr/>
          <p:nvPr/>
        </p:nvGrpSpPr>
        <p:grpSpPr>
          <a:xfrm>
            <a:off x="9132534" y="4191000"/>
            <a:ext cx="496697" cy="1087250"/>
            <a:chOff x="3460578" y="4152386"/>
            <a:chExt cx="496697" cy="1087250"/>
          </a:xfrm>
          <a:effectLst>
            <a:outerShdw blurRad="254000" algn="ctr" rotWithShape="0">
              <a:prstClr val="black">
                <a:alpha val="10000"/>
              </a:prstClr>
            </a:outerShdw>
          </a:effectLst>
        </p:grpSpPr>
        <p:cxnSp>
          <p:nvCxnSpPr>
            <p:cNvPr id="13" name="직선 연결선[R] 12">
              <a:extLst>
                <a:ext uri="{FF2B5EF4-FFF2-40B4-BE49-F238E27FC236}">
                  <a16:creationId xmlns:a16="http://schemas.microsoft.com/office/drawing/2014/main" id="{CD84BC9C-5FE5-4162-D382-C76124C93C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0578" y="4187207"/>
              <a:ext cx="309120" cy="1052429"/>
            </a:xfrm>
            <a:prstGeom prst="line">
              <a:avLst/>
            </a:prstGeom>
            <a:ln w="6350">
              <a:solidFill>
                <a:schemeClr val="bg2">
                  <a:lumMod val="75000"/>
                </a:schemeClr>
              </a:solidFill>
              <a:prstDash val="dash"/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[R] 10">
              <a:extLst>
                <a:ext uri="{FF2B5EF4-FFF2-40B4-BE49-F238E27FC236}">
                  <a16:creationId xmlns:a16="http://schemas.microsoft.com/office/drawing/2014/main" id="{133C38E9-C25B-5512-0333-B1503BEB31EC}"/>
                </a:ext>
              </a:extLst>
            </p:cNvPr>
            <p:cNvCxnSpPr>
              <a:cxnSpLocks/>
            </p:cNvCxnSpPr>
            <p:nvPr/>
          </p:nvCxnSpPr>
          <p:spPr>
            <a:xfrm>
              <a:off x="3797615" y="4152386"/>
              <a:ext cx="159660" cy="0"/>
            </a:xfrm>
            <a:prstGeom prst="line">
              <a:avLst/>
            </a:prstGeom>
            <a:ln w="6350">
              <a:solidFill>
                <a:schemeClr val="bg2">
                  <a:lumMod val="75000"/>
                </a:schemeClr>
              </a:solidFill>
              <a:prstDash val="dash"/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520548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545CD-F00E-65E0-9194-169A7E51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>
            <a:extLst>
              <a:ext uri="{FF2B5EF4-FFF2-40B4-BE49-F238E27FC236}">
                <a16:creationId xmlns:a16="http://schemas.microsoft.com/office/drawing/2014/main" id="{BA8F4695-324B-6038-FFD5-155923E831C6}"/>
              </a:ext>
            </a:extLst>
          </p:cNvPr>
          <p:cNvSpPr txBox="1"/>
          <p:nvPr/>
        </p:nvSpPr>
        <p:spPr>
          <a:xfrm>
            <a:off x="510372" y="1433821"/>
            <a:ext cx="3437755" cy="253916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로그데이터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산출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지표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‘</a:t>
            </a:r>
            <a:r>
              <a:rPr lang="en-US" altLang="ko-KR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성별·연령대별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유동인구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 </a:t>
            </a:r>
            <a:r>
              <a:rPr lang="en-US" altLang="ko-KR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측정</a:t>
            </a:r>
            <a:endParaRPr lang="en-US" altLang="ko-KR" sz="1200" spc="-7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6" name="그림 15" descr="신발류, 사람, 도로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15015B-7966-1AFF-5AB8-8DA34A85C8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694444" y="3863634"/>
            <a:ext cx="3988470" cy="2658982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210A7C0F-8149-B361-6958-D8634A3B413B}"/>
              </a:ext>
            </a:extLst>
          </p:cNvPr>
          <p:cNvSpPr/>
          <p:nvPr/>
        </p:nvSpPr>
        <p:spPr>
          <a:xfrm>
            <a:off x="7691446" y="3766092"/>
            <a:ext cx="3988470" cy="275652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EF0F4C7-51E9-8BDA-6316-0915F36BB0A6}"/>
              </a:ext>
            </a:extLst>
          </p:cNvPr>
          <p:cNvSpPr/>
          <p:nvPr/>
        </p:nvSpPr>
        <p:spPr>
          <a:xfrm>
            <a:off x="563859" y="2548021"/>
            <a:ext cx="11119055" cy="3974595"/>
          </a:xfrm>
          <a:prstGeom prst="rect">
            <a:avLst/>
          </a:prstGeom>
          <a:noFill/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F90B1A-CCE5-9FD1-941A-4150CBC9031A}"/>
              </a:ext>
            </a:extLst>
          </p:cNvPr>
          <p:cNvSpPr txBox="1"/>
          <p:nvPr/>
        </p:nvSpPr>
        <p:spPr>
          <a:xfrm>
            <a:off x="509086" y="1061430"/>
            <a:ext cx="3186221" cy="276999"/>
          </a:xfrm>
          <a:prstGeom prst="rect">
            <a:avLst/>
          </a:prstGeom>
          <a:noFill/>
        </p:spPr>
        <p:txBody>
          <a:bodyPr wrap="square" lIns="90000" tIns="0" rIns="90000" bIns="0" rtlCol="0">
            <a:spAutoFit/>
          </a:bodyPr>
          <a:lstStyle/>
          <a:p>
            <a:r>
              <a:rPr lang="ko-KR" altLang="en-US" b="1" spc="-8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연령대별 및 성별 유동인구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C7916E-A01A-47A7-50A8-0C75194667F5}"/>
              </a:ext>
            </a:extLst>
          </p:cNvPr>
          <p:cNvSpPr txBox="1"/>
          <p:nvPr/>
        </p:nvSpPr>
        <p:spPr>
          <a:xfrm>
            <a:off x="500316" y="813208"/>
            <a:ext cx="886031" cy="184666"/>
          </a:xfrm>
          <a:prstGeom prst="rect">
            <a:avLst/>
          </a:prstGeom>
          <a:noFill/>
        </p:spPr>
        <p:txBody>
          <a:bodyPr wrap="none" lIns="90000" tIns="0" rIns="90000" bIns="0" rtlCol="0">
            <a:spAutoFit/>
          </a:bodyPr>
          <a:lstStyle/>
          <a:p>
            <a:r>
              <a:rPr lang="en-US" altLang="ko-KR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rPr>
              <a:t>02</a:t>
            </a:r>
            <a:endParaRPr lang="en-US" sz="1200" b="1" dirty="0">
              <a:gradFill>
                <a:gsLst>
                  <a:gs pos="0">
                    <a:srgbClr val="7BD11F"/>
                  </a:gs>
                  <a:gs pos="55000">
                    <a:srgbClr val="3FA313"/>
                  </a:gs>
                  <a:gs pos="100000">
                    <a:srgbClr val="1E5E0F"/>
                  </a:gs>
                </a:gsLst>
                <a:lin ang="0" scaled="0"/>
              </a:gradFill>
              <a:latin typeface="Pretendard ExtraBold" panose="020C0603000000000000" pitchFamily="34" charset="-127"/>
              <a:ea typeface="Pretendard ExtraBold" panose="020C0603000000000000" pitchFamily="34" charset="-127"/>
              <a:cs typeface="Pretendard Medium" panose="00000600000000000000" pitchFamily="2" charset="0"/>
            </a:endParaRPr>
          </a:p>
        </p:txBody>
      </p:sp>
      <p:cxnSp>
        <p:nvCxnSpPr>
          <p:cNvPr id="95" name="직선 연결선[R] 94">
            <a:extLst>
              <a:ext uri="{FF2B5EF4-FFF2-40B4-BE49-F238E27FC236}">
                <a16:creationId xmlns:a16="http://schemas.microsoft.com/office/drawing/2014/main" id="{2BCD0B94-965F-70E6-23A1-A89E45173EF6}"/>
              </a:ext>
            </a:extLst>
          </p:cNvPr>
          <p:cNvCxnSpPr>
            <a:cxnSpLocks/>
          </p:cNvCxnSpPr>
          <p:nvPr/>
        </p:nvCxnSpPr>
        <p:spPr>
          <a:xfrm>
            <a:off x="5796197" y="2868242"/>
            <a:ext cx="0" cy="3334152"/>
          </a:xfrm>
          <a:prstGeom prst="line">
            <a:avLst/>
          </a:prstGeom>
          <a:ln w="444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A608EFCE-55A3-B379-71F7-C0BFA5FE0A63}"/>
              </a:ext>
            </a:extLst>
          </p:cNvPr>
          <p:cNvGrpSpPr/>
          <p:nvPr/>
        </p:nvGrpSpPr>
        <p:grpSpPr>
          <a:xfrm>
            <a:off x="6123386" y="2753371"/>
            <a:ext cx="3541572" cy="562715"/>
            <a:chOff x="8243874" y="2753371"/>
            <a:chExt cx="3541572" cy="562715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6A6D9EE-1944-E15B-F0AE-5DBAA8432E00}"/>
                </a:ext>
              </a:extLst>
            </p:cNvPr>
            <p:cNvSpPr txBox="1"/>
            <p:nvPr/>
          </p:nvSpPr>
          <p:spPr>
            <a:xfrm>
              <a:off x="8243874" y="2753371"/>
              <a:ext cx="2602593" cy="296235"/>
            </a:xfrm>
            <a:prstGeom prst="rect">
              <a:avLst/>
            </a:prstGeom>
            <a:noFill/>
          </p:spPr>
          <p:txBody>
            <a:bodyPr wrap="none" lIns="90000" tIns="0" rIns="0" bIns="0" rtlCol="0">
              <a:spAutoFit/>
            </a:bodyPr>
            <a:lstStyle/>
            <a:p>
              <a:pPr marL="401638" indent="-401638" latinLnBrk="0">
                <a:lnSpc>
                  <a:spcPct val="150000"/>
                </a:lnSpc>
                <a:tabLst>
                  <a:tab pos="441325" algn="l"/>
                </a:tabLst>
                <a:defRPr/>
              </a:pPr>
              <a:r>
                <a:rPr lang="en-US" altLang="ko-KR" sz="1400" b="1" i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 ExtraBold" panose="020C0603000000000000" pitchFamily="34" charset="-127"/>
                  <a:ea typeface="Pretendard ExtraBold" panose="020C0603000000000000" pitchFamily="34" charset="-127"/>
                  <a:cs typeface="Pretendard Light" panose="00000400000000000000" pitchFamily="2" charset="0"/>
                </a:rPr>
                <a:t>|</a:t>
              </a:r>
              <a:r>
                <a:rPr lang="ko-KR" altLang="en-US" sz="1400" b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  성별</a:t>
              </a:r>
              <a:endParaRPr lang="en-US" altLang="ko-KR" sz="14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C0603000000000000" pitchFamily="34" charset="-127"/>
                <a:ea typeface="Pretendard" panose="020C0603000000000000" pitchFamily="34" charset="-127"/>
                <a:cs typeface="Pretendard Light" panose="00000400000000000000" pitchFamily="2" charset="0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F4ED933-2F39-0DC9-3C66-58B406BB1CF8}"/>
                </a:ext>
              </a:extLst>
            </p:cNvPr>
            <p:cNvSpPr txBox="1"/>
            <p:nvPr/>
          </p:nvSpPr>
          <p:spPr>
            <a:xfrm>
              <a:off x="8445158" y="3097308"/>
              <a:ext cx="3340288" cy="218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광화문역 북부</a:t>
              </a:r>
              <a:r>
                <a:rPr lang="en-US" altLang="ko-KR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·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남부권</a:t>
              </a:r>
              <a:r>
                <a:rPr lang="en-US" altLang="ko-KR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, 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서울시청 </a:t>
              </a:r>
              <a:r>
                <a:rPr lang="ko-KR" altLang="en-US" sz="800" spc="-60" dirty="0" err="1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북부권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 일별 합산</a:t>
              </a:r>
            </a:p>
          </p:txBody>
        </p:sp>
      </p:grpSp>
      <p:graphicFrame>
        <p:nvGraphicFramePr>
          <p:cNvPr id="801" name="Age Chart"/>
          <p:cNvGraphicFramePr/>
          <p:nvPr/>
        </p:nvGraphicFramePr>
        <p:xfrm>
          <a:off x="825500" y="3657600"/>
          <a:ext cx="45212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942349D2-D23F-E2C5-E8F0-84EB8A9383B0}"/>
              </a:ext>
            </a:extLst>
          </p:cNvPr>
          <p:cNvGrpSpPr/>
          <p:nvPr/>
        </p:nvGrpSpPr>
        <p:grpSpPr>
          <a:xfrm>
            <a:off x="830197" y="2753371"/>
            <a:ext cx="3916893" cy="562715"/>
            <a:chOff x="830197" y="2753371"/>
            <a:chExt cx="3916893" cy="562715"/>
          </a:xfrm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4E408C0-5280-EBE9-9C48-D906A483421E}"/>
                </a:ext>
              </a:extLst>
            </p:cNvPr>
            <p:cNvSpPr txBox="1"/>
            <p:nvPr/>
          </p:nvSpPr>
          <p:spPr>
            <a:xfrm>
              <a:off x="830197" y="2753371"/>
              <a:ext cx="3916893" cy="285912"/>
            </a:xfrm>
            <a:prstGeom prst="rect">
              <a:avLst/>
            </a:prstGeom>
            <a:noFill/>
          </p:spPr>
          <p:txBody>
            <a:bodyPr wrap="none" lIns="90000" tIns="0" rIns="0" bIns="0" rtlCol="0">
              <a:spAutoFit/>
            </a:bodyPr>
            <a:lstStyle/>
            <a:p>
              <a:pPr marL="401638" indent="-401638" latinLnBrk="0">
                <a:lnSpc>
                  <a:spcPct val="150000"/>
                </a:lnSpc>
                <a:tabLst>
                  <a:tab pos="441325" algn="l"/>
                </a:tabLst>
                <a:defRPr/>
              </a:pPr>
              <a:r>
                <a:rPr lang="en-US" altLang="ko-KR" sz="1400" b="1" i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 ExtraBold" panose="020C0603000000000000" pitchFamily="34" charset="-127"/>
                  <a:ea typeface="Pretendard ExtraBold" panose="020C0603000000000000" pitchFamily="34" charset="-127"/>
                  <a:cs typeface="Pretendard Light" panose="00000400000000000000" pitchFamily="2" charset="0"/>
                </a:rPr>
                <a:t>|</a:t>
              </a:r>
              <a:r>
                <a:rPr lang="ko-KR" altLang="en-US" sz="1400" b="1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" panose="020C0603000000000000" pitchFamily="34" charset="-127"/>
                  <a:ea typeface="Pretendard" panose="020C0603000000000000" pitchFamily="34" charset="-127"/>
                  <a:cs typeface="Pretendard Light" panose="00000400000000000000" pitchFamily="2" charset="0"/>
                </a:rPr>
                <a:t>   연령대</a:t>
              </a:r>
              <a:endParaRPr lang="en-US" altLang="ko-KR" sz="1400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Light" panose="020C0303000000000000" pitchFamily="34" charset="-127"/>
                <a:ea typeface="Pretendard Light" panose="020C0303000000000000" pitchFamily="34" charset="-127"/>
                <a:cs typeface="Pretendard Light" panose="000004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22680F6-D7A0-3E0E-83D0-2C4CAE97725B}"/>
                </a:ext>
              </a:extLst>
            </p:cNvPr>
            <p:cNvSpPr txBox="1"/>
            <p:nvPr/>
          </p:nvSpPr>
          <p:spPr>
            <a:xfrm>
              <a:off x="1031482" y="3097308"/>
              <a:ext cx="2774036" cy="2187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광화문역 북부</a:t>
              </a:r>
              <a:r>
                <a:rPr lang="en-US" altLang="ko-KR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·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남부권</a:t>
              </a:r>
              <a:r>
                <a:rPr lang="en-US" altLang="ko-KR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, 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서울시청 </a:t>
              </a:r>
              <a:r>
                <a:rPr lang="ko-KR" altLang="en-US" sz="800" spc="-60" dirty="0" err="1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북부권</a:t>
              </a:r>
              <a:r>
                <a:rPr lang="ko-KR" altLang="en-US" sz="800" spc="-60" dirty="0">
                  <a:solidFill>
                    <a:schemeClr val="bg2">
                      <a:lumMod val="50000"/>
                    </a:schemeClr>
                  </a:solidFill>
                  <a:latin typeface="Pretendard Light" panose="020B0503000000000000" pitchFamily="34" charset="-127"/>
                  <a:ea typeface="Pretendard Light" panose="020B0503000000000000" pitchFamily="34" charset="-127"/>
                  <a:cs typeface="Pretendard Medium" panose="02000603000000020004" pitchFamily="50" charset="-127"/>
                </a:rPr>
                <a:t> 일별 합산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26775C05-E0E7-B2F5-7226-06872751DE8F}"/>
              </a:ext>
            </a:extLst>
          </p:cNvPr>
          <p:cNvGrpSpPr/>
          <p:nvPr/>
        </p:nvGrpSpPr>
        <p:grpSpPr>
          <a:xfrm>
            <a:off x="6781497" y="3499210"/>
            <a:ext cx="4175733" cy="2615222"/>
            <a:chOff x="1222667" y="4109726"/>
            <a:chExt cx="3180645" cy="1992011"/>
          </a:xfrm>
        </p:grpSpPr>
        <p:graphicFrame>
          <p:nvGraphicFramePr>
            <p:cNvPr id="22" name="차트 21">
              <a:extLst>
                <a:ext uri="{FF2B5EF4-FFF2-40B4-BE49-F238E27FC236}">
                  <a16:creationId xmlns:a16="http://schemas.microsoft.com/office/drawing/2014/main" id="{48D8B947-ADC3-526D-8EB5-089B76DD72EE}"/>
                </a:ext>
              </a:extLst>
            </p:cNvPr>
            <p:cNvGraphicFramePr/>
            <p:nvPr/>
          </p:nvGraphicFramePr>
          <p:xfrm>
            <a:off x="1408062" y="4109726"/>
            <a:ext cx="2689716" cy="19305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D720818-7CBD-6B0B-21CE-2244EBCC6E6C}"/>
                </a:ext>
              </a:extLst>
            </p:cNvPr>
            <p:cNvSpPr/>
            <p:nvPr/>
          </p:nvSpPr>
          <p:spPr>
            <a:xfrm>
              <a:off x="3623491" y="4313010"/>
              <a:ext cx="779821" cy="3985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2438338">
                <a:lnSpc>
                  <a:spcPct val="150000"/>
                </a:lnSpc>
                <a:defRPr sz="2400" spc="-96">
                  <a:solidFill>
                    <a:srgbClr val="212121"/>
                  </a:solidFill>
                  <a:latin typeface="Noto Sans CJK KR Light"/>
                  <a:ea typeface="Noto Sans CJK KR Light"/>
                  <a:cs typeface="Noto Sans CJK KR Light"/>
                  <a:sym typeface="Noto Sans CJK KR Light"/>
                </a:defRPr>
              </a:pPr>
              <a:r>
                <a:rPr kumimoji="1" lang="ko-KR" altLang="en-US" sz="1050" b="1" spc="-40" dirty="0">
                  <a:solidFill>
                    <a:schemeClr val="bg2">
                      <a:lumMod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</a:t>
              </a:r>
              <a:endParaRPr kumimoji="1" lang="en-US" altLang="ko-KR" sz="1050" b="1" spc="-4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 defTabSz="2438338">
                <a:defRPr sz="2400" spc="-96">
                  <a:solidFill>
                    <a:srgbClr val="212121"/>
                  </a:solidFill>
                  <a:latin typeface="Noto Sans CJK KR Light"/>
                  <a:ea typeface="Noto Sans CJK KR Light"/>
                  <a:cs typeface="Noto Sans CJK KR Light"/>
                  <a:sym typeface="Noto Sans CJK KR Light"/>
                </a:defRPr>
              </a:pPr>
              <a:r>
                <a:rPr kumimoji="1" lang="en-US" altLang="ko-KR" sz="1500" spc="-70" dirty="0">
                  <a:solidFill>
                    <a:schemeClr val="bg2">
                      <a:lumMod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53.2%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AC0202A-BBD3-96A0-9460-EEE86D90C0A9}"/>
                </a:ext>
              </a:extLst>
            </p:cNvPr>
            <p:cNvSpPr/>
            <p:nvPr/>
          </p:nvSpPr>
          <p:spPr>
            <a:xfrm>
              <a:off x="1222667" y="5670967"/>
              <a:ext cx="1069202" cy="4307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2438338">
                <a:defRPr sz="2400" spc="-96">
                  <a:solidFill>
                    <a:srgbClr val="212121"/>
                  </a:solidFill>
                  <a:latin typeface="Noto Sans CJK KR Light"/>
                  <a:ea typeface="Noto Sans CJK KR Light"/>
                  <a:cs typeface="Noto Sans CJK KR Light"/>
                  <a:sym typeface="Noto Sans CJK KR Light"/>
                </a:defRPr>
              </a:pPr>
              <a:r>
                <a:rPr kumimoji="1" lang="ko-KR" altLang="en-US" sz="900" b="1" spc="-40" dirty="0">
                  <a:solidFill>
                    <a:schemeClr val="bg2">
                      <a:lumMod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</a:t>
              </a:r>
              <a:endParaRPr kumimoji="1" lang="en-US" altLang="ko-KR" sz="900" b="1" spc="-4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 defTabSz="2438338">
                <a:defRPr sz="2400" spc="-96">
                  <a:solidFill>
                    <a:srgbClr val="212121"/>
                  </a:solidFill>
                  <a:latin typeface="Noto Sans CJK KR Light"/>
                  <a:ea typeface="Noto Sans CJK KR Light"/>
                  <a:cs typeface="Noto Sans CJK KR Light"/>
                  <a:sym typeface="Noto Sans CJK KR Light"/>
                </a:defRPr>
              </a:pPr>
              <a:r>
                <a:rPr kumimoji="1" lang="en-US" altLang="ko-KR" sz="1900" b="1" spc="-70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46.8%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63F82E6-7873-9018-84FF-7FF1FF416687}"/>
                </a:ext>
              </a:extLst>
            </p:cNvPr>
            <p:cNvGrpSpPr/>
            <p:nvPr/>
          </p:nvGrpSpPr>
          <p:grpSpPr>
            <a:xfrm>
              <a:off x="3221982" y="4477999"/>
              <a:ext cx="378333" cy="165982"/>
              <a:chOff x="2897631" y="4244616"/>
              <a:chExt cx="378333" cy="165982"/>
            </a:xfrm>
          </p:grpSpPr>
          <p:cxnSp>
            <p:nvCxnSpPr>
              <p:cNvPr id="28" name="직선 연결선[R] 27">
                <a:extLst>
                  <a:ext uri="{FF2B5EF4-FFF2-40B4-BE49-F238E27FC236}">
                    <a16:creationId xmlns:a16="http://schemas.microsoft.com/office/drawing/2014/main" id="{E927177F-C6F4-EA61-3ECF-38E74AAB5C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97631" y="4249932"/>
                <a:ext cx="235456" cy="160666"/>
              </a:xfrm>
              <a:prstGeom prst="line">
                <a:avLst/>
              </a:prstGeom>
              <a:ln w="6350">
                <a:solidFill>
                  <a:schemeClr val="bg2">
                    <a:lumMod val="75000"/>
                  </a:schemeClr>
                </a:solidFill>
                <a:prstDash val="dash"/>
                <a:headEnd type="diamon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[R] 28">
                <a:extLst>
                  <a:ext uri="{FF2B5EF4-FFF2-40B4-BE49-F238E27FC236}">
                    <a16:creationId xmlns:a16="http://schemas.microsoft.com/office/drawing/2014/main" id="{F626F642-2AE6-E8E7-64A5-730D2C206A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4351" y="4244616"/>
                <a:ext cx="121613" cy="0"/>
              </a:xfrm>
              <a:prstGeom prst="line">
                <a:avLst/>
              </a:prstGeom>
              <a:ln w="6350">
                <a:solidFill>
                  <a:schemeClr val="bg2">
                    <a:lumMod val="75000"/>
                  </a:schemeClr>
                </a:solidFill>
                <a:prstDash val="dash"/>
                <a:head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직선 연결선[R] 26">
              <a:extLst>
                <a:ext uri="{FF2B5EF4-FFF2-40B4-BE49-F238E27FC236}">
                  <a16:creationId xmlns:a16="http://schemas.microsoft.com/office/drawing/2014/main" id="{A109A599-8D52-6550-3D16-C27C3B8ED0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2421" y="5613444"/>
              <a:ext cx="188466" cy="216104"/>
            </a:xfrm>
            <a:prstGeom prst="line">
              <a:avLst/>
            </a:prstGeom>
            <a:ln w="6350">
              <a:solidFill>
                <a:schemeClr val="bg2">
                  <a:lumMod val="75000"/>
                </a:schemeClr>
              </a:solidFill>
              <a:prstDash val="dash"/>
              <a:head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09728F14-41AD-92F2-45D0-6F5786F926B3}"/>
              </a:ext>
            </a:extLst>
          </p:cNvPr>
          <p:cNvGrpSpPr/>
          <p:nvPr/>
        </p:nvGrpSpPr>
        <p:grpSpPr>
          <a:xfrm>
            <a:off x="482752" y="2085056"/>
            <a:ext cx="3467814" cy="355003"/>
            <a:chOff x="482752" y="2085056"/>
            <a:chExt cx="3467814" cy="35500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3969BE-A1BE-5D0B-6176-80F27071C8D5}"/>
                </a:ext>
              </a:extLst>
            </p:cNvPr>
            <p:cNvSpPr txBox="1"/>
            <p:nvPr/>
          </p:nvSpPr>
          <p:spPr>
            <a:xfrm>
              <a:off x="482752" y="2085056"/>
              <a:ext cx="2558638" cy="346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-7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Pretendard Light" panose="020B0303000000000000" pitchFamily="34" charset="-127"/>
                  <a:ea typeface="Pretendard Light" panose="020B0303000000000000" pitchFamily="34" charset="-127"/>
                  <a:cs typeface="+mn-cs"/>
                </a:rPr>
                <a:t>게첨</a:t>
              </a:r>
              <a:r>
                <a:rPr kumimoji="0" lang="ko-KR" altLang="en-US" sz="1200" b="0" i="0" u="none" strike="noStrike" kern="1200" cap="none" spc="-7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Pretendard Light" panose="020B0303000000000000" pitchFamily="34" charset="-127"/>
                  <a:ea typeface="Pretendard Light" panose="020B0303000000000000" pitchFamily="34" charset="-127"/>
                  <a:cs typeface="+mn-cs"/>
                </a:rPr>
                <a:t> 기간 내 유동인구 총합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888D23-0191-84BD-781F-FFE5801433A9}"/>
                </a:ext>
              </a:extLst>
            </p:cNvPr>
            <p:cNvSpPr txBox="1"/>
            <p:nvPr/>
          </p:nvSpPr>
          <p:spPr>
            <a:xfrm>
              <a:off x="2180931" y="2099966"/>
              <a:ext cx="1769635" cy="3400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829875">
                <a:lnSpc>
                  <a:spcPct val="120000"/>
                </a:lnSpc>
                <a:defRPr sz="2000" b="0" spc="-94">
                  <a:solidFill>
                    <a:srgbClr val="2355F2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pPr>
              <a:r>
                <a:rPr lang="ko-KR" altLang="en-US" sz="1400" b="1" spc="-94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" panose="020C0603000000000000" pitchFamily="34" charset="-127"/>
                  <a:ea typeface="Pretendard" panose="020C0603000000000000" pitchFamily="34" charset="-127"/>
                  <a:cs typeface="Pretendard Medium"/>
                </a:rPr>
                <a:t>약 </a:t>
              </a:r>
              <a:r>
                <a:rPr lang="en-US" altLang="ko-KR" sz="1400" b="1" spc="-94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" panose="020C0603000000000000" pitchFamily="34" charset="-127"/>
                  <a:ea typeface="Pretendard" panose="020C0603000000000000" pitchFamily="34" charset="-127"/>
                  <a:cs typeface="Pretendard Medium"/>
                </a:rPr>
                <a:t>1,239만 명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4BDED87-E985-927E-D91A-8427FA5B4917}"/>
              </a:ext>
            </a:extLst>
          </p:cNvPr>
          <p:cNvSpPr txBox="1"/>
          <p:nvPr/>
        </p:nvSpPr>
        <p:spPr>
          <a:xfrm>
            <a:off x="500316" y="212481"/>
            <a:ext cx="4616438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CJ올리브영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(</a:t>
            </a:r>
            <a:r>
              <a:rPr lang="en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LUUX)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        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오디언스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 타겟팅</a:t>
            </a:r>
            <a:endParaRPr lang="ko-KR" altLang="en-US" sz="1200" spc="-80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D26A63-8308-1548-9076-C135E930805C}"/>
              </a:ext>
            </a:extLst>
          </p:cNvPr>
          <p:cNvSpPr txBox="1"/>
          <p:nvPr/>
        </p:nvSpPr>
        <p:spPr>
          <a:xfrm>
            <a:off x="3415115" y="2196699"/>
            <a:ext cx="20345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SK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텔레콤 </a:t>
            </a:r>
            <a:r>
              <a:rPr lang="ko-KR" altLang="en-US" sz="800" spc="-60" dirty="0" err="1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지오비전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 퍼즐 유동인구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(50</a:t>
            </a:r>
            <a:r>
              <a:rPr lang="en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m×50m </a:t>
            </a:r>
            <a:r>
              <a:rPr lang="ko-KR" altLang="en-US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격자</a:t>
            </a:r>
            <a:r>
              <a:rPr lang="en-US" altLang="ko-KR" sz="800" spc="-60" dirty="0">
                <a:solidFill>
                  <a:schemeClr val="bg2">
                    <a:lumMod val="50000"/>
                  </a:schemeClr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Medium" panose="02000603000000020004" pitchFamily="50" charset="-127"/>
              </a:rPr>
              <a:t>)</a:t>
            </a:r>
            <a:endParaRPr lang="ko-KR" altLang="en-US" sz="800" spc="-60" dirty="0">
              <a:solidFill>
                <a:schemeClr val="bg2">
                  <a:lumMod val="50000"/>
                </a:schemeClr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230128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0BE3017-8B08-5093-642C-504FDDA07DBC}"/>
              </a:ext>
            </a:extLst>
          </p:cNvPr>
          <p:cNvSpPr txBox="1"/>
          <p:nvPr/>
        </p:nvSpPr>
        <p:spPr>
          <a:xfrm>
            <a:off x="434199" y="2781807"/>
            <a:ext cx="2563001" cy="215444"/>
          </a:xfrm>
          <a:prstGeom prst="rect">
            <a:avLst/>
          </a:prstGeom>
          <a:noFill/>
        </p:spPr>
        <p:txBody>
          <a:bodyPr wrap="square" lIns="90000" tIns="0" rIns="0" bIns="0" rtlCol="0" anchor="ctr">
            <a:spAutoFit/>
          </a:bodyPr>
          <a:lstStyle/>
          <a:p>
            <a:pPr>
              <a:tabLst>
                <a:tab pos="301625" algn="l"/>
              </a:tabLst>
            </a:pPr>
            <a:r>
              <a:rPr kumimoji="1" lang="en-US" altLang="en-US" sz="1400" b="1" dirty="0">
                <a:latin typeface="Pretendard" panose="020B0503000000000000" pitchFamily="34" charset="-127"/>
                <a:ea typeface="Pretendard" panose="020B0503000000000000" pitchFamily="34" charset="-127"/>
              </a:rPr>
              <a:t> APPENDIX</a:t>
            </a:r>
            <a:endParaRPr kumimoji="1" lang="ko-Kore-KR" altLang="en-US" sz="1400" b="1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cxnSp>
        <p:nvCxnSpPr>
          <p:cNvPr id="15" name="직선 연결선[R] 21">
            <a:extLst>
              <a:ext uri="{FF2B5EF4-FFF2-40B4-BE49-F238E27FC236}">
                <a16:creationId xmlns:a16="http://schemas.microsoft.com/office/drawing/2014/main" id="{8E2F0F5E-D05A-49D7-9629-F1162F928F22}"/>
              </a:ext>
            </a:extLst>
          </p:cNvPr>
          <p:cNvCxnSpPr>
            <a:cxnSpLocks/>
          </p:cNvCxnSpPr>
          <p:nvPr/>
        </p:nvCxnSpPr>
        <p:spPr>
          <a:xfrm>
            <a:off x="0" y="1976610"/>
            <a:ext cx="4470400" cy="0"/>
          </a:xfrm>
          <a:prstGeom prst="line">
            <a:avLst/>
          </a:prstGeom>
          <a:ln w="9525">
            <a:gradFill>
              <a:gsLst>
                <a:gs pos="0">
                  <a:srgbClr val="7BD11F"/>
                </a:gs>
                <a:gs pos="55000">
                  <a:srgbClr val="3FA313"/>
                </a:gs>
                <a:gs pos="100000">
                  <a:srgbClr val="1E5E0F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2EDF37F-F43B-3E79-5BFB-BAD4DDD45C31}"/>
              </a:ext>
            </a:extLst>
          </p:cNvPr>
          <p:cNvSpPr txBox="1"/>
          <p:nvPr/>
        </p:nvSpPr>
        <p:spPr>
          <a:xfrm>
            <a:off x="2886074" y="2759697"/>
            <a:ext cx="7515226" cy="435056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01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  데이터 추출 기준</a:t>
            </a:r>
            <a:endParaRPr lang="en-US" altLang="ko-KR" sz="1000" spc="-80" dirty="0">
              <a:solidFill>
                <a:srgbClr val="514E4F"/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Light" panose="00000400000000000000" pitchFamily="2" charset="0"/>
            </a:endParaRPr>
          </a:p>
          <a:p>
            <a:pPr marL="314325" lvl="1" latinLnBrk="0">
              <a:lnSpc>
                <a:spcPct val="150000"/>
              </a:lnSpc>
              <a:defRPr/>
            </a:pPr>
            <a:r>
              <a:rPr lang="en-US" altLang="ko-KR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02</a:t>
            </a:r>
            <a:r>
              <a:rPr lang="ko-KR" altLang="en-US" sz="1000" spc="-80" dirty="0">
                <a:solidFill>
                  <a:srgbClr val="514E4F"/>
                </a:solidFill>
                <a:latin typeface="Pretendard Light" panose="020B0503000000000000" pitchFamily="34" charset="-127"/>
                <a:ea typeface="Pretendard Light" panose="020B0503000000000000" pitchFamily="34" charset="-127"/>
                <a:cs typeface="Pretendard Light" panose="00000400000000000000" pitchFamily="2" charset="0"/>
              </a:rPr>
              <a:t>   일별 편성 횟수</a:t>
            </a:r>
            <a:endParaRPr lang="en-US" altLang="ko-KR" sz="1000" spc="-80" dirty="0">
              <a:solidFill>
                <a:srgbClr val="514E4F"/>
              </a:solidFill>
              <a:latin typeface="Pretendard Light" panose="020B0503000000000000" pitchFamily="34" charset="-127"/>
              <a:ea typeface="Pretendard Light" panose="020B0503000000000000" pitchFamily="34" charset="-127"/>
              <a:cs typeface="Pretendard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93375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71E56-AE87-FCDA-87D1-EE30D965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69">
            <a:extLst>
              <a:ext uri="{FF2B5EF4-FFF2-40B4-BE49-F238E27FC236}">
                <a16:creationId xmlns:a16="http://schemas.microsoft.com/office/drawing/2014/main" id="{96A64463-8E77-11C5-4CA8-D597368F6701}"/>
              </a:ext>
            </a:extLst>
          </p:cNvPr>
          <p:cNvSpPr txBox="1"/>
          <p:nvPr/>
        </p:nvSpPr>
        <p:spPr>
          <a:xfrm>
            <a:off x="509086" y="1061430"/>
            <a:ext cx="3186221" cy="276999"/>
          </a:xfrm>
          <a:prstGeom prst="rect">
            <a:avLst/>
          </a:prstGeom>
          <a:noFill/>
        </p:spPr>
        <p:txBody>
          <a:bodyPr wrap="square" lIns="90000" tIns="0" rIns="90000" bIns="0" rtlCol="0">
            <a:spAutoFit/>
          </a:bodyPr>
          <a:lstStyle/>
          <a:p>
            <a:r>
              <a:rPr lang="ko-KR" altLang="en-US" b="1" spc="-80" dirty="0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추출 기준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82558F-674A-909D-00E1-ADCD1BE0EB90}"/>
              </a:ext>
            </a:extLst>
          </p:cNvPr>
          <p:cNvSpPr txBox="1"/>
          <p:nvPr/>
        </p:nvSpPr>
        <p:spPr>
          <a:xfrm>
            <a:off x="500316" y="813208"/>
            <a:ext cx="886031" cy="184666"/>
          </a:xfrm>
          <a:prstGeom prst="rect">
            <a:avLst/>
          </a:prstGeom>
          <a:noFill/>
        </p:spPr>
        <p:txBody>
          <a:bodyPr wrap="none" lIns="90000" tIns="0" rIns="90000" bIns="0" rtlCol="0">
            <a:spAutoFit/>
          </a:bodyPr>
          <a:lstStyle/>
          <a:p>
            <a:r>
              <a:rPr lang="en-US" altLang="ko-KR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rPr>
              <a:t>01</a:t>
            </a:r>
            <a:endParaRPr lang="en-US" sz="1200" b="1" dirty="0">
              <a:gradFill>
                <a:gsLst>
                  <a:gs pos="0">
                    <a:srgbClr val="7BD11F"/>
                  </a:gs>
                  <a:gs pos="55000">
                    <a:srgbClr val="3FA313"/>
                  </a:gs>
                  <a:gs pos="100000">
                    <a:srgbClr val="1E5E0F"/>
                  </a:gs>
                </a:gsLst>
                <a:lin ang="0" scaled="0"/>
              </a:gradFill>
              <a:latin typeface="Pretendard ExtraBold" panose="020C0603000000000000" pitchFamily="34" charset="-127"/>
              <a:ea typeface="Pretendard ExtraBold" panose="020C0603000000000000" pitchFamily="34" charset="-127"/>
              <a:cs typeface="Pretendard Medium" panose="000006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64695C-351D-8914-2FA0-FA4CAB832564}"/>
              </a:ext>
            </a:extLst>
          </p:cNvPr>
          <p:cNvSpPr txBox="1"/>
          <p:nvPr/>
        </p:nvSpPr>
        <p:spPr>
          <a:xfrm>
            <a:off x="500316" y="212481"/>
            <a:ext cx="4616438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ko-KR" altLang="en-US" sz="900" b="1" spc="-7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CJ올리브영</a:t>
            </a:r>
            <a:r>
              <a:rPr lang="ko-KR" altLang="en-US" sz="9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900" b="1" spc="-7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룩스</a:t>
            </a:r>
            <a:r>
              <a:rPr lang="en-US" altLang="ko-KR" sz="9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altLang="ko-KR" sz="9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LUUX) </a:t>
            </a:r>
            <a:r>
              <a:rPr lang="ko-KR" altLang="en-US" sz="9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광고 결과 보고서         </a:t>
            </a:r>
            <a:r>
              <a:rPr lang="en" altLang="ko-KR" sz="900" b="1" spc="-7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APPENDIX</a:t>
            </a:r>
            <a:endParaRPr lang="ko-KR" altLang="en-US" sz="1200" spc="-8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02ED71A-A5C8-C6FD-F206-16692510D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30" b="17830"/>
          <a:stretch/>
        </p:blipFill>
        <p:spPr>
          <a:xfrm>
            <a:off x="8176833" y="2666127"/>
            <a:ext cx="3479800" cy="1490156"/>
          </a:xfrm>
          <a:prstGeom prst="roundRect">
            <a:avLst>
              <a:gd name="adj" fmla="val 7261"/>
            </a:avLst>
          </a:prstGeom>
        </p:spPr>
      </p:pic>
      <p:sp>
        <p:nvSpPr>
          <p:cNvPr id="13" name="card">
            <a:extLst>
              <a:ext uri="{FF2B5EF4-FFF2-40B4-BE49-F238E27FC236}">
                <a16:creationId xmlns:a16="http://schemas.microsoft.com/office/drawing/2014/main" id="{4778A02B-B32E-2685-A3A9-CA64C0D2DFA5}"/>
              </a:ext>
            </a:extLst>
          </p:cNvPr>
          <p:cNvSpPr/>
          <p:nvPr/>
        </p:nvSpPr>
        <p:spPr>
          <a:xfrm>
            <a:off x="8178800" y="2666127"/>
            <a:ext cx="3479800" cy="1498600"/>
          </a:xfrm>
          <a:prstGeom prst="roundRect">
            <a:avLst>
              <a:gd name="adj" fmla="val 8000"/>
            </a:avLst>
          </a:prstGeom>
          <a:solidFill>
            <a:schemeClr val="tx1">
              <a:alpha val="50000"/>
            </a:schemeClr>
          </a:solidFill>
          <a:ln w="12700">
            <a:gradFill>
              <a:gsLst>
                <a:gs pos="49000">
                  <a:srgbClr val="101D46">
                    <a:alpha val="25000"/>
                  </a:srgbClr>
                </a:gs>
                <a:gs pos="0">
                  <a:srgbClr val="345AA0">
                    <a:alpha val="50000"/>
                  </a:srgbClr>
                </a:gs>
                <a:gs pos="100000">
                  <a:srgbClr val="345AA0"/>
                </a:gs>
              </a:gsLst>
              <a:lin ang="1800000" scaled="0"/>
            </a:gradFill>
            <a:prstDash val="solid"/>
          </a:ln>
          <a:effectLst>
            <a:outerShdw blurRad="50800" dist="50800" dir="5400000" sx="1000" sy="1000" algn="ctr" rotWithShape="0">
              <a:srgbClr val="0A3F86"/>
            </a:outerShdw>
          </a:effectLst>
        </p:spPr>
        <p:txBody>
          <a:bodyPr anchor="ctr"/>
          <a:lstStyle/>
          <a:p>
            <a:pPr algn="ctr"/>
            <a:endParaRPr kumimoji="1" lang="ko-KR" altLang="en-US" sz="1400" spc="-10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C2AB28-68BF-CADA-FFBE-C5859E539AF2}"/>
              </a:ext>
            </a:extLst>
          </p:cNvPr>
          <p:cNvSpPr txBox="1"/>
          <p:nvPr/>
        </p:nvSpPr>
        <p:spPr>
          <a:xfrm>
            <a:off x="677154" y="2085056"/>
            <a:ext cx="404939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1" lang="ko-KR" altLang="en-US" sz="1200" b="1" i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|</a:t>
            </a:r>
            <a:r>
              <a:rPr kumimoji="1" lang="ko-KR" altLang="en-US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r>
              <a:rPr kumimoji="1" lang="en-US" altLang="ko-KR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단계 측정 프로세스</a:t>
            </a:r>
            <a:endParaRPr kumimoji="1" lang="en" altLang="ko-KR" sz="1200" b="1" dirty="0">
              <a:gradFill>
                <a:gsLst>
                  <a:gs pos="0">
                    <a:srgbClr val="7BD11F"/>
                  </a:gs>
                  <a:gs pos="55000">
                    <a:srgbClr val="3FA313"/>
                  </a:gs>
                  <a:gs pos="100000">
                    <a:srgbClr val="1E5E0F"/>
                  </a:gs>
                </a:gsLst>
                <a:lin ang="0" scaled="0"/>
              </a:gra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card">
            <a:extLst>
              <a:ext uri="{FF2B5EF4-FFF2-40B4-BE49-F238E27FC236}">
                <a16:creationId xmlns:a16="http://schemas.microsoft.com/office/drawing/2014/main" id="{0C052F88-8161-2D06-D85B-058C27E5C668}"/>
              </a:ext>
            </a:extLst>
          </p:cNvPr>
          <p:cNvSpPr/>
          <p:nvPr/>
        </p:nvSpPr>
        <p:spPr>
          <a:xfrm>
            <a:off x="533400" y="2657683"/>
            <a:ext cx="3479800" cy="1498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2D5DB">
                <a:alpha val="9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">
            <a:extLst>
              <a:ext uri="{FF2B5EF4-FFF2-40B4-BE49-F238E27FC236}">
                <a16:creationId xmlns:a16="http://schemas.microsoft.com/office/drawing/2014/main" id="{15D3D592-B151-A6B6-E008-A4BB99EA1F7C}"/>
              </a:ext>
            </a:extLst>
          </p:cNvPr>
          <p:cNvSpPr txBox="1"/>
          <p:nvPr/>
        </p:nvSpPr>
        <p:spPr>
          <a:xfrm>
            <a:off x="787400" y="2891496"/>
            <a:ext cx="2971800" cy="177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000" spc="-6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STEP 1</a:t>
            </a:r>
          </a:p>
        </p:txBody>
      </p:sp>
      <p:sp>
        <p:nvSpPr>
          <p:cNvPr id="20" name="TextBox">
            <a:extLst>
              <a:ext uri="{FF2B5EF4-FFF2-40B4-BE49-F238E27FC236}">
                <a16:creationId xmlns:a16="http://schemas.microsoft.com/office/drawing/2014/main" id="{AE3B1577-7C0D-0FD0-1C9B-073A3D180B25}"/>
              </a:ext>
            </a:extLst>
          </p:cNvPr>
          <p:cNvSpPr txBox="1"/>
          <p:nvPr/>
        </p:nvSpPr>
        <p:spPr>
          <a:xfrm>
            <a:off x="787400" y="3216483"/>
            <a:ext cx="2971800" cy="25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spc="-6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위치정보 수집</a:t>
            </a:r>
          </a:p>
        </p:txBody>
      </p:sp>
      <p:sp>
        <p:nvSpPr>
          <p:cNvPr id="26" name="TextBox">
            <a:extLst>
              <a:ext uri="{FF2B5EF4-FFF2-40B4-BE49-F238E27FC236}">
                <a16:creationId xmlns:a16="http://schemas.microsoft.com/office/drawing/2014/main" id="{15E92886-0512-6DEE-64E9-3D17BFBAF89E}"/>
              </a:ext>
            </a:extLst>
          </p:cNvPr>
          <p:cNvSpPr txBox="1"/>
          <p:nvPr/>
        </p:nvSpPr>
        <p:spPr>
          <a:xfrm>
            <a:off x="787400" y="3523957"/>
            <a:ext cx="2971800" cy="431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기지국 신호와 네트워크 접속정보 등을 기반으로</a:t>
            </a:r>
            <a:endParaRPr kumimoji="1" lang="en-US" altLang="ko-KR" sz="1000" spc="-96" dirty="0">
              <a:solidFill>
                <a:srgbClr val="21212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ko-KR" altLang="en-US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이용자의 위치정보를 수집합니다</a:t>
            </a:r>
            <a:r>
              <a:rPr kumimoji="1" lang="en-US" altLang="ko-KR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kumimoji="1" lang="ko-KR" altLang="en-US" sz="1000" spc="-96" dirty="0">
              <a:solidFill>
                <a:srgbClr val="21212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card">
            <a:extLst>
              <a:ext uri="{FF2B5EF4-FFF2-40B4-BE49-F238E27FC236}">
                <a16:creationId xmlns:a16="http://schemas.microsoft.com/office/drawing/2014/main" id="{DD158770-FCAA-4D3D-96EC-2F50ADF807F2}"/>
              </a:ext>
            </a:extLst>
          </p:cNvPr>
          <p:cNvSpPr/>
          <p:nvPr/>
        </p:nvSpPr>
        <p:spPr>
          <a:xfrm>
            <a:off x="4356100" y="2657683"/>
            <a:ext cx="3479800" cy="1498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2D5DB">
                <a:alpha val="99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>
              <a:solidFill>
                <a:schemeClr val="lt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Box">
            <a:extLst>
              <a:ext uri="{FF2B5EF4-FFF2-40B4-BE49-F238E27FC236}">
                <a16:creationId xmlns:a16="http://schemas.microsoft.com/office/drawing/2014/main" id="{844EB07E-5226-2D60-B31C-6CEBEDEAFFDD}"/>
              </a:ext>
            </a:extLst>
          </p:cNvPr>
          <p:cNvSpPr txBox="1"/>
          <p:nvPr/>
        </p:nvSpPr>
        <p:spPr>
          <a:xfrm>
            <a:off x="4610100" y="2891496"/>
            <a:ext cx="2971800" cy="177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000" spc="-6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STEP 2</a:t>
            </a:r>
          </a:p>
        </p:txBody>
      </p:sp>
      <p:sp>
        <p:nvSpPr>
          <p:cNvPr id="32" name="TextBox">
            <a:extLst>
              <a:ext uri="{FF2B5EF4-FFF2-40B4-BE49-F238E27FC236}">
                <a16:creationId xmlns:a16="http://schemas.microsoft.com/office/drawing/2014/main" id="{43E3D2B8-42D4-88E1-8408-39A3C0C3B9FF}"/>
              </a:ext>
            </a:extLst>
          </p:cNvPr>
          <p:cNvSpPr txBox="1"/>
          <p:nvPr/>
        </p:nvSpPr>
        <p:spPr>
          <a:xfrm>
            <a:off x="4610100" y="3216483"/>
            <a:ext cx="2971800" cy="25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en" altLang="ko-KR" sz="1400" b="1" spc="-60" dirty="0" err="1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pCell</a:t>
            </a:r>
            <a:r>
              <a:rPr lang="en" altLang="ko-KR" sz="1400" b="1" spc="-6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spc="-60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위치 추정</a:t>
            </a:r>
          </a:p>
          <a:p>
            <a:pPr>
              <a:lnSpc>
                <a:spcPct val="118000"/>
              </a:lnSpc>
            </a:pPr>
            <a:endParaRPr lang="ko-KR" altLang="en-US" sz="1400" b="1" spc="-60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Box">
            <a:extLst>
              <a:ext uri="{FF2B5EF4-FFF2-40B4-BE49-F238E27FC236}">
                <a16:creationId xmlns:a16="http://schemas.microsoft.com/office/drawing/2014/main" id="{C16C55E5-5080-0942-37E6-E7C906BA3599}"/>
              </a:ext>
            </a:extLst>
          </p:cNvPr>
          <p:cNvSpPr txBox="1"/>
          <p:nvPr/>
        </p:nvSpPr>
        <p:spPr>
          <a:xfrm>
            <a:off x="4610100" y="3523957"/>
            <a:ext cx="2971800" cy="431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수집된 위치 신호를 결합해</a:t>
            </a:r>
            <a:endParaRPr kumimoji="1" lang="en-US" altLang="ko-KR" sz="1000" spc="-96" dirty="0">
              <a:solidFill>
                <a:srgbClr val="21212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ko-KR" altLang="en-US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가상 격자인 </a:t>
            </a:r>
            <a:r>
              <a:rPr kumimoji="1" lang="en" altLang="ko-KR" sz="1000" spc="-96" dirty="0" err="1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pCell</a:t>
            </a:r>
            <a:r>
              <a:rPr kumimoji="1" lang="en" altLang="ko-KR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1" lang="ko-KR" altLang="en-US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단위로 위치를 추정합니다</a:t>
            </a:r>
            <a:r>
              <a:rPr kumimoji="1" lang="en-US" altLang="ko-KR" sz="1000" spc="-96" dirty="0">
                <a:solidFill>
                  <a:srgbClr val="21212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34" name="TextBox">
            <a:extLst>
              <a:ext uri="{FF2B5EF4-FFF2-40B4-BE49-F238E27FC236}">
                <a16:creationId xmlns:a16="http://schemas.microsoft.com/office/drawing/2014/main" id="{8D15097B-9B42-13B0-3335-77265D0A47F6}"/>
              </a:ext>
            </a:extLst>
          </p:cNvPr>
          <p:cNvSpPr txBox="1"/>
          <p:nvPr/>
        </p:nvSpPr>
        <p:spPr>
          <a:xfrm>
            <a:off x="8432800" y="2891496"/>
            <a:ext cx="2971800" cy="177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000" spc="-6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STEP 3</a:t>
            </a:r>
          </a:p>
        </p:txBody>
      </p:sp>
      <p:sp>
        <p:nvSpPr>
          <p:cNvPr id="35" name="TextBox">
            <a:extLst>
              <a:ext uri="{FF2B5EF4-FFF2-40B4-BE49-F238E27FC236}">
                <a16:creationId xmlns:a16="http://schemas.microsoft.com/office/drawing/2014/main" id="{8A065CE3-F761-E8DE-3AEB-D7691B18C2A7}"/>
              </a:ext>
            </a:extLst>
          </p:cNvPr>
          <p:cNvSpPr txBox="1"/>
          <p:nvPr/>
        </p:nvSpPr>
        <p:spPr>
          <a:xfrm>
            <a:off x="8432800" y="3216483"/>
            <a:ext cx="2971800" cy="25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spc="-6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유동인구 집계</a:t>
            </a:r>
          </a:p>
        </p:txBody>
      </p:sp>
      <p:sp>
        <p:nvSpPr>
          <p:cNvPr id="36" name="TextBox">
            <a:extLst>
              <a:ext uri="{FF2B5EF4-FFF2-40B4-BE49-F238E27FC236}">
                <a16:creationId xmlns:a16="http://schemas.microsoft.com/office/drawing/2014/main" id="{C3F84EFF-D80E-58A2-9C8B-2B11E45E3D4B}"/>
              </a:ext>
            </a:extLst>
          </p:cNvPr>
          <p:cNvSpPr txBox="1"/>
          <p:nvPr/>
        </p:nvSpPr>
        <p:spPr>
          <a:xfrm>
            <a:off x="8432800" y="3523957"/>
            <a:ext cx="2971800" cy="431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30000"/>
              </a:lnSpc>
            </a:pPr>
            <a:r>
              <a:rPr kumimoji="1" lang="ko-KR" altLang="en-US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장소</a:t>
            </a:r>
            <a:r>
              <a:rPr kumimoji="1" lang="en-US" altLang="ko-KR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kumimoji="1" lang="ko-KR" altLang="en-US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활동인구를 기반으로</a:t>
            </a:r>
            <a:endParaRPr kumimoji="1" lang="en-US" altLang="ko-KR" sz="1000" spc="-96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30000"/>
              </a:lnSpc>
            </a:pPr>
            <a:r>
              <a:rPr kumimoji="1" lang="en" altLang="ko-KR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LUUX </a:t>
            </a:r>
            <a:r>
              <a:rPr kumimoji="1" lang="ko-KR" altLang="en-US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주변 </a:t>
            </a:r>
            <a:r>
              <a:rPr kumimoji="1" lang="en-US" altLang="ko-KR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kumimoji="1" lang="ko-KR" altLang="en-US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권역의 유동인구를 집계합니다</a:t>
            </a:r>
            <a:r>
              <a:rPr kumimoji="1" lang="en-US" altLang="ko-KR" sz="1000" spc="-96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>
              <a:lnSpc>
                <a:spcPct val="130000"/>
              </a:lnSpc>
            </a:pPr>
            <a:endParaRPr kumimoji="1" lang="ko-KR" altLang="en-US" sz="1000" spc="-96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이등변 삼각형 45">
            <a:extLst>
              <a:ext uri="{FF2B5EF4-FFF2-40B4-BE49-F238E27FC236}">
                <a16:creationId xmlns:a16="http://schemas.microsoft.com/office/drawing/2014/main" id="{2B74CAA4-B20C-7BBD-0219-562DE43B80E7}"/>
              </a:ext>
            </a:extLst>
          </p:cNvPr>
          <p:cNvSpPr/>
          <p:nvPr/>
        </p:nvSpPr>
        <p:spPr>
          <a:xfrm flipV="1">
            <a:off x="805848" y="4401857"/>
            <a:ext cx="10580305" cy="496785"/>
          </a:xfrm>
          <a:prstGeom prst="triangle">
            <a:avLst>
              <a:gd name="adj" fmla="val 50284"/>
            </a:avLst>
          </a:prstGeom>
          <a:gradFill flip="none" rotWithShape="1">
            <a:gsLst>
              <a:gs pos="0">
                <a:srgbClr val="101D46">
                  <a:alpha val="0"/>
                </a:srgbClr>
              </a:gs>
              <a:gs pos="100000">
                <a:srgbClr val="101D46">
                  <a:alpha val="10000"/>
                </a:srgb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9593234-63A6-2E29-7962-973BF1C9AD2D}"/>
              </a:ext>
            </a:extLst>
          </p:cNvPr>
          <p:cNvGrpSpPr/>
          <p:nvPr/>
        </p:nvGrpSpPr>
        <p:grpSpPr>
          <a:xfrm>
            <a:off x="533400" y="5144217"/>
            <a:ext cx="11285407" cy="1071943"/>
            <a:chOff x="533400" y="5032750"/>
            <a:chExt cx="11285407" cy="1071943"/>
          </a:xfrm>
        </p:grpSpPr>
        <p:sp>
          <p:nvSpPr>
            <p:cNvPr id="43" name="TextBox">
              <a:extLst>
                <a:ext uri="{FF2B5EF4-FFF2-40B4-BE49-F238E27FC236}">
                  <a16:creationId xmlns:a16="http://schemas.microsoft.com/office/drawing/2014/main" id="{A70E2085-3BC2-53FB-85C6-FDBF7E6661B8}"/>
                </a:ext>
              </a:extLst>
            </p:cNvPr>
            <p:cNvSpPr txBox="1"/>
            <p:nvPr/>
          </p:nvSpPr>
          <p:spPr>
            <a:xfrm>
              <a:off x="533400" y="5032750"/>
              <a:ext cx="11285407" cy="2540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18000"/>
                </a:lnSpc>
              </a:pPr>
              <a:r>
                <a:rPr lang="en" altLang="ko-KR" sz="1400" b="1" spc="-60" dirty="0" err="1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SKTelecom</a:t>
              </a:r>
              <a:r>
                <a:rPr lang="en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lang="en" altLang="ko-KR" sz="1400" b="1" spc="-60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*</a:t>
              </a:r>
              <a:r>
                <a:rPr lang="en" altLang="ko-KR" sz="1400" b="1" spc="-60" dirty="0" err="1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pCell</a:t>
              </a:r>
              <a:r>
                <a:rPr lang="en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 </a:t>
              </a:r>
              <a:r>
                <a:rPr lang="ko-KR" altLang="en-US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기반의 정밀 위치 데이터를 활용해 매체 주변 유동인구를 산출합니다</a:t>
              </a:r>
              <a:r>
                <a:rPr lang="en-US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. </a:t>
              </a:r>
              <a:br>
                <a:rPr lang="en-US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</a:br>
              <a:r>
                <a:rPr lang="ko-KR" altLang="en-US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각 </a:t>
              </a:r>
              <a:r>
                <a:rPr lang="en" altLang="ko-KR" sz="1400" b="1" spc="-60" dirty="0" err="1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pCell</a:t>
              </a:r>
              <a:r>
                <a:rPr lang="ko-KR" altLang="en-US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에서 집계된 데이터를 기지국 </a:t>
              </a:r>
              <a:r>
                <a:rPr lang="en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RU </a:t>
              </a:r>
              <a:r>
                <a:rPr lang="ko-KR" altLang="en-US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단위로 배분하여</a:t>
              </a:r>
              <a:r>
                <a:rPr lang="en-US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, </a:t>
              </a:r>
              <a:r>
                <a:rPr lang="ko-KR" altLang="en-US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옥외광고 매체 인근의 실제 유동인구를 보다 정밀하게 분석합니다</a:t>
              </a:r>
              <a:r>
                <a:rPr lang="en-US" altLang="ko-KR" sz="1400" b="1" spc="-60" dirty="0">
                  <a:solidFill>
                    <a:sysClr val="windowText" lastClr="000000"/>
                  </a:solidFill>
                  <a:latin typeface="Pretendard SemiBold" panose="02000503000000020004" pitchFamily="2" charset="-127"/>
                  <a:ea typeface="Pretendard SemiBold" panose="02000503000000020004" pitchFamily="2" charset="-127"/>
                  <a:cs typeface="Pretendard SemiBold" panose="02000503000000020004" pitchFamily="2" charset="-127"/>
                </a:rPr>
                <a:t>.</a:t>
              </a:r>
            </a:p>
          </p:txBody>
        </p:sp>
        <p:sp>
          <p:nvSpPr>
            <p:cNvPr id="44" name="TextBox">
              <a:extLst>
                <a:ext uri="{FF2B5EF4-FFF2-40B4-BE49-F238E27FC236}">
                  <a16:creationId xmlns:a16="http://schemas.microsoft.com/office/drawing/2014/main" id="{8A45E2C0-3831-8D04-9ED3-948CB88D95E3}"/>
                </a:ext>
              </a:extLst>
            </p:cNvPr>
            <p:cNvSpPr txBox="1"/>
            <p:nvPr/>
          </p:nvSpPr>
          <p:spPr>
            <a:xfrm>
              <a:off x="1686609" y="5672893"/>
              <a:ext cx="9326783" cy="4318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en" altLang="ko-KR" sz="1000" spc="-96" dirty="0">
                  <a:gradFill>
                    <a:gsLst>
                      <a:gs pos="0">
                        <a:srgbClr val="7BD11F"/>
                      </a:gs>
                      <a:gs pos="55000">
                        <a:srgbClr val="3FA313"/>
                      </a:gs>
                      <a:gs pos="100000">
                        <a:srgbClr val="1E5E0F"/>
                      </a:gs>
                    </a:gsLst>
                    <a:lin ang="0" scaled="0"/>
                  </a:gra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*</a:t>
              </a:r>
              <a:r>
                <a:rPr kumimoji="1" lang="en" altLang="ko-KR" sz="1000" spc="-96" dirty="0" err="1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pCell</a:t>
              </a:r>
              <a:r>
                <a:rPr kumimoji="1" lang="en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기술이란</a:t>
              </a:r>
              <a:r>
                <a:rPr kumimoji="1" lang="en-US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? </a:t>
              </a:r>
              <a:r>
                <a:rPr kumimoji="1" lang="en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SK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텔레콤이 상용화한 네트워크 기반 위치 </a:t>
              </a:r>
              <a:r>
                <a:rPr kumimoji="1" lang="ko-KR" altLang="en-US" sz="1000" spc="-96" dirty="0" err="1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측위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기술로</a:t>
              </a:r>
              <a:r>
                <a:rPr kumimoji="1" lang="en-US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, 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기존 </a:t>
              </a:r>
              <a:r>
                <a:rPr kumimoji="1" lang="en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Cell ID 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방식 대비 </a:t>
              </a:r>
              <a:r>
                <a:rPr kumimoji="1" lang="en-US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</a:t>
              </a:r>
              <a:r>
                <a:rPr kumimoji="1" lang="ko-KR" altLang="en-US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배 이상 높은 위치 정밀도를 기반으로 세밀한 유동인구 분석이 가능합니다</a:t>
              </a:r>
              <a:r>
                <a:rPr kumimoji="1" lang="en-US" altLang="ko-KR" sz="1000" spc="-96" dirty="0">
                  <a:solidFill>
                    <a:srgbClr val="21212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.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14D08BC-48B8-AF15-CBA5-73EE1CB88F3C}"/>
              </a:ext>
            </a:extLst>
          </p:cNvPr>
          <p:cNvSpPr txBox="1"/>
          <p:nvPr/>
        </p:nvSpPr>
        <p:spPr>
          <a:xfrm>
            <a:off x="510372" y="1433821"/>
            <a:ext cx="6855628" cy="245067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" altLang="ko-KR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SKTelecom</a:t>
            </a:r>
            <a:r>
              <a:rPr lang="en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Geo Vision Puzzle </a:t>
            </a:r>
            <a:r>
              <a:rPr lang="en" altLang="ko-KR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pCell</a:t>
            </a:r>
            <a:r>
              <a:rPr lang="en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단위 정밀 위치 데이터 적용</a:t>
            </a:r>
            <a:endParaRPr lang="en-US" altLang="ko-KR" sz="1200" spc="-7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69531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200A-3D03-557D-D8D7-D6EE48A9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ricing Table">
            <a:extLst>
              <a:ext uri="{FF2B5EF4-FFF2-40B4-BE49-F238E27FC236}">
                <a16:creationId xmlns:a16="http://schemas.microsoft.com/office/drawing/2014/main" id="{F83A7ED5-94CA-1637-76A8-C7ED22F0F167}"/>
              </a:ext>
            </a:extLst>
          </p:cNvPr>
          <p:cNvGraphicFramePr>
            <a:graphicFrameLocks noGrp="1"/>
          </p:cNvGraphicFramePr>
          <p:nvPr/>
        </p:nvGraphicFramePr>
        <p:xfrm>
          <a:off x="571500" y="2029500"/>
          <a:ext cx="11049000" cy="418475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798674">
                  <a:extLst>
                    <a:ext uri="{9D8B030D-6E8A-4147-A177-3AD203B41FA5}">
                      <a16:colId xmlns:a16="http://schemas.microsoft.com/office/drawing/2014/main" val="40000"/>
                    </a:ext>
                  </a:extLst>
                </a:gridCol>
                <a:gridCol w="1884326">
                  <a:extLst>
                    <a:ext uri="{9D8B030D-6E8A-4147-A177-3AD203B41FA5}">
                      <a16:colId xmlns:a16="http://schemas.microsoft.com/office/drawing/2014/main" val="40001"/>
                    </a:ext>
                  </a:extLst>
                </a:gridCol>
                <a:gridCol w="1798674">
                  <a:extLst>
                    <a:ext uri="{9D8B030D-6E8A-4147-A177-3AD203B41FA5}">
                      <a16:colId xmlns:a16="http://schemas.microsoft.com/office/drawing/2014/main" val="40002"/>
                    </a:ext>
                  </a:extLst>
                </a:gridCol>
                <a:gridCol w="1884326">
                  <a:extLst>
                    <a:ext uri="{9D8B030D-6E8A-4147-A177-3AD203B41FA5}">
                      <a16:colId xmlns:a16="http://schemas.microsoft.com/office/drawing/2014/main" val="40003"/>
                    </a:ext>
                  </a:extLst>
                </a:gridCol>
                <a:gridCol w="1798674">
                  <a:extLst>
                    <a:ext uri="{9D8B030D-6E8A-4147-A177-3AD203B41FA5}">
                      <a16:colId xmlns:a16="http://schemas.microsoft.com/office/drawing/2014/main" val="40004"/>
                    </a:ext>
                  </a:extLst>
                </a:gridCol>
                <a:gridCol w="1884326">
                  <a:extLst>
                    <a:ext uri="{9D8B030D-6E8A-4147-A177-3AD203B41FA5}">
                      <a16:colId xmlns:a16="http://schemas.microsoft.com/office/drawing/2014/main" val="4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표출횟수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표출횟수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날짜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200" b="1" spc="-120" dirty="0">
                          <a:solidFill>
                            <a:srgbClr val="292B2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표출횟수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8/30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199회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169회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165회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8/31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189회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167회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218회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194회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165회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189회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169회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176회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178회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176회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171회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181회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165회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189회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170회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192회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9/19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en-US" altLang="ko-KR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172회</a:t>
                      </a:r>
                      <a:endParaRPr lang="ko-KR" altLang="en-US" sz="1050" b="1" spc="-7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9/30</a:t>
                      </a:r>
                      <a:endParaRPr sz="1050" b="0" spc="-7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227회</a:t>
                      </a:r>
                      <a:endParaRPr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000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ko-KR" altLang="en-US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171회</a:t>
                      </a: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ko-KR" altLang="en-US" sz="1050" b="0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9/20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r>
                        <a:rPr lang="en-US" altLang="ko-KR" sz="1050" b="1" spc="-7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179회</a:t>
                      </a:r>
                      <a:endParaRPr lang="ko-KR" altLang="en-US" sz="1050" b="1" spc="-7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endParaRPr sz="1050" b="0" spc="-7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</a:pPr>
                      <a:endParaRPr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144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0" name="TextBox 69">
            <a:extLst>
              <a:ext uri="{FF2B5EF4-FFF2-40B4-BE49-F238E27FC236}">
                <a16:creationId xmlns:a16="http://schemas.microsoft.com/office/drawing/2014/main" id="{126265D6-8D81-127D-E68D-3F89E06E5880}"/>
              </a:ext>
            </a:extLst>
          </p:cNvPr>
          <p:cNvSpPr txBox="1"/>
          <p:nvPr/>
        </p:nvSpPr>
        <p:spPr>
          <a:xfrm>
            <a:off x="509086" y="1061430"/>
            <a:ext cx="4505827" cy="276999"/>
          </a:xfrm>
          <a:prstGeom prst="rect">
            <a:avLst/>
          </a:prstGeom>
          <a:noFill/>
        </p:spPr>
        <p:txBody>
          <a:bodyPr wrap="square" lIns="90000" tIns="0" rIns="90000" bIns="0" rtlCol="0">
            <a:spAutoFit/>
          </a:bodyPr>
          <a:lstStyle/>
          <a:p>
            <a:r>
              <a:rPr lang="ko-KR" altLang="en-US" b="1" spc="-8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일별 편성 횟수</a:t>
            </a:r>
            <a:r>
              <a:rPr lang="en-US" altLang="ko-KR" b="1" spc="-80" dirty="0">
                <a:solidFill>
                  <a:schemeClr val="bg2">
                    <a:lumMod val="25000"/>
                  </a:schemeClr>
                </a:solidFill>
                <a:latin typeface="Pretendard" panose="020B0503000000000000" pitchFamily="34" charset="-127"/>
                <a:ea typeface="Pretendard" panose="020B0503000000000000" pitchFamily="34" charset="-127"/>
                <a:cs typeface="Pretendard Medium" panose="00000600000000000000" pitchFamily="2" charset="0"/>
              </a:rPr>
              <a:t>(26. 8. 30 ~ 9. 30)</a:t>
            </a:r>
            <a:endParaRPr lang="ko-KR" altLang="en-US" b="1" spc="-80" dirty="0">
              <a:solidFill>
                <a:schemeClr val="bg2">
                  <a:lumMod val="25000"/>
                </a:schemeClr>
              </a:solidFill>
              <a:latin typeface="Pretendard" panose="020B0503000000000000" pitchFamily="34" charset="-127"/>
              <a:ea typeface="Pretendard" panose="020B0503000000000000" pitchFamily="34" charset="-127"/>
              <a:cs typeface="Pretendard Medium" panose="00000600000000000000" pitchFamily="2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856A73-230F-145A-DDE9-CA462C252379}"/>
              </a:ext>
            </a:extLst>
          </p:cNvPr>
          <p:cNvSpPr txBox="1"/>
          <p:nvPr/>
        </p:nvSpPr>
        <p:spPr>
          <a:xfrm>
            <a:off x="500316" y="813208"/>
            <a:ext cx="886031" cy="184666"/>
          </a:xfrm>
          <a:prstGeom prst="rect">
            <a:avLst/>
          </a:prstGeom>
          <a:noFill/>
        </p:spPr>
        <p:txBody>
          <a:bodyPr wrap="none" lIns="90000" tIns="0" rIns="90000" bIns="0" rtlCol="0">
            <a:spAutoFit/>
          </a:bodyPr>
          <a:lstStyle/>
          <a:p>
            <a:r>
              <a:rPr lang="en-US" altLang="ko-KR" sz="1200" b="1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 ExtraBold" panose="020C0603000000000000" pitchFamily="34" charset="-127"/>
                <a:ea typeface="Pretendard ExtraBold" panose="020C0603000000000000" pitchFamily="34" charset="-127"/>
                <a:cs typeface="Pretendard Medium" panose="00000600000000000000" pitchFamily="2" charset="0"/>
              </a:rPr>
              <a:t>02</a:t>
            </a:r>
            <a:endParaRPr lang="en-US" sz="1200" b="1" dirty="0">
              <a:gradFill>
                <a:gsLst>
                  <a:gs pos="0">
                    <a:srgbClr val="7BD11F"/>
                  </a:gs>
                  <a:gs pos="55000">
                    <a:srgbClr val="3FA313"/>
                  </a:gs>
                  <a:gs pos="100000">
                    <a:srgbClr val="1E5E0F"/>
                  </a:gs>
                </a:gsLst>
                <a:lin ang="0" scaled="0"/>
              </a:gradFill>
              <a:latin typeface="Pretendard ExtraBold" panose="020C0603000000000000" pitchFamily="34" charset="-127"/>
              <a:ea typeface="Pretendard ExtraBold" panose="020C0603000000000000" pitchFamily="34" charset="-127"/>
              <a:cs typeface="Pretendard Medium" panose="000006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A84FFA-4F60-418E-B9AA-B77AF2049789}"/>
              </a:ext>
            </a:extLst>
          </p:cNvPr>
          <p:cNvSpPr txBox="1"/>
          <p:nvPr/>
        </p:nvSpPr>
        <p:spPr>
          <a:xfrm>
            <a:off x="500316" y="212481"/>
            <a:ext cx="4616438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4000"/>
              </a:lnSpc>
            </a:pP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CJ올리브영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 </a:t>
            </a:r>
            <a:r>
              <a:rPr lang="ko-KR" altLang="en-US" sz="900" b="1" spc="-70" dirty="0" err="1">
                <a:latin typeface="Pretendard" panose="020B0503000000000000" pitchFamily="34" charset="-127"/>
                <a:ea typeface="Pretendard" panose="020B0503000000000000" pitchFamily="34" charset="-127"/>
              </a:rPr>
              <a:t>룩스</a:t>
            </a:r>
            <a:r>
              <a:rPr lang="en-US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(</a:t>
            </a:r>
            <a:r>
              <a:rPr lang="en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LUUX) </a:t>
            </a:r>
            <a:r>
              <a:rPr lang="ko-KR" altLang="en-US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광고 결과 보고서         </a:t>
            </a:r>
            <a:r>
              <a:rPr lang="en" altLang="ko-KR" sz="900" b="1" spc="-70" dirty="0">
                <a:latin typeface="Pretendard" panose="020B0503000000000000" pitchFamily="34" charset="-127"/>
                <a:ea typeface="Pretendard" panose="020B0503000000000000" pitchFamily="34" charset="-127"/>
              </a:rPr>
              <a:t>APPENDIX</a:t>
            </a:r>
            <a:endParaRPr lang="ko-KR" altLang="en-US" sz="1200" spc="-80" dirty="0">
              <a:latin typeface="Pretendard" panose="020B0503000000000000" pitchFamily="34" charset="-127"/>
              <a:ea typeface="Pretendard" panose="020B0503000000000000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F75929-2223-9E5C-1350-58662C0E771B}"/>
              </a:ext>
            </a:extLst>
          </p:cNvPr>
          <p:cNvSpPr txBox="1"/>
          <p:nvPr/>
        </p:nvSpPr>
        <p:spPr>
          <a:xfrm>
            <a:off x="510372" y="1433821"/>
            <a:ext cx="4504541" cy="184666"/>
          </a:xfrm>
          <a:prstGeom prst="rect">
            <a:avLst/>
          </a:prstGeom>
          <a:noFill/>
        </p:spPr>
        <p:txBody>
          <a:bodyPr wrap="square" lIns="90000" tIns="0" rIns="0" bIns="0" rtlCol="0">
            <a:spAutoFit/>
          </a:bodyPr>
          <a:lstStyle/>
          <a:p>
            <a:r>
              <a:rPr lang="ko-KR" altLang="en-US" sz="1200" b="1" spc="-94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C0603000000000000" pitchFamily="34" charset="-127"/>
                <a:ea typeface="Pretendard" panose="020C0603000000000000" pitchFamily="34" charset="-127"/>
                <a:cs typeface="Pretendard Medium"/>
              </a:rPr>
              <a:t>합계 </a:t>
            </a:r>
            <a:r>
              <a:rPr lang="en-US" altLang="ko-KR" sz="1200" b="1" spc="-94" dirty="0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C0603000000000000" pitchFamily="34" charset="-127"/>
                <a:ea typeface="Pretendard" panose="020C0603000000000000" pitchFamily="34" charset="-127"/>
                <a:cs typeface="Pretendard Medium"/>
              </a:rPr>
              <a:t>5,796</a:t>
            </a:r>
            <a:r>
              <a:rPr lang="ko-KR" altLang="en-US" sz="1200" b="1" spc="-94" dirty="0" err="1">
                <a:gradFill>
                  <a:gsLst>
                    <a:gs pos="0">
                      <a:srgbClr val="7BD11F"/>
                    </a:gs>
                    <a:gs pos="55000">
                      <a:srgbClr val="3FA313"/>
                    </a:gs>
                    <a:gs pos="100000">
                      <a:srgbClr val="1E5E0F"/>
                    </a:gs>
                  </a:gsLst>
                  <a:lin ang="0" scaled="0"/>
                </a:gradFill>
                <a:latin typeface="Pretendard" panose="020C0603000000000000" pitchFamily="34" charset="-127"/>
                <a:ea typeface="Pretendard" panose="020C0603000000000000" pitchFamily="34" charset="-127"/>
                <a:cs typeface="Pretendard Medium"/>
              </a:rPr>
              <a:t>회ㅣ</a:t>
            </a:r>
            <a:r>
              <a:rPr lang="ko-KR" altLang="en-US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일일</a:t>
            </a:r>
            <a:r>
              <a:rPr lang="ko-KR" altLang="en-US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평균 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181</a:t>
            </a:r>
            <a:r>
              <a:rPr lang="ko-KR" altLang="en-US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회ㅣ소재</a:t>
            </a:r>
            <a:r>
              <a:rPr lang="ko-KR" altLang="en-US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1200" spc="-7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초ㅣ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 방영시간 </a:t>
            </a:r>
            <a:r>
              <a:rPr lang="en-US" altLang="ko-KR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64,800</a:t>
            </a:r>
            <a:r>
              <a:rPr lang="ko-KR" altLang="en-US" sz="1200" spc="-7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</a:t>
            </a:r>
          </a:p>
        </p:txBody>
      </p:sp>
    </p:spTree>
    <p:extLst>
      <p:ext uri="{BB962C8B-B14F-4D97-AF65-F5344CB8AC3E}">
        <p14:creationId xmlns:p14="http://schemas.microsoft.com/office/powerpoint/2010/main" val="41767789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BD11F"/>
            </a:gs>
            <a:gs pos="55000">
              <a:srgbClr val="3FA313"/>
            </a:gs>
            <a:gs pos="100000">
              <a:srgbClr val="1E5E0F"/>
            </a:gs>
          </a:gsLst>
          <a:lin ang="27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CA138E-9890-C9BB-B901-D1C0AE47F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40BC7E1-8A0E-8F6E-F806-3988CA24B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10984" y="3242373"/>
            <a:ext cx="1570031" cy="37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9141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 [1788918095534]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9D6791-1B62-974C-B36F-D3F3E136DEF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00b5e5e2-7d0a-4b5e-842d-a55d44c8228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746</Words>
  <Application>Microsoft Macintosh PowerPoint</Application>
  <PresentationFormat>와이드스크린</PresentationFormat>
  <Paragraphs>225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3" baseType="lpstr">
      <vt:lpstr>맑은 고딕</vt:lpstr>
      <vt:lpstr>JTBC Gothic Bold</vt:lpstr>
      <vt:lpstr>Pretendard</vt:lpstr>
      <vt:lpstr>Pretendard ExtraBold</vt:lpstr>
      <vt:lpstr>Pretendard Light</vt:lpstr>
      <vt:lpstr>Pretendard Medium</vt:lpstr>
      <vt:lpstr>Pretendard SemiBold</vt:lpstr>
      <vt:lpstr>Arial</vt:lpstr>
      <vt:lpstr>Calibri</vt:lpstr>
      <vt:lpstr>Office 테마 [1788918095534]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youngjin seo</dc:creator>
  <cp:lastModifiedBy>youngjin seo</cp:lastModifiedBy>
  <cp:revision>40</cp:revision>
  <dcterms:created xsi:type="dcterms:W3CDTF">2026-09-08T23:50:51Z</dcterms:created>
  <dcterms:modified xsi:type="dcterms:W3CDTF">2026-10-19T02:07:01Z</dcterms:modified>
</cp:coreProperties>
</file>